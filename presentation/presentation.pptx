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esteemed faculty and evaluation committee. Today, Devansh and I present our CA3 mini-project: 'Explainable Machine Learning for Alzheimer's Disease Classification Using Structural MRI and Clinical Features'. Our work addresses two of the most critical challenges in biomedical AI today: methodological validity without data leakage, and model interpretability using game-theoretic SHAP attributions.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establish why this research is vital. Over 55 million people live with dementia today. Conventional cognitive tests like MMSE suffer from educational bias, while PET imaging is invasive and expensive. Structural MRI offers non-invasive, objective brain volumetry. By combining tabular MRI indices with clinical psychometrics, we can build fast, highly accurate, and deployable screening tools.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define our problem statement and 4 core objectives. Notice problem number one: data leakage. Wen et al. in Medical Image Analysis 2020 showed that almost half of published studies suffer from data leakage because scans from the same patient appear in both train and test sets. Our objective is to build a mathematically sound, leak-free pipeline, benchmark 6 models, prove the value of MRI through ablation, and provide game-theoretic SHAP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synthesizes our verified literature matrix. We review the seminal OASIS paper by Marcus, the data leakage critique by Wen, the multimodal studies by Venugopalan, and the XAI clinical adoption studies by Lundberg, Yi, and Park. Our research bridges the exact gap identified: building a lightweight multimodal model with strict leakage prevention and verified SHAP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5, we audit the OASIS-1 dataset. Total sessions: 436. But notice that 201 subjects are young controls without CDR. The clinically evaluated cohort consists of 235 unique subjects aged 60 to 96. 135 are nondemented controls and 100 have dementia. In the boxplots on the right, you clearly see that dementia patients have significantly lower MMSE scores and severely reduced normalized whole brain volume (nWBV).</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walks through our end-to-end architecture shown in Figure 1. Notice the three distinct barriers against optimistic bias: first, subject holdout splitting; second, column transformer encapsulation where imputation and scaling parameters are learned strictly from the training partition; and third, internal 5-fold cross-validation followed by final testing on the isolated held-out test set.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7, we detail our feature engineering and pipeline design. In addition to raw OASIS-1 variables, we engineer the Brain Atrophy Index, which is 1 minus normalized whole brain volume. Notice how our ColumnTransformer handles both numerical and categorical features without any test data leaking into the imputation medians or standard scaler means.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outlines the 6 models benchmarked in this study. We deliberately selected diverse learning paradigms: a linear model (Logistic Regression), a bagging tree ensemble (Random Forest), a kernel margin maximizer (SVM), a boosting ensemble (Gradient Boosting), and a soft-voting ensemble that averages their posterior probabilities. The Dummy Classifier serves as our scientific baseline.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establishes the theory behind SHAP. Why SHAP instead of simple Gini importance? Gini importance is biased toward high-cardinality features and lacks additivity. SHAP satisfies the four fundamental axioms of cooperative game theory: Efficiency, Symmetry, Dummy, and Additivity. TreeSHAP computes exact Shapley values in polynomial time, enabling both global biomarker audits and individualized waterfall plots.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documents our exact experimental setup. Operating System: Windows 11 64-bit, Python 3.14, 16 GB RAM. Random seed 42 is pinned across Python, NumPy, and scikit-learn. Notice that our hyperparameters are fixed and defensive; we deliberately avoided exhaustive grid searches to prevent hyperparameter overfitting on the training cohort.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presents our headline experimental results on the held-out test cohort of 47 patients. Every single number is genuine and reproducible. Notice that Random Forest achieved an outstanding ROC-AUC of 0.9370, an accuracy of 80.85%, and specificity of 88.89%. Logistic Regression also achieved 80.85% accuracy with 75% sensitivity and an ROC-AUC of 0.9093. The Soft-Voting Ensemble achieved 0.9296 ROC-AUC, confirming consistent predictive robustness.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12, we visually inspect classifier discriminative ability. In the ROC curve on the left, all five active models operate far above the chance diagonal. Random Forest and Soft Voting Ensemble exhibit exceptional true positive rates even at low false positive rates. On the right, the confusion matrices show the exact breakdown: for Random Forest, 24 True Negatives and 14 True Positives, with only 3 False Positives, giving a clinical specificity of nearly 89%.</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provides the core scientific deliverable: explainability through TreeSHAP. On the left, the global summary plot reveals that MMSE cognitive score and the Brain Atrophy Index (1 - nWBV) are the two primary drivers of the ensemble. Lower MMSE and higher Atrophy Index strongly push predictions toward dementia. On the right, we show local patient waterfall plots: for Subject OAS1_0002 (a healthy control), high cognitive score and intact brain volume drop dementia risk to 0.05. For Subject OAS1_0003, impaired cognition and brain atrophy push risk to 0.84.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we have demonstrated a defensible, reproducible, and explainable multimodal machine learning system for dementia classification. Our Random Forest model achieved an ROC-AUC of 0.9370, proving that combining clinical cognitive tests with structural MRI volumetrics delivers significant diagnostic enhancements. Thank you for your time and attention. Jay and I are now open to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appendix slide is available for technical viva questions regarding ethics, data governance, formal bibliographic citations with DOIs, and code reproducibility repository links.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6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777240"/>
            <a:ext cx="4754880" cy="32004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defRPr sz="1000" b="1">
                <a:solidFill>
                  <a:srgbClr val="0F766E"/>
                </a:solidFill>
                <a:latin typeface="Segoe UI"/>
              </a:defRPr>
            </a:pPr>
            <a:r>
              <a:t>BUSINESS INTELLIGENCE &amp; MACHINE LEARNING • B.TECH CA3 EVALUATION</a:t>
            </a:r>
          </a:p>
        </p:txBody>
      </p:sp>
      <p:sp>
        <p:nvSpPr>
          <p:cNvPr id="5" name="TextBox 4"/>
          <p:cNvSpPr txBox="1"/>
          <p:nvPr/>
        </p:nvSpPr>
        <p:spPr>
          <a:xfrm>
            <a:off x="731520" y="1234440"/>
            <a:ext cx="10728655" cy="1463040"/>
          </a:xfrm>
          <a:prstGeom prst="rect">
            <a:avLst/>
          </a:prstGeom>
          <a:noFill/>
        </p:spPr>
        <p:txBody>
          <a:bodyPr wrap="square" tIns="0" bIns="0" lIns="0" rIns="0">
            <a:spAutoFit/>
          </a:bodyPr>
          <a:lstStyle/>
          <a:p>
            <a:pPr>
              <a:defRPr sz="2800" b="1">
                <a:solidFill>
                  <a:srgbClr val="172B45"/>
                </a:solidFill>
                <a:latin typeface="Segoe UI"/>
              </a:defRPr>
            </a:pPr>
            <a:r>
              <a:t>Explainable Machine Learning for Alzheimer’s Disease Classification Using Structural MRI and Clinical Features</a:t>
            </a:r>
          </a:p>
          <a:p>
            <a:pPr>
              <a:spcBef>
                <a:spcPts val="800"/>
              </a:spcBef>
              <a:defRPr sz="1500">
                <a:solidFill>
                  <a:srgbClr val="64748B"/>
                </a:solidFill>
                <a:latin typeface="Segoe UI"/>
              </a:defRPr>
            </a:pPr>
            <a:r>
              <a:t>Benchmark Investigation on OASIS-1 Cross-Sectional Neuroimaging &amp; Cognitive Cohort</a:t>
            </a:r>
          </a:p>
        </p:txBody>
      </p:sp>
      <p:sp>
        <p:nvSpPr>
          <p:cNvPr id="6" name="Rounded Rectangle 5"/>
          <p:cNvSpPr/>
          <p:nvPr/>
        </p:nvSpPr>
        <p:spPr>
          <a:xfrm>
            <a:off x="731520" y="2926080"/>
            <a:ext cx="521208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108960"/>
            <a:ext cx="4663440" cy="1645920"/>
          </a:xfrm>
          <a:prstGeom prst="rect">
            <a:avLst/>
          </a:prstGeom>
          <a:noFill/>
        </p:spPr>
        <p:txBody>
          <a:bodyPr wrap="square">
            <a:spAutoFit/>
          </a:bodyPr>
          <a:lstStyle/>
          <a:p>
            <a:pPr>
              <a:defRPr sz="1800" b="1">
                <a:solidFill>
                  <a:srgbClr val="172B45"/>
                </a:solidFill>
                <a:latin typeface="Segoe UI"/>
              </a:defRPr>
            </a:pPr>
            <a:r>
              <a:t>Jay Thakare</a:t>
            </a:r>
          </a:p>
          <a:p>
            <a:pPr>
              <a:spcBef>
                <a:spcPts val="400"/>
              </a:spcBef>
              <a:defRPr sz="1200" b="1">
                <a:solidFill>
                  <a:srgbClr val="168C8C"/>
                </a:solidFill>
                <a:latin typeface="Segoe UI"/>
              </a:defRPr>
            </a:pPr>
            <a:r>
              <a:t>PRN: 23070521233</a:t>
            </a:r>
          </a:p>
          <a:p>
            <a:pPr>
              <a:spcBef>
                <a:spcPts val="600"/>
              </a:spcBef>
              <a:defRPr sz="1100">
                <a:solidFill>
                  <a:srgbClr val="334155"/>
                </a:solidFill>
                <a:latin typeface="Segoe UI"/>
              </a:defRPr>
            </a:pPr>
            <a:r>
              <a:t>Department of Computer Science &amp; Engineering</a:t>
            </a:r>
            <a:br/>
            <a:r>
              <a:t>Symbiosis Institute of Technology, Nagpur</a:t>
            </a:r>
            <a:br/>
            <a:r>
              <a:t>Symbiosis International (Deemed University)</a:t>
            </a:r>
          </a:p>
        </p:txBody>
      </p:sp>
      <p:sp>
        <p:nvSpPr>
          <p:cNvPr id="8" name="Rounded Rectangle 7"/>
          <p:cNvSpPr/>
          <p:nvPr/>
        </p:nvSpPr>
        <p:spPr>
          <a:xfrm>
            <a:off x="6217920" y="2926080"/>
            <a:ext cx="521208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3108960"/>
            <a:ext cx="4663440" cy="1645920"/>
          </a:xfrm>
          <a:prstGeom prst="rect">
            <a:avLst/>
          </a:prstGeom>
          <a:noFill/>
        </p:spPr>
        <p:txBody>
          <a:bodyPr wrap="square">
            <a:spAutoFit/>
          </a:bodyPr>
          <a:lstStyle/>
          <a:p>
            <a:pPr>
              <a:defRPr sz="1800" b="1">
                <a:solidFill>
                  <a:srgbClr val="172B45"/>
                </a:solidFill>
                <a:latin typeface="Segoe UI"/>
              </a:defRPr>
            </a:pPr>
            <a:r>
              <a:t>Devansh Gawali</a:t>
            </a:r>
          </a:p>
          <a:p>
            <a:pPr>
              <a:spcBef>
                <a:spcPts val="400"/>
              </a:spcBef>
              <a:defRPr sz="1200" b="1">
                <a:solidFill>
                  <a:srgbClr val="168C8C"/>
                </a:solidFill>
                <a:latin typeface="Segoe UI"/>
              </a:defRPr>
            </a:pPr>
            <a:r>
              <a:t>PRN: 23070521237</a:t>
            </a:r>
          </a:p>
          <a:p>
            <a:pPr>
              <a:spcBef>
                <a:spcPts val="600"/>
              </a:spcBef>
              <a:defRPr sz="1100">
                <a:solidFill>
                  <a:srgbClr val="334155"/>
                </a:solidFill>
                <a:latin typeface="Segoe UI"/>
              </a:defRPr>
            </a:pPr>
            <a:r>
              <a:t>Department of Computer Science &amp; Engineering</a:t>
            </a:r>
            <a:br/>
            <a:r>
              <a:t>Symbiosis Institute of Technology, Nagpur</a:t>
            </a:r>
            <a:br/>
            <a:r>
              <a:t>Symbiosis International (Deemed University)</a:t>
            </a:r>
          </a:p>
        </p:txBody>
      </p:sp>
      <p:sp>
        <p:nvSpPr>
          <p:cNvPr id="10" name="Rounded Rectangle 9"/>
          <p:cNvSpPr/>
          <p:nvPr/>
        </p:nvSpPr>
        <p:spPr>
          <a:xfrm>
            <a:off x="731520" y="5166360"/>
            <a:ext cx="10728655" cy="100584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257800"/>
            <a:ext cx="10362895" cy="822960"/>
          </a:xfrm>
          <a:prstGeom prst="rect">
            <a:avLst/>
          </a:prstGeom>
          <a:noFill/>
        </p:spPr>
        <p:txBody>
          <a:bodyPr wrap="square">
            <a:spAutoFit/>
          </a:bodyPr>
          <a:lstStyle/>
          <a:p>
            <a:pPr>
              <a:defRPr sz="1050" b="1">
                <a:solidFill>
                  <a:srgbClr val="0F766E"/>
                </a:solidFill>
                <a:latin typeface="Segoe UI"/>
              </a:defRPr>
            </a:pPr>
            <a:r>
              <a:t>RESEARCH PILLARS &amp; METHODOLOGICAL CONTRIBUTIONS</a:t>
            </a:r>
          </a:p>
          <a:p>
            <a:pPr>
              <a:spcBef>
                <a:spcPts val="400"/>
              </a:spcBef>
              <a:defRPr sz="1150" b="1">
                <a:solidFill>
                  <a:srgbClr val="172B45"/>
                </a:solidFill>
                <a:latin typeface="Segoe UI"/>
              </a:defRPr>
            </a:pPr>
            <a:r>
              <a:t>1. Strict Zero-Leakage Protocol (N=235 Subject Holdout)   •   2. Multimodal Tabular Fusion (Clinical + Structural MRI)   •   3. Game-Theoretic TreeSHAP Interpretability</a:t>
            </a:r>
          </a:p>
        </p:txBody>
      </p:sp>
      <p:sp>
        <p:nvSpPr>
          <p:cNvPr id="12" name="TextBox 11"/>
          <p:cNvSpPr txBox="1"/>
          <p:nvPr/>
        </p:nvSpPr>
        <p:spPr>
          <a:xfrm>
            <a:off x="731520" y="6510528"/>
            <a:ext cx="10728655" cy="274320"/>
          </a:xfrm>
          <a:prstGeom prst="rect">
            <a:avLst/>
          </a:prstGeom>
          <a:noFill/>
        </p:spPr>
        <p:txBody>
          <a:bodyPr wrap="none">
            <a:spAutoFit/>
          </a:bodyPr>
          <a:lstStyle/>
          <a:p>
            <a:pPr algn="ctr">
              <a:defRPr sz="900">
                <a:solidFill>
                  <a:srgbClr val="64748B"/>
                </a:solidFill>
                <a:latin typeface="Segoe UI"/>
              </a:defRPr>
            </a:pPr>
            <a:r>
              <a:t>Symbiosis Institute of Technology, Nagpur • Academic Year 2025-2026 • CA3 Technical Evaluation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474720" cy="256032"/>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50" b="1">
                <a:solidFill>
                  <a:srgbClr val="0F766E"/>
                </a:solidFill>
                <a:latin typeface="Segoe UI"/>
              </a:defRPr>
            </a:pPr>
            <a:r>
              <a:t>CLINICAL CONTEXT &amp; MOTIVATION</a:t>
            </a:r>
          </a:p>
        </p:txBody>
      </p:sp>
      <p:sp>
        <p:nvSpPr>
          <p:cNvPr id="4" name="TextBox 3"/>
          <p:cNvSpPr txBox="1"/>
          <p:nvPr/>
        </p:nvSpPr>
        <p:spPr>
          <a:xfrm>
            <a:off x="731520" y="676656"/>
            <a:ext cx="10728655" cy="548640"/>
          </a:xfrm>
          <a:prstGeom prst="rect">
            <a:avLst/>
          </a:prstGeom>
          <a:noFill/>
        </p:spPr>
        <p:txBody>
          <a:bodyPr wrap="square" lIns="0" rIns="0" tIns="0" bIns="0">
            <a:spAutoFit/>
          </a:bodyPr>
          <a:lstStyle/>
          <a:p>
            <a:pPr>
              <a:defRPr sz="2100" b="1">
                <a:solidFill>
                  <a:srgbClr val="172B45"/>
                </a:solidFill>
                <a:latin typeface="Segoe UI"/>
              </a:defRPr>
            </a:pPr>
            <a:r>
              <a:t>The Global Dementia Challenge &amp; Diagnostic Imperatives</a:t>
            </a:r>
          </a:p>
        </p:txBody>
      </p:sp>
      <p:sp>
        <p:nvSpPr>
          <p:cNvPr id="5" name="Rectangle 4"/>
          <p:cNvSpPr/>
          <p:nvPr/>
        </p:nvSpPr>
        <p:spPr>
          <a:xfrm>
            <a:off x="731520" y="12618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7772400" cy="274320"/>
          </a:xfrm>
          <a:prstGeom prst="rect">
            <a:avLst/>
          </a:prstGeom>
          <a:noFill/>
        </p:spPr>
        <p:txBody>
          <a:bodyPr wrap="none" lIns="0" rIns="0" tIns="0" bIns="0">
            <a:spAutoFit/>
          </a:bodyPr>
          <a:lstStyle/>
          <a:p>
            <a:pPr>
              <a:defRPr sz="900">
                <a:solidFill>
                  <a:srgbClr val="64748B"/>
                </a:solidFill>
                <a:latin typeface="Segoe UI"/>
              </a:defRPr>
            </a:pPr>
            <a:r>
              <a:t>Symbiosis Institute of Technology, Nagpur • B.Tech CSE (CA3 Evaluation) • Explainable Multimodal ML</a:t>
            </a:r>
          </a:p>
        </p:txBody>
      </p:sp>
      <p:sp>
        <p:nvSpPr>
          <p:cNvPr id="7" name="TextBox 6"/>
          <p:cNvSpPr txBox="1"/>
          <p:nvPr/>
        </p:nvSpPr>
        <p:spPr>
          <a:xfrm>
            <a:off x="9601200" y="6510528"/>
            <a:ext cx="1858975" cy="274320"/>
          </a:xfrm>
          <a:prstGeom prst="rect">
            <a:avLst/>
          </a:prstGeom>
          <a:noFill/>
        </p:spPr>
        <p:txBody>
          <a:bodyPr wrap="none" lIns="0" rIns="0" tIns="0" bIns="0">
            <a:spAutoFit/>
          </a:bodyPr>
          <a:lstStyle/>
          <a:p>
            <a:pPr algn="r">
              <a:defRPr sz="900" b="1">
                <a:solidFill>
                  <a:srgbClr val="168C8C"/>
                </a:solidFill>
                <a:latin typeface="Segoe UI"/>
              </a:defRPr>
            </a:pPr>
            <a:r>
              <a:t>Slide 02 / 15</a:t>
            </a:r>
          </a:p>
        </p:txBody>
      </p:sp>
      <p:sp>
        <p:nvSpPr>
          <p:cNvPr id="8" name="Rounded Rectangle 7"/>
          <p:cNvSpPr/>
          <p:nvPr/>
        </p:nvSpPr>
        <p:spPr>
          <a:xfrm>
            <a:off x="731520" y="1463040"/>
            <a:ext cx="3429000" cy="4800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41248" y="1572768"/>
            <a:ext cx="3209544"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Segoe UI"/>
              </a:defRPr>
            </a:pPr>
            <a:r>
              <a:t>EPIDEMIOLOGICAL SCALE</a:t>
            </a:r>
          </a:p>
        </p:txBody>
      </p:sp>
      <p:sp>
        <p:nvSpPr>
          <p:cNvPr id="10" name="TextBox 9"/>
          <p:cNvSpPr txBox="1"/>
          <p:nvPr/>
        </p:nvSpPr>
        <p:spPr>
          <a:xfrm>
            <a:off x="914400" y="1965960"/>
            <a:ext cx="3063240" cy="4160520"/>
          </a:xfrm>
          <a:prstGeom prst="rect">
            <a:avLst/>
          </a:prstGeom>
          <a:noFill/>
        </p:spPr>
        <p:txBody>
          <a:bodyPr wrap="square">
            <a:spAutoFit/>
          </a:bodyPr>
          <a:lstStyle/>
          <a:p>
            <a:pPr>
              <a:defRPr sz="1600" b="1">
                <a:solidFill>
                  <a:srgbClr val="172B45"/>
                </a:solidFill>
                <a:latin typeface="Segoe UI"/>
              </a:defRPr>
            </a:pPr>
            <a:r>
              <a:t>Global Dementia Crisis</a:t>
            </a:r>
          </a:p>
          <a:p>
            <a:pPr>
              <a:spcBef>
                <a:spcPts val="800"/>
              </a:spcBef>
              <a:defRPr sz="2400" b="1">
                <a:solidFill>
                  <a:srgbClr val="168C8C"/>
                </a:solidFill>
                <a:latin typeface="Segoe UI"/>
              </a:defRPr>
            </a:pPr>
            <a:r>
              <a:t>55 Million+</a:t>
            </a:r>
          </a:p>
          <a:p>
            <a:pPr>
              <a:spcBef>
                <a:spcPts val="200"/>
              </a:spcBef>
              <a:defRPr sz="1050">
                <a:solidFill>
                  <a:srgbClr val="334155"/>
                </a:solidFill>
                <a:latin typeface="Segoe UI"/>
              </a:defRPr>
            </a:pPr>
            <a:r>
              <a:t>People worldwide live with dementia today; projected by WHO to surge to 139 million by 2050.</a:t>
            </a:r>
          </a:p>
          <a:p>
            <a:pPr>
              <a:spcBef>
                <a:spcPts val="1200"/>
              </a:spcBef>
              <a:defRPr sz="1100">
                <a:solidFill>
                  <a:srgbClr val="334155"/>
                </a:solidFill>
                <a:latin typeface="Segoe UI"/>
              </a:defRPr>
            </a:pPr>
            <a:r>
              <a:t>• Etiology: Alzheimer’s Disease accounts for 60%–70% of clinical dementia cases globally.</a:t>
            </a:r>
          </a:p>
          <a:p>
            <a:pPr>
              <a:spcBef>
                <a:spcPts val="800"/>
              </a:spcBef>
              <a:defRPr sz="1100">
                <a:solidFill>
                  <a:srgbClr val="334155"/>
                </a:solidFill>
                <a:latin typeface="Segoe UI"/>
              </a:defRPr>
            </a:pPr>
            <a:r>
              <a:t>• Therapeutic Window: Early diagnosis during prodromal (MCI) stages is pivotal to slowing neurodegeneration and preserving patient autonomy.</a:t>
            </a:r>
          </a:p>
        </p:txBody>
      </p:sp>
      <p:sp>
        <p:nvSpPr>
          <p:cNvPr id="11" name="Rounded Rectangle 10"/>
          <p:cNvSpPr/>
          <p:nvPr/>
        </p:nvSpPr>
        <p:spPr>
          <a:xfrm>
            <a:off x="4379976" y="1463040"/>
            <a:ext cx="3429000" cy="4800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489704" y="1572768"/>
            <a:ext cx="3209544" cy="32004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B91C1C"/>
                </a:solidFill>
                <a:latin typeface="Segoe UI"/>
              </a:defRPr>
            </a:pPr>
            <a:r>
              <a:t>CURRENT CLINICAL BOTTLENECKS</a:t>
            </a:r>
          </a:p>
        </p:txBody>
      </p:sp>
      <p:sp>
        <p:nvSpPr>
          <p:cNvPr id="13" name="TextBox 12"/>
          <p:cNvSpPr txBox="1"/>
          <p:nvPr/>
        </p:nvSpPr>
        <p:spPr>
          <a:xfrm>
            <a:off x="4562856" y="1965960"/>
            <a:ext cx="3063240" cy="4160520"/>
          </a:xfrm>
          <a:prstGeom prst="rect">
            <a:avLst/>
          </a:prstGeom>
          <a:noFill/>
        </p:spPr>
        <p:txBody>
          <a:bodyPr wrap="square">
            <a:spAutoFit/>
          </a:bodyPr>
          <a:lstStyle/>
          <a:p>
            <a:pPr>
              <a:defRPr sz="1600" b="1">
                <a:solidFill>
                  <a:srgbClr val="172B45"/>
                </a:solidFill>
                <a:latin typeface="Segoe UI"/>
              </a:defRPr>
            </a:pPr>
            <a:r>
              <a:t>Conventional Diagnostic Limits</a:t>
            </a:r>
          </a:p>
          <a:p>
            <a:pPr>
              <a:spcBef>
                <a:spcPts val="1400"/>
              </a:spcBef>
              <a:defRPr sz="1300" b="1">
                <a:solidFill>
                  <a:srgbClr val="B91C1C"/>
                </a:solidFill>
                <a:latin typeface="Segoe UI"/>
              </a:defRPr>
            </a:pPr>
            <a:r>
              <a:t>Clinical Challenges</a:t>
            </a:r>
          </a:p>
          <a:p>
            <a:pPr>
              <a:spcBef>
                <a:spcPts val="800"/>
              </a:spcBef>
              <a:defRPr sz="1100">
                <a:solidFill>
                  <a:srgbClr val="334155"/>
                </a:solidFill>
                <a:latin typeface="Segoe UI"/>
              </a:defRPr>
            </a:pPr>
            <a:r>
              <a:t>• Psychometric Bias: Standard screening tools (MMSE, CDR) are heavily confounded by educational attainment, language, and cultural background.</a:t>
            </a:r>
          </a:p>
          <a:p>
            <a:pPr>
              <a:spcBef>
                <a:spcPts val="800"/>
              </a:spcBef>
              <a:defRPr sz="1100">
                <a:solidFill>
                  <a:srgbClr val="334155"/>
                </a:solidFill>
                <a:latin typeface="Segoe UI"/>
              </a:defRPr>
            </a:pPr>
            <a:r>
              <a:t>• Invasive Biomarkers: Amyloid PET scans and CSF lumbar punctures are expensive, invasive, and restricted to specialized tertiary hospitals.</a:t>
            </a:r>
          </a:p>
          <a:p>
            <a:pPr>
              <a:spcBef>
                <a:spcPts val="800"/>
              </a:spcBef>
              <a:defRPr sz="1100">
                <a:solidFill>
                  <a:srgbClr val="334155"/>
                </a:solidFill>
                <a:latin typeface="Segoe UI"/>
              </a:defRPr>
            </a:pPr>
            <a:r>
              <a:t>• Subjectivity: Inter-rater scoring variability delays diagnosis until advanced, irreversible neuropathology has occurred.</a:t>
            </a:r>
          </a:p>
        </p:txBody>
      </p:sp>
      <p:sp>
        <p:nvSpPr>
          <p:cNvPr id="14" name="Rounded Rectangle 13"/>
          <p:cNvSpPr/>
          <p:nvPr/>
        </p:nvSpPr>
        <p:spPr>
          <a:xfrm>
            <a:off x="8028432" y="1463040"/>
            <a:ext cx="3429000" cy="4800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38160" y="1572768"/>
            <a:ext cx="3209544" cy="32004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F766E"/>
                </a:solidFill>
                <a:latin typeface="Segoe UI"/>
              </a:defRPr>
            </a:pPr>
            <a:r>
              <a:t>PROPOSED AI SOLUTION</a:t>
            </a:r>
          </a:p>
        </p:txBody>
      </p:sp>
      <p:sp>
        <p:nvSpPr>
          <p:cNvPr id="16" name="TextBox 15"/>
          <p:cNvSpPr txBox="1"/>
          <p:nvPr/>
        </p:nvSpPr>
        <p:spPr>
          <a:xfrm>
            <a:off x="8211312" y="1965960"/>
            <a:ext cx="3063240" cy="4160520"/>
          </a:xfrm>
          <a:prstGeom prst="rect">
            <a:avLst/>
          </a:prstGeom>
          <a:noFill/>
        </p:spPr>
        <p:txBody>
          <a:bodyPr wrap="square">
            <a:spAutoFit/>
          </a:bodyPr>
          <a:lstStyle/>
          <a:p>
            <a:pPr>
              <a:defRPr sz="1600" b="1">
                <a:solidFill>
                  <a:srgbClr val="172B45"/>
                </a:solidFill>
                <a:latin typeface="Segoe UI"/>
              </a:defRPr>
            </a:pPr>
            <a:r>
              <a:t>Structural MRI &amp; AI Promise</a:t>
            </a:r>
          </a:p>
          <a:p>
            <a:pPr>
              <a:spcBef>
                <a:spcPts val="1400"/>
              </a:spcBef>
              <a:defRPr sz="1300" b="1">
                <a:solidFill>
                  <a:srgbClr val="168C8C"/>
                </a:solidFill>
                <a:latin typeface="Segoe UI"/>
              </a:defRPr>
            </a:pPr>
            <a:r>
              <a:t>Non-Invasive Synergy</a:t>
            </a:r>
          </a:p>
          <a:p>
            <a:pPr>
              <a:spcBef>
                <a:spcPts val="800"/>
              </a:spcBef>
              <a:defRPr sz="1100">
                <a:solidFill>
                  <a:srgbClr val="334155"/>
                </a:solidFill>
                <a:latin typeface="Segoe UI"/>
              </a:defRPr>
            </a:pPr>
            <a:r>
              <a:t>• Objective Volumetry: Structural MRI quantifies macroscopic brain atrophy, ventriculomegaly, and parenchymal tissue loss non-invasively.</a:t>
            </a:r>
          </a:p>
          <a:p>
            <a:pPr>
              <a:spcBef>
                <a:spcPts val="800"/>
              </a:spcBef>
              <a:defRPr sz="1100">
                <a:solidFill>
                  <a:srgbClr val="334155"/>
                </a:solidFill>
                <a:latin typeface="Segoe UI"/>
              </a:defRPr>
            </a:pPr>
            <a:r>
              <a:t>• Multimodal Synergy: Uniting cognitive psychometrics with anatomical brain volumes yields superior predictive fidelity.</a:t>
            </a:r>
          </a:p>
          <a:p>
            <a:pPr>
              <a:spcBef>
                <a:spcPts val="800"/>
              </a:spcBef>
              <a:defRPr sz="1100">
                <a:solidFill>
                  <a:srgbClr val="334155"/>
                </a:solidFill>
                <a:latin typeface="Segoe UI"/>
              </a:defRPr>
            </a:pPr>
            <a:r>
              <a:t>• Lightweight Deployment: Tabular morphometry avoids GPU dependency, enabling real-time clinical screening at low resource cost.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474720" cy="256032"/>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50" b="1">
                <a:solidFill>
                  <a:srgbClr val="0F766E"/>
                </a:solidFill>
                <a:latin typeface="Segoe UI"/>
              </a:defRPr>
            </a:pPr>
            <a:r>
              <a:t>RESEARCH SCOPE &amp; OBJECTIVES</a:t>
            </a:r>
          </a:p>
        </p:txBody>
      </p:sp>
      <p:sp>
        <p:nvSpPr>
          <p:cNvPr id="4" name="TextBox 3"/>
          <p:cNvSpPr txBox="1"/>
          <p:nvPr/>
        </p:nvSpPr>
        <p:spPr>
          <a:xfrm>
            <a:off x="731520" y="676656"/>
            <a:ext cx="10728655" cy="548640"/>
          </a:xfrm>
          <a:prstGeom prst="rect">
            <a:avLst/>
          </a:prstGeom>
          <a:noFill/>
        </p:spPr>
        <p:txBody>
          <a:bodyPr wrap="square" lIns="0" rIns="0" tIns="0" bIns="0">
            <a:spAutoFit/>
          </a:bodyPr>
          <a:lstStyle/>
          <a:p>
            <a:pPr>
              <a:defRPr sz="2100" b="1">
                <a:solidFill>
                  <a:srgbClr val="172B45"/>
                </a:solidFill>
                <a:latin typeface="Segoe UI"/>
              </a:defRPr>
            </a:pPr>
            <a:r>
              <a:t>Problem Statement &amp; Rigorous Research Objectives</a:t>
            </a:r>
          </a:p>
        </p:txBody>
      </p:sp>
      <p:sp>
        <p:nvSpPr>
          <p:cNvPr id="5" name="Rectangle 4"/>
          <p:cNvSpPr/>
          <p:nvPr/>
        </p:nvSpPr>
        <p:spPr>
          <a:xfrm>
            <a:off x="731520" y="12618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7772400" cy="274320"/>
          </a:xfrm>
          <a:prstGeom prst="rect">
            <a:avLst/>
          </a:prstGeom>
          <a:noFill/>
        </p:spPr>
        <p:txBody>
          <a:bodyPr wrap="none" lIns="0" rIns="0" tIns="0" bIns="0">
            <a:spAutoFit/>
          </a:bodyPr>
          <a:lstStyle/>
          <a:p>
            <a:pPr>
              <a:defRPr sz="900">
                <a:solidFill>
                  <a:srgbClr val="64748B"/>
                </a:solidFill>
                <a:latin typeface="Segoe UI"/>
              </a:defRPr>
            </a:pPr>
            <a:r>
              <a:t>Symbiosis Institute of Technology, Nagpur • B.Tech CSE (CA3 Evaluation) • Explainable Multimodal ML</a:t>
            </a:r>
          </a:p>
        </p:txBody>
      </p:sp>
      <p:sp>
        <p:nvSpPr>
          <p:cNvPr id="7" name="TextBox 6"/>
          <p:cNvSpPr txBox="1"/>
          <p:nvPr/>
        </p:nvSpPr>
        <p:spPr>
          <a:xfrm>
            <a:off x="9601200" y="6510528"/>
            <a:ext cx="1858975" cy="274320"/>
          </a:xfrm>
          <a:prstGeom prst="rect">
            <a:avLst/>
          </a:prstGeom>
          <a:noFill/>
        </p:spPr>
        <p:txBody>
          <a:bodyPr wrap="none" lIns="0" rIns="0" tIns="0" bIns="0">
            <a:spAutoFit/>
          </a:bodyPr>
          <a:lstStyle/>
          <a:p>
            <a:pPr algn="r">
              <a:defRPr sz="900" b="1">
                <a:solidFill>
                  <a:srgbClr val="168C8C"/>
                </a:solidFill>
                <a:latin typeface="Segoe UI"/>
              </a:defRPr>
            </a:pPr>
            <a:r>
              <a:t>Slide 03 / 15</a:t>
            </a:r>
          </a:p>
        </p:txBody>
      </p:sp>
      <p:sp>
        <p:nvSpPr>
          <p:cNvPr id="8" name="Rounded Rectangle 7"/>
          <p:cNvSpPr/>
          <p:nvPr/>
        </p:nvSpPr>
        <p:spPr>
          <a:xfrm>
            <a:off x="731520" y="1463040"/>
            <a:ext cx="4846320" cy="4800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68680" y="1600200"/>
            <a:ext cx="4572000" cy="32004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B91C1C"/>
                </a:solidFill>
                <a:latin typeface="Segoe UI"/>
              </a:defRPr>
            </a:pPr>
            <a:r>
              <a:t>CRITICAL LIMITATIONS IN LITERATURE</a:t>
            </a:r>
          </a:p>
        </p:txBody>
      </p:sp>
      <p:sp>
        <p:nvSpPr>
          <p:cNvPr id="10" name="TextBox 9"/>
          <p:cNvSpPr txBox="1"/>
          <p:nvPr/>
        </p:nvSpPr>
        <p:spPr>
          <a:xfrm>
            <a:off x="914400" y="2011680"/>
            <a:ext cx="4480560" cy="4114800"/>
          </a:xfrm>
          <a:prstGeom prst="rect">
            <a:avLst/>
          </a:prstGeom>
          <a:noFill/>
        </p:spPr>
        <p:txBody>
          <a:bodyPr wrap="square">
            <a:spAutoFit/>
          </a:bodyPr>
          <a:lstStyle/>
          <a:p>
            <a:pPr>
              <a:defRPr sz="1600" b="1">
                <a:solidFill>
                  <a:srgbClr val="172B45"/>
                </a:solidFill>
                <a:latin typeface="Segoe UI"/>
              </a:defRPr>
            </a:pPr>
            <a:r>
              <a:t>The Central Research Challenges</a:t>
            </a:r>
          </a:p>
          <a:p>
            <a:pPr>
              <a:spcBef>
                <a:spcPts val="1200"/>
              </a:spcBef>
              <a:defRPr sz="1200" b="1">
                <a:solidFill>
                  <a:srgbClr val="B91C1C"/>
                </a:solidFill>
                <a:latin typeface="Segoe UI"/>
              </a:defRPr>
            </a:pPr>
            <a:r>
              <a:t>1. Data Leakage Crisis</a:t>
            </a:r>
          </a:p>
          <a:p>
            <a:pPr>
              <a:spcBef>
                <a:spcPts val="200"/>
              </a:spcBef>
              <a:defRPr sz="1050">
                <a:solidFill>
                  <a:srgbClr val="334155"/>
                </a:solidFill>
                <a:latin typeface="Segoe UI"/>
              </a:defRPr>
            </a:pPr>
            <a:r>
              <a:t>Numerous published neuroimaging ML papers report inflated accuracies (&gt;95%) because repeat scans of the same participant are mixed across train/test splits (Wen et al., 2020).</a:t>
            </a:r>
          </a:p>
          <a:p>
            <a:pPr>
              <a:spcBef>
                <a:spcPts val="1200"/>
              </a:spcBef>
              <a:defRPr sz="1200" b="1">
                <a:solidFill>
                  <a:srgbClr val="B91C1C"/>
                </a:solidFill>
                <a:latin typeface="Segoe UI"/>
              </a:defRPr>
            </a:pPr>
            <a:r>
              <a:t>2. Computational Barrier</a:t>
            </a:r>
          </a:p>
          <a:p>
            <a:pPr>
              <a:spcBef>
                <a:spcPts val="200"/>
              </a:spcBef>
              <a:defRPr sz="1050">
                <a:solidFill>
                  <a:srgbClr val="334155"/>
                </a:solidFill>
                <a:latin typeface="Segoe UI"/>
              </a:defRPr>
            </a:pPr>
            <a:r>
              <a:t>Raw 3D volumetric CNNs require costly GPU clusters and extensive training hours, severely limiting bedside clinical translation.</a:t>
            </a:r>
          </a:p>
          <a:p>
            <a:pPr>
              <a:spcBef>
                <a:spcPts val="1200"/>
              </a:spcBef>
              <a:defRPr sz="1200" b="1">
                <a:solidFill>
                  <a:srgbClr val="B91C1C"/>
                </a:solidFill>
                <a:latin typeface="Segoe UI"/>
              </a:defRPr>
            </a:pPr>
            <a:r>
              <a:t>3. The Black-Box Dilemma</a:t>
            </a:r>
          </a:p>
          <a:p>
            <a:pPr>
              <a:spcBef>
                <a:spcPts val="200"/>
              </a:spcBef>
              <a:defRPr sz="1050">
                <a:solidFill>
                  <a:srgbClr val="334155"/>
                </a:solidFill>
                <a:latin typeface="Segoe UI"/>
              </a:defRPr>
            </a:pPr>
            <a:r>
              <a:t>Complex ensemble models make opaque, unexplainable predictions, failing clinical verification, ethical standards, and regulatory trust.</a:t>
            </a:r>
          </a:p>
        </p:txBody>
      </p:sp>
      <p:sp>
        <p:nvSpPr>
          <p:cNvPr id="11" name="Rounded Rectangle 10"/>
          <p:cNvSpPr/>
          <p:nvPr/>
        </p:nvSpPr>
        <p:spPr>
          <a:xfrm>
            <a:off x="5790895" y="1463040"/>
            <a:ext cx="5669280" cy="4800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28055" y="1600200"/>
            <a:ext cx="5394960" cy="32004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F766E"/>
                </a:solidFill>
                <a:latin typeface="Segoe UI"/>
              </a:defRPr>
            </a:pPr>
            <a:r>
              <a:t>OUR SYSTEMATIC METHODOLOGY</a:t>
            </a:r>
          </a:p>
        </p:txBody>
      </p:sp>
      <p:sp>
        <p:nvSpPr>
          <p:cNvPr id="13" name="TextBox 12"/>
          <p:cNvSpPr txBox="1"/>
          <p:nvPr/>
        </p:nvSpPr>
        <p:spPr>
          <a:xfrm>
            <a:off x="6019495" y="2011680"/>
            <a:ext cx="5212080" cy="4114800"/>
          </a:xfrm>
          <a:prstGeom prst="rect">
            <a:avLst/>
          </a:prstGeom>
          <a:noFill/>
        </p:spPr>
        <p:txBody>
          <a:bodyPr wrap="square">
            <a:spAutoFit/>
          </a:bodyPr>
          <a:lstStyle/>
          <a:p>
            <a:pPr>
              <a:defRPr sz="1600" b="1">
                <a:solidFill>
                  <a:srgbClr val="172B45"/>
                </a:solidFill>
                <a:latin typeface="Segoe UI"/>
              </a:defRPr>
            </a:pPr>
            <a:r>
              <a:t>Target Research Objectives</a:t>
            </a:r>
          </a:p>
          <a:p>
            <a:pPr>
              <a:spcBef>
                <a:spcPts val="800"/>
              </a:spcBef>
              <a:defRPr sz="1150" b="1">
                <a:solidFill>
                  <a:srgbClr val="0F766E"/>
                </a:solidFill>
                <a:latin typeface="Segoe UI"/>
              </a:defRPr>
            </a:pPr>
            <a:r>
              <a:t>Obj 1 — Zero-Leakage Pipeline</a:t>
            </a:r>
          </a:p>
          <a:p>
            <a:pPr>
              <a:spcBef>
                <a:spcPts val="200"/>
              </a:spcBef>
              <a:defRPr sz="1050">
                <a:solidFill>
                  <a:srgbClr val="334155"/>
                </a:solidFill>
                <a:latin typeface="Segoe UI"/>
              </a:defRPr>
            </a:pPr>
            <a:r>
              <a:t>Design and enforce strict subject-level holdout partitioning (N=188 train, N=47 test) and scikit-learn pipeline encapsulation to completely prevent test information leakage.</a:t>
            </a:r>
          </a:p>
          <a:p>
            <a:pPr>
              <a:spcBef>
                <a:spcPts val="800"/>
              </a:spcBef>
              <a:defRPr sz="1150" b="1">
                <a:solidFill>
                  <a:srgbClr val="0F766E"/>
                </a:solidFill>
                <a:latin typeface="Segoe UI"/>
              </a:defRPr>
            </a:pPr>
            <a:r>
              <a:t>Obj 2 — Multimodal Fusion Benchmark</a:t>
            </a:r>
          </a:p>
          <a:p>
            <a:pPr>
              <a:spcBef>
                <a:spcPts val="200"/>
              </a:spcBef>
              <a:defRPr sz="1050">
                <a:solidFill>
                  <a:srgbClr val="334155"/>
                </a:solidFill>
                <a:latin typeface="Segoe UI"/>
              </a:defRPr>
            </a:pPr>
            <a:r>
              <a:t>Evaluate 6 classical and ensemble learning models (Dummy, LR, RF, SVM, GB, Soft Voting) combining clinical and structural MRI features.</a:t>
            </a:r>
          </a:p>
          <a:p>
            <a:pPr>
              <a:spcBef>
                <a:spcPts val="800"/>
              </a:spcBef>
              <a:defRPr sz="1150" b="1">
                <a:solidFill>
                  <a:srgbClr val="0F766E"/>
                </a:solidFill>
                <a:latin typeface="Segoe UI"/>
              </a:defRPr>
            </a:pPr>
            <a:r>
              <a:t>Obj 3 — Modality Ablation Analysis</a:t>
            </a:r>
          </a:p>
          <a:p>
            <a:pPr>
              <a:spcBef>
                <a:spcPts val="200"/>
              </a:spcBef>
              <a:defRPr sz="1050">
                <a:solidFill>
                  <a:srgbClr val="334155"/>
                </a:solidFill>
                <a:latin typeface="Segoe UI"/>
              </a:defRPr>
            </a:pPr>
            <a:r>
              <a:t>Quantify the exact incremental diagnostic gain of structural MRI volumetrics over clinical psychometrics alone.</a:t>
            </a:r>
          </a:p>
          <a:p>
            <a:pPr>
              <a:spcBef>
                <a:spcPts val="800"/>
              </a:spcBef>
              <a:defRPr sz="1150" b="1">
                <a:solidFill>
                  <a:srgbClr val="0F766E"/>
                </a:solidFill>
                <a:latin typeface="Segoe UI"/>
              </a:defRPr>
            </a:pPr>
            <a:r>
              <a:t>Obj 4 — Game-Theoretic Explainability</a:t>
            </a:r>
          </a:p>
          <a:p>
            <a:pPr>
              <a:spcBef>
                <a:spcPts val="200"/>
              </a:spcBef>
              <a:defRPr sz="1050">
                <a:solidFill>
                  <a:srgbClr val="334155"/>
                </a:solidFill>
                <a:latin typeface="Segoe UI"/>
              </a:defRPr>
            </a:pPr>
            <a:r>
              <a:t>Deploy TreeSHAP to generate global biomarker importance distributions and transparent patient-level local waterfall explanations.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474720" cy="256032"/>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50" b="1">
                <a:solidFill>
                  <a:srgbClr val="0F766E"/>
                </a:solidFill>
                <a:latin typeface="Segoe UI"/>
              </a:defRPr>
            </a:pPr>
            <a:r>
              <a:t>ACADEMIC BENCHMARK &amp; GAP</a:t>
            </a:r>
          </a:p>
        </p:txBody>
      </p:sp>
      <p:sp>
        <p:nvSpPr>
          <p:cNvPr id="4" name="TextBox 3"/>
          <p:cNvSpPr txBox="1"/>
          <p:nvPr/>
        </p:nvSpPr>
        <p:spPr>
          <a:xfrm>
            <a:off x="731520" y="676656"/>
            <a:ext cx="10728655" cy="548640"/>
          </a:xfrm>
          <a:prstGeom prst="rect">
            <a:avLst/>
          </a:prstGeom>
          <a:noFill/>
        </p:spPr>
        <p:txBody>
          <a:bodyPr wrap="square" lIns="0" rIns="0" tIns="0" bIns="0">
            <a:spAutoFit/>
          </a:bodyPr>
          <a:lstStyle/>
          <a:p>
            <a:pPr>
              <a:defRPr sz="2100" b="1">
                <a:solidFill>
                  <a:srgbClr val="172B45"/>
                </a:solidFill>
                <a:latin typeface="Segoe UI"/>
              </a:defRPr>
            </a:pPr>
            <a:r>
              <a:t>Synthesis of Peer-Reviewed Literature &amp; Research Gap</a:t>
            </a:r>
          </a:p>
        </p:txBody>
      </p:sp>
      <p:sp>
        <p:nvSpPr>
          <p:cNvPr id="5" name="Rectangle 4"/>
          <p:cNvSpPr/>
          <p:nvPr/>
        </p:nvSpPr>
        <p:spPr>
          <a:xfrm>
            <a:off x="731520" y="12618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7772400" cy="274320"/>
          </a:xfrm>
          <a:prstGeom prst="rect">
            <a:avLst/>
          </a:prstGeom>
          <a:noFill/>
        </p:spPr>
        <p:txBody>
          <a:bodyPr wrap="none" lIns="0" rIns="0" tIns="0" bIns="0">
            <a:spAutoFit/>
          </a:bodyPr>
          <a:lstStyle/>
          <a:p>
            <a:pPr>
              <a:defRPr sz="900">
                <a:solidFill>
                  <a:srgbClr val="64748B"/>
                </a:solidFill>
                <a:latin typeface="Segoe UI"/>
              </a:defRPr>
            </a:pPr>
            <a:r>
              <a:t>Symbiosis Institute of Technology, Nagpur • B.Tech CSE (CA3 Evaluation) • Explainable Multimodal ML</a:t>
            </a:r>
          </a:p>
        </p:txBody>
      </p:sp>
      <p:sp>
        <p:nvSpPr>
          <p:cNvPr id="7" name="TextBox 6"/>
          <p:cNvSpPr txBox="1"/>
          <p:nvPr/>
        </p:nvSpPr>
        <p:spPr>
          <a:xfrm>
            <a:off x="9601200" y="6510528"/>
            <a:ext cx="1858975" cy="274320"/>
          </a:xfrm>
          <a:prstGeom prst="rect">
            <a:avLst/>
          </a:prstGeom>
          <a:noFill/>
        </p:spPr>
        <p:txBody>
          <a:bodyPr wrap="none" lIns="0" rIns="0" tIns="0" bIns="0">
            <a:spAutoFit/>
          </a:bodyPr>
          <a:lstStyle/>
          <a:p>
            <a:pPr algn="r">
              <a:defRPr sz="900" b="1">
                <a:solidFill>
                  <a:srgbClr val="168C8C"/>
                </a:solidFill>
                <a:latin typeface="Segoe UI"/>
              </a:defRPr>
            </a:pPr>
            <a:r>
              <a:t>Slide 04 / 15</a:t>
            </a:r>
          </a:p>
        </p:txBody>
      </p:sp>
      <p:sp>
        <p:nvSpPr>
          <p:cNvPr id="8" name="Rounded Rectangle 7"/>
          <p:cNvSpPr/>
          <p:nvPr/>
        </p:nvSpPr>
        <p:spPr>
          <a:xfrm>
            <a:off x="731520" y="1463040"/>
            <a:ext cx="525780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92040" cy="1874520"/>
          </a:xfrm>
          <a:prstGeom prst="rect">
            <a:avLst/>
          </a:prstGeom>
          <a:noFill/>
        </p:spPr>
        <p:txBody>
          <a:bodyPr wrap="square">
            <a:spAutoFit/>
          </a:bodyPr>
          <a:lstStyle/>
          <a:p>
            <a:pPr>
              <a:defRPr sz="1300" b="1">
                <a:solidFill>
                  <a:srgbClr val="172B45"/>
                </a:solidFill>
                <a:latin typeface="Segoe UI"/>
              </a:defRPr>
            </a:pPr>
            <a:r>
              <a:t>OASIS Benchmark &amp; Data Leakage Pitfalls</a:t>
            </a:r>
          </a:p>
          <a:p>
            <a:pPr>
              <a:spcBef>
                <a:spcPts val="400"/>
              </a:spcBef>
              <a:defRPr sz="1050">
                <a:solidFill>
                  <a:srgbClr val="334155"/>
                </a:solidFill>
                <a:latin typeface="Segoe UI"/>
              </a:defRPr>
            </a:pPr>
            <a:r>
              <a:t>• Marcus et al. (2007) [J. Cogn. Neurosci.]: Established the OASIS-1 open benchmark with automated whole-brain volume (nWBV) and intracranial volume (eTIV).</a:t>
            </a:r>
          </a:p>
          <a:p>
            <a:pPr>
              <a:spcBef>
                <a:spcPts val="400"/>
              </a:spcBef>
              <a:defRPr sz="1050">
                <a:solidFill>
                  <a:srgbClr val="334155"/>
                </a:solidFill>
                <a:latin typeface="Segoe UI"/>
              </a:defRPr>
            </a:pPr>
            <a:r>
              <a:t>• Wen et al. (2020) [Med. Image Anal.]: Evaluated 32 deep learning studies, revealing 25%–35% artificial accuracy inflation when splitting by scan rather than subject.</a:t>
            </a:r>
          </a:p>
        </p:txBody>
      </p:sp>
      <p:sp>
        <p:nvSpPr>
          <p:cNvPr id="10" name="Rounded Rectangle 9"/>
          <p:cNvSpPr/>
          <p:nvPr/>
        </p:nvSpPr>
        <p:spPr>
          <a:xfrm>
            <a:off x="6202375" y="1463040"/>
            <a:ext cx="525780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5255" y="1600200"/>
            <a:ext cx="4892040" cy="1874520"/>
          </a:xfrm>
          <a:prstGeom prst="rect">
            <a:avLst/>
          </a:prstGeom>
          <a:noFill/>
        </p:spPr>
        <p:txBody>
          <a:bodyPr wrap="square">
            <a:spAutoFit/>
          </a:bodyPr>
          <a:lstStyle/>
          <a:p>
            <a:pPr>
              <a:defRPr sz="1300" b="1">
                <a:solidFill>
                  <a:srgbClr val="172B45"/>
                </a:solidFill>
                <a:latin typeface="Segoe UI"/>
              </a:defRPr>
            </a:pPr>
            <a:r>
              <a:t>Multimodal Clinical-MRI Fusion</a:t>
            </a:r>
          </a:p>
          <a:p>
            <a:pPr>
              <a:spcBef>
                <a:spcPts val="400"/>
              </a:spcBef>
              <a:defRPr sz="1050">
                <a:solidFill>
                  <a:srgbClr val="334155"/>
                </a:solidFill>
                <a:latin typeface="Segoe UI"/>
              </a:defRPr>
            </a:pPr>
            <a:r>
              <a:t>• Venugopalan et al. (2021) [Sci. Rep.]: Demonstrated multimodal clinical + sMRI autoencoders achieved 89.2% accuracy, significantly beating unimodal MRI (76.5%).</a:t>
            </a:r>
          </a:p>
          <a:p>
            <a:pPr>
              <a:spcBef>
                <a:spcPts val="400"/>
              </a:spcBef>
              <a:defRPr sz="1050">
                <a:solidFill>
                  <a:srgbClr val="334155"/>
                </a:solidFill>
                <a:latin typeface="Segoe UI"/>
              </a:defRPr>
            </a:pPr>
            <a:r>
              <a:t>• Li et al. (2026) [Artif. Intell. Med.]: Cross-branch multimodal fusion showed synergistic gains, but incurred heavy GPU deployment constraints.</a:t>
            </a:r>
          </a:p>
        </p:txBody>
      </p:sp>
      <p:sp>
        <p:nvSpPr>
          <p:cNvPr id="12" name="Rounded Rectangle 11"/>
          <p:cNvSpPr/>
          <p:nvPr/>
        </p:nvSpPr>
        <p:spPr>
          <a:xfrm>
            <a:off x="731520" y="3794760"/>
            <a:ext cx="525780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931920"/>
            <a:ext cx="4892040" cy="1874520"/>
          </a:xfrm>
          <a:prstGeom prst="rect">
            <a:avLst/>
          </a:prstGeom>
          <a:noFill/>
        </p:spPr>
        <p:txBody>
          <a:bodyPr wrap="square">
            <a:spAutoFit/>
          </a:bodyPr>
          <a:lstStyle/>
          <a:p>
            <a:pPr>
              <a:defRPr sz="1300" b="1">
                <a:solidFill>
                  <a:srgbClr val="172B45"/>
                </a:solidFill>
                <a:latin typeface="Segoe UI"/>
              </a:defRPr>
            </a:pPr>
            <a:r>
              <a:t>Classical Ensembles &amp; Validation Rigor</a:t>
            </a:r>
          </a:p>
          <a:p>
            <a:pPr>
              <a:spcBef>
                <a:spcPts val="400"/>
              </a:spcBef>
              <a:defRPr sz="1050">
                <a:solidFill>
                  <a:srgbClr val="334155"/>
                </a:solidFill>
                <a:latin typeface="Segoe UI"/>
              </a:defRPr>
            </a:pPr>
            <a:r>
              <a:t>• Alam et al. (2022) [Diagnostics]: Benchmarked SVM, RF, and soft voting on OASIS cross-sectional data (86.8% acc), but lacked local game-theoretic XAI.</a:t>
            </a:r>
          </a:p>
          <a:p>
            <a:pPr>
              <a:spcBef>
                <a:spcPts val="400"/>
              </a:spcBef>
              <a:defRPr sz="1050">
                <a:solidFill>
                  <a:srgbClr val="334155"/>
                </a:solidFill>
                <a:latin typeface="Segoe UI"/>
              </a:defRPr>
            </a:pPr>
            <a:r>
              <a:t>• Stammler et al. (2024) [NeuroImage]: Mandated scikit-learn pipeline encapsulation to avoid optimistic preprocessing leakage bias.</a:t>
            </a:r>
          </a:p>
        </p:txBody>
      </p:sp>
      <p:sp>
        <p:nvSpPr>
          <p:cNvPr id="14" name="Rounded Rectangle 13"/>
          <p:cNvSpPr/>
          <p:nvPr/>
        </p:nvSpPr>
        <p:spPr>
          <a:xfrm>
            <a:off x="6202375" y="3794760"/>
            <a:ext cx="525780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5255" y="3931920"/>
            <a:ext cx="4892040" cy="1874520"/>
          </a:xfrm>
          <a:prstGeom prst="rect">
            <a:avLst/>
          </a:prstGeom>
          <a:noFill/>
        </p:spPr>
        <p:txBody>
          <a:bodyPr wrap="square">
            <a:spAutoFit/>
          </a:bodyPr>
          <a:lstStyle/>
          <a:p>
            <a:pPr>
              <a:defRPr sz="1300" b="1">
                <a:solidFill>
                  <a:srgbClr val="172B45"/>
                </a:solidFill>
                <a:latin typeface="Segoe UI"/>
              </a:defRPr>
            </a:pPr>
            <a:r>
              <a:t>Explainable AI (XAI) &amp; Clinical Trust</a:t>
            </a:r>
          </a:p>
          <a:p>
            <a:pPr>
              <a:spcBef>
                <a:spcPts val="400"/>
              </a:spcBef>
              <a:defRPr sz="1050">
                <a:solidFill>
                  <a:srgbClr val="334155"/>
                </a:solidFill>
                <a:latin typeface="Segoe UI"/>
              </a:defRPr>
            </a:pPr>
            <a:r>
              <a:t>• Lundberg &amp; Lee (2017) [NeurIPS]: Established TreeSHAP satisfying Efficiency, Symmetry, and Additivity axioms from cooperative game theory.</a:t>
            </a:r>
          </a:p>
          <a:p>
            <a:pPr>
              <a:spcBef>
                <a:spcPts val="400"/>
              </a:spcBef>
              <a:defRPr sz="1050">
                <a:solidFill>
                  <a:srgbClr val="334155"/>
                </a:solidFill>
                <a:latin typeface="Segoe UI"/>
              </a:defRPr>
            </a:pPr>
            <a:r>
              <a:t>• Yi et al. (2023) &amp; Park et al. (2023): Confirmed that local SHAP waterfall plots increase physician diagnostic confidence by 34%.</a:t>
            </a:r>
          </a:p>
        </p:txBody>
      </p:sp>
      <p:sp>
        <p:nvSpPr>
          <p:cNvPr id="16" name="Rounded Rectangle 15"/>
          <p:cNvSpPr/>
          <p:nvPr/>
        </p:nvSpPr>
        <p:spPr>
          <a:xfrm>
            <a:off x="731520" y="6035040"/>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6071616"/>
            <a:ext cx="10545775" cy="320040"/>
          </a:xfrm>
          <a:prstGeom prst="rect">
            <a:avLst/>
          </a:prstGeom>
          <a:noFill/>
        </p:spPr>
        <p:txBody>
          <a:bodyPr wrap="none">
            <a:spAutoFit/>
          </a:bodyPr>
          <a:lstStyle/>
          <a:p>
            <a:pPr algn="ctr">
              <a:defRPr sz="1000" b="1">
                <a:solidFill>
                  <a:srgbClr val="0F766E"/>
                </a:solidFill>
                <a:latin typeface="Segoe UI"/>
              </a:defRPr>
            </a:pPr>
            <a:r>
              <a:t>IDENTIFIED RESEARCH GAP: A lightweight, zero-leakage multimodal framework unifying tabular MRI volumetry with game-theoretic patient-level XAI.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474720" cy="256032"/>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50" b="1">
                <a:solidFill>
                  <a:srgbClr val="0F766E"/>
                </a:solidFill>
                <a:latin typeface="Segoe UI"/>
              </a:defRPr>
            </a:pPr>
            <a:r>
              <a:t>DATASET PROVENANCE &amp; AUDIT</a:t>
            </a:r>
          </a:p>
        </p:txBody>
      </p:sp>
      <p:sp>
        <p:nvSpPr>
          <p:cNvPr id="4" name="TextBox 3"/>
          <p:cNvSpPr txBox="1"/>
          <p:nvPr/>
        </p:nvSpPr>
        <p:spPr>
          <a:xfrm>
            <a:off x="731520" y="676656"/>
            <a:ext cx="10728655" cy="548640"/>
          </a:xfrm>
          <a:prstGeom prst="rect">
            <a:avLst/>
          </a:prstGeom>
          <a:noFill/>
        </p:spPr>
        <p:txBody>
          <a:bodyPr wrap="square" lIns="0" rIns="0" tIns="0" bIns="0">
            <a:spAutoFit/>
          </a:bodyPr>
          <a:lstStyle/>
          <a:p>
            <a:pPr>
              <a:defRPr sz="2100" b="1">
                <a:solidFill>
                  <a:srgbClr val="172B45"/>
                </a:solidFill>
                <a:latin typeface="Segoe UI"/>
              </a:defRPr>
            </a:pPr>
            <a:r>
              <a:t>OASIS-1 Dataset Audit &amp; Cohort Characteristics</a:t>
            </a:r>
          </a:p>
        </p:txBody>
      </p:sp>
      <p:sp>
        <p:nvSpPr>
          <p:cNvPr id="5" name="Rectangle 4"/>
          <p:cNvSpPr/>
          <p:nvPr/>
        </p:nvSpPr>
        <p:spPr>
          <a:xfrm>
            <a:off x="731520" y="12618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7772400" cy="274320"/>
          </a:xfrm>
          <a:prstGeom prst="rect">
            <a:avLst/>
          </a:prstGeom>
          <a:noFill/>
        </p:spPr>
        <p:txBody>
          <a:bodyPr wrap="none" lIns="0" rIns="0" tIns="0" bIns="0">
            <a:spAutoFit/>
          </a:bodyPr>
          <a:lstStyle/>
          <a:p>
            <a:pPr>
              <a:defRPr sz="900">
                <a:solidFill>
                  <a:srgbClr val="64748B"/>
                </a:solidFill>
                <a:latin typeface="Segoe UI"/>
              </a:defRPr>
            </a:pPr>
            <a:r>
              <a:t>Symbiosis Institute of Technology, Nagpur • B.Tech CSE (CA3 Evaluation) • Explainable Multimodal ML</a:t>
            </a:r>
          </a:p>
        </p:txBody>
      </p:sp>
      <p:sp>
        <p:nvSpPr>
          <p:cNvPr id="7" name="TextBox 6"/>
          <p:cNvSpPr txBox="1"/>
          <p:nvPr/>
        </p:nvSpPr>
        <p:spPr>
          <a:xfrm>
            <a:off x="9601200" y="6510528"/>
            <a:ext cx="1858975" cy="274320"/>
          </a:xfrm>
          <a:prstGeom prst="rect">
            <a:avLst/>
          </a:prstGeom>
          <a:noFill/>
        </p:spPr>
        <p:txBody>
          <a:bodyPr wrap="none" lIns="0" rIns="0" tIns="0" bIns="0">
            <a:spAutoFit/>
          </a:bodyPr>
          <a:lstStyle/>
          <a:p>
            <a:pPr algn="r">
              <a:defRPr sz="900" b="1">
                <a:solidFill>
                  <a:srgbClr val="168C8C"/>
                </a:solidFill>
                <a:latin typeface="Segoe UI"/>
              </a:defRPr>
            </a:pPr>
            <a:r>
              <a:t>Slide 05 / 15</a:t>
            </a:r>
          </a:p>
        </p:txBody>
      </p:sp>
      <p:sp>
        <p:nvSpPr>
          <p:cNvPr id="8" name="Rounded Rectangle 7"/>
          <p:cNvSpPr/>
          <p:nvPr/>
        </p:nvSpPr>
        <p:spPr>
          <a:xfrm>
            <a:off x="731520" y="1463040"/>
            <a:ext cx="4846320" cy="4800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480560" cy="4480560"/>
          </a:xfrm>
          <a:prstGeom prst="rect">
            <a:avLst/>
          </a:prstGeom>
          <a:noFill/>
        </p:spPr>
        <p:txBody>
          <a:bodyPr wrap="square">
            <a:spAutoFit/>
          </a:bodyPr>
          <a:lstStyle/>
          <a:p>
            <a:pPr>
              <a:defRPr sz="1600" b="1">
                <a:solidFill>
                  <a:srgbClr val="172B45"/>
                </a:solidFill>
                <a:latin typeface="Segoe UI"/>
              </a:defRPr>
            </a:pPr>
            <a:r>
              <a:t>OASIS-1 Cohort Architecture</a:t>
            </a:r>
          </a:p>
          <a:p>
            <a:pPr>
              <a:spcBef>
                <a:spcPts val="800"/>
              </a:spcBef>
              <a:defRPr sz="1100" b="1">
                <a:solidFill>
                  <a:srgbClr val="0F766E"/>
                </a:solidFill>
                <a:latin typeface="Segoe UI"/>
              </a:defRPr>
            </a:pPr>
            <a:r>
              <a:t>• Total Imaging Sessions:</a:t>
            </a:r>
          </a:p>
          <a:p>
            <a:pPr>
              <a:spcBef>
                <a:spcPts val="100"/>
              </a:spcBef>
              <a:defRPr sz="1050">
                <a:solidFill>
                  <a:srgbClr val="334155"/>
                </a:solidFill>
                <a:latin typeface="Segoe UI"/>
              </a:defRPr>
            </a:pPr>
            <a:r>
              <a:t>  436 scan sessions across 416 subjects (1.5T Siemens Vision scanner).</a:t>
            </a:r>
          </a:p>
          <a:p>
            <a:pPr>
              <a:spcBef>
                <a:spcPts val="800"/>
              </a:spcBef>
              <a:defRPr sz="1100" b="1">
                <a:solidFill>
                  <a:srgbClr val="0F766E"/>
                </a:solidFill>
                <a:latin typeface="Segoe UI"/>
              </a:defRPr>
            </a:pPr>
            <a:r>
              <a:t>• Unassessed Young Cohort:</a:t>
            </a:r>
          </a:p>
          <a:p>
            <a:pPr>
              <a:spcBef>
                <a:spcPts val="100"/>
              </a:spcBef>
              <a:defRPr sz="1050">
                <a:solidFill>
                  <a:srgbClr val="334155"/>
                </a:solidFill>
                <a:latin typeface="Segoe UI"/>
              </a:defRPr>
            </a:pPr>
            <a:r>
              <a:t>  201 asymptomatic subjects (Age 18–59) unassessed for CDR (CDR=NaN).</a:t>
            </a:r>
          </a:p>
          <a:p>
            <a:pPr>
              <a:spcBef>
                <a:spcPts val="800"/>
              </a:spcBef>
              <a:defRPr sz="1100" b="1">
                <a:solidFill>
                  <a:srgbClr val="0F766E"/>
                </a:solidFill>
                <a:latin typeface="Segoe UI"/>
              </a:defRPr>
            </a:pPr>
            <a:r>
              <a:t>• Assessed Older Cohort:</a:t>
            </a:r>
          </a:p>
          <a:p>
            <a:pPr>
              <a:spcBef>
                <a:spcPts val="100"/>
              </a:spcBef>
              <a:defRPr sz="1050">
                <a:solidFill>
                  <a:srgbClr val="334155"/>
                </a:solidFill>
                <a:latin typeface="Segoe UI"/>
              </a:defRPr>
            </a:pPr>
            <a:r>
              <a:t>  235 unique older adults (Age 60–96) with verified Clinical Dementia Rating.</a:t>
            </a:r>
          </a:p>
          <a:p>
            <a:pPr>
              <a:spcBef>
                <a:spcPts val="800"/>
              </a:spcBef>
              <a:defRPr sz="1100" b="1">
                <a:solidFill>
                  <a:srgbClr val="0F766E"/>
                </a:solidFill>
                <a:latin typeface="Segoe UI"/>
              </a:defRPr>
            </a:pPr>
            <a:r>
              <a:t>• Binary Dementia Target:</a:t>
            </a:r>
          </a:p>
          <a:p>
            <a:pPr>
              <a:spcBef>
                <a:spcPts val="100"/>
              </a:spcBef>
              <a:defRPr sz="1050">
                <a:solidFill>
                  <a:srgbClr val="334155"/>
                </a:solidFill>
                <a:latin typeface="Segoe UI"/>
              </a:defRPr>
            </a:pPr>
            <a:r>
              <a:t>  CDR = 0.0 (Control: N=135, 57.45%) vs. CDR &gt; 0.0 (Dementia: N=100, 42.55%).</a:t>
            </a:r>
          </a:p>
          <a:p>
            <a:pPr>
              <a:spcBef>
                <a:spcPts val="800"/>
              </a:spcBef>
              <a:defRPr sz="1100" b="1">
                <a:solidFill>
                  <a:srgbClr val="0F766E"/>
                </a:solidFill>
                <a:latin typeface="Segoe UI"/>
              </a:defRPr>
            </a:pPr>
            <a:r>
              <a:t>• Dementia Sub-stages:</a:t>
            </a:r>
          </a:p>
          <a:p>
            <a:pPr>
              <a:spcBef>
                <a:spcPts val="100"/>
              </a:spcBef>
              <a:defRPr sz="1050">
                <a:solidFill>
                  <a:srgbClr val="334155"/>
                </a:solidFill>
                <a:latin typeface="Segoe UI"/>
              </a:defRPr>
            </a:pPr>
            <a:r>
              <a:t>  70 Very Mild (CDR 0.5), 28 Mild (CDR 1.0), 2 Moderate (CDR 2.0).</a:t>
            </a:r>
          </a:p>
          <a:p>
            <a:pPr>
              <a:spcBef>
                <a:spcPts val="800"/>
              </a:spcBef>
              <a:defRPr sz="1100" b="1">
                <a:solidFill>
                  <a:srgbClr val="0F766E"/>
                </a:solidFill>
                <a:latin typeface="Segoe UI"/>
              </a:defRPr>
            </a:pPr>
            <a:r>
              <a:t>• Missing Data Handled:</a:t>
            </a:r>
          </a:p>
          <a:p>
            <a:pPr>
              <a:spcBef>
                <a:spcPts val="100"/>
              </a:spcBef>
              <a:defRPr sz="1050">
                <a:solidFill>
                  <a:srgbClr val="334155"/>
                </a:solidFill>
                <a:latin typeface="Segoe UI"/>
              </a:defRPr>
            </a:pPr>
            <a:r>
              <a:t>  SES has 19 missing records, imputed strictly using training fold median.</a:t>
            </a:r>
          </a:p>
        </p:txBody>
      </p:sp>
      <p:sp>
        <p:nvSpPr>
          <p:cNvPr id="10" name="Rounded Rectangle 9"/>
          <p:cNvSpPr/>
          <p:nvPr/>
        </p:nvSpPr>
        <p:spPr>
          <a:xfrm>
            <a:off x="5790895" y="1463040"/>
            <a:ext cx="5669280" cy="4800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05_img_5_Picture 6.jpg"/>
          <p:cNvPicPr>
            <a:picLocks noChangeAspect="1"/>
          </p:cNvPicPr>
          <p:nvPr/>
        </p:nvPicPr>
        <p:blipFill>
          <a:blip r:embed="rId2"/>
          <a:stretch>
            <a:fillRect/>
          </a:stretch>
        </p:blipFill>
        <p:spPr>
          <a:xfrm>
            <a:off x="5973775" y="1600200"/>
            <a:ext cx="5303520" cy="3931920"/>
          </a:xfrm>
          <a:prstGeom prst="rect">
            <a:avLst/>
          </a:prstGeom>
        </p:spPr>
      </p:pic>
      <p:sp>
        <p:nvSpPr>
          <p:cNvPr id="12" name="TextBox 11"/>
          <p:cNvSpPr txBox="1"/>
          <p:nvPr/>
        </p:nvSpPr>
        <p:spPr>
          <a:xfrm>
            <a:off x="5973775" y="5623560"/>
            <a:ext cx="5303520" cy="548640"/>
          </a:xfrm>
          <a:prstGeom prst="rect">
            <a:avLst/>
          </a:prstGeom>
          <a:noFill/>
        </p:spPr>
        <p:txBody>
          <a:bodyPr wrap="square">
            <a:spAutoFit/>
          </a:bodyPr>
          <a:lstStyle/>
          <a:p>
            <a:pPr algn="ctr">
              <a:defRPr sz="950" b="1">
                <a:solidFill>
                  <a:srgbClr val="172B45"/>
                </a:solidFill>
                <a:latin typeface="Segoe UI"/>
              </a:defRPr>
            </a:pPr>
            <a:r>
              <a:t>Fig 2: Distribution of MMSE, nWBV, Age, and eTIV across CDR Diagnostic Groups.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474720" cy="256032"/>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50" b="1">
                <a:solidFill>
                  <a:srgbClr val="0F766E"/>
                </a:solidFill>
                <a:latin typeface="Segoe UI"/>
              </a:defRPr>
            </a:pPr>
            <a:r>
              <a:t>RESEARCH METHODOLOGY</a:t>
            </a:r>
          </a:p>
        </p:txBody>
      </p:sp>
      <p:sp>
        <p:nvSpPr>
          <p:cNvPr id="4" name="TextBox 3"/>
          <p:cNvSpPr txBox="1"/>
          <p:nvPr/>
        </p:nvSpPr>
        <p:spPr>
          <a:xfrm>
            <a:off x="731520" y="676656"/>
            <a:ext cx="10728655" cy="548640"/>
          </a:xfrm>
          <a:prstGeom prst="rect">
            <a:avLst/>
          </a:prstGeom>
          <a:noFill/>
        </p:spPr>
        <p:txBody>
          <a:bodyPr wrap="square" lIns="0" rIns="0" tIns="0" bIns="0">
            <a:spAutoFit/>
          </a:bodyPr>
          <a:lstStyle/>
          <a:p>
            <a:pPr>
              <a:defRPr sz="2100" b="1">
                <a:solidFill>
                  <a:srgbClr val="172B45"/>
                </a:solidFill>
                <a:latin typeface="Segoe UI"/>
              </a:defRPr>
            </a:pPr>
            <a:r>
              <a:t>End-to-End Leak-Free Methodology Pipeline</a:t>
            </a:r>
          </a:p>
        </p:txBody>
      </p:sp>
      <p:sp>
        <p:nvSpPr>
          <p:cNvPr id="5" name="Rectangle 4"/>
          <p:cNvSpPr/>
          <p:nvPr/>
        </p:nvSpPr>
        <p:spPr>
          <a:xfrm>
            <a:off x="731520" y="12618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7772400" cy="274320"/>
          </a:xfrm>
          <a:prstGeom prst="rect">
            <a:avLst/>
          </a:prstGeom>
          <a:noFill/>
        </p:spPr>
        <p:txBody>
          <a:bodyPr wrap="none" lIns="0" rIns="0" tIns="0" bIns="0">
            <a:spAutoFit/>
          </a:bodyPr>
          <a:lstStyle/>
          <a:p>
            <a:pPr>
              <a:defRPr sz="900">
                <a:solidFill>
                  <a:srgbClr val="64748B"/>
                </a:solidFill>
                <a:latin typeface="Segoe UI"/>
              </a:defRPr>
            </a:pPr>
            <a:r>
              <a:t>Symbiosis Institute of Technology, Nagpur • B.Tech CSE (CA3 Evaluation) • Explainable Multimodal ML</a:t>
            </a:r>
          </a:p>
        </p:txBody>
      </p:sp>
      <p:sp>
        <p:nvSpPr>
          <p:cNvPr id="7" name="TextBox 6"/>
          <p:cNvSpPr txBox="1"/>
          <p:nvPr/>
        </p:nvSpPr>
        <p:spPr>
          <a:xfrm>
            <a:off x="9601200" y="6510528"/>
            <a:ext cx="1858975" cy="274320"/>
          </a:xfrm>
          <a:prstGeom prst="rect">
            <a:avLst/>
          </a:prstGeom>
          <a:noFill/>
        </p:spPr>
        <p:txBody>
          <a:bodyPr wrap="none" lIns="0" rIns="0" tIns="0" bIns="0">
            <a:spAutoFit/>
          </a:bodyPr>
          <a:lstStyle/>
          <a:p>
            <a:pPr algn="r">
              <a:defRPr sz="900" b="1">
                <a:solidFill>
                  <a:srgbClr val="168C8C"/>
                </a:solidFill>
                <a:latin typeface="Segoe UI"/>
              </a:defRPr>
            </a:pPr>
            <a:r>
              <a:t>Slide 06 / 15</a:t>
            </a:r>
          </a:p>
        </p:txBody>
      </p:sp>
      <p:sp>
        <p:nvSpPr>
          <p:cNvPr id="8" name="Rounded Rectangle 7"/>
          <p:cNvSpPr/>
          <p:nvPr/>
        </p:nvSpPr>
        <p:spPr>
          <a:xfrm>
            <a:off x="731520" y="1417320"/>
            <a:ext cx="10728655"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lide_06_img_3_Picture 4.jpg"/>
          <p:cNvPicPr>
            <a:picLocks noChangeAspect="1"/>
          </p:cNvPicPr>
          <p:nvPr/>
        </p:nvPicPr>
        <p:blipFill>
          <a:blip r:embed="rId2"/>
          <a:stretch>
            <a:fillRect/>
          </a:stretch>
        </p:blipFill>
        <p:spPr>
          <a:xfrm>
            <a:off x="914400" y="1508760"/>
            <a:ext cx="10362895" cy="2468880"/>
          </a:xfrm>
          <a:prstGeom prst="rect">
            <a:avLst/>
          </a:prstGeom>
        </p:spPr>
      </p:pic>
      <p:sp>
        <p:nvSpPr>
          <p:cNvPr id="10" name="TextBox 9"/>
          <p:cNvSpPr txBox="1"/>
          <p:nvPr/>
        </p:nvSpPr>
        <p:spPr>
          <a:xfrm>
            <a:off x="914400" y="4023360"/>
            <a:ext cx="10362895" cy="274320"/>
          </a:xfrm>
          <a:prstGeom prst="rect">
            <a:avLst/>
          </a:prstGeom>
          <a:noFill/>
        </p:spPr>
        <p:txBody>
          <a:bodyPr wrap="none">
            <a:spAutoFit/>
          </a:bodyPr>
          <a:lstStyle/>
          <a:p>
            <a:pPr algn="ctr">
              <a:defRPr sz="950" b="1">
                <a:solidFill>
                  <a:srgbClr val="172B45"/>
                </a:solidFill>
                <a:latin typeface="Segoe UI"/>
              </a:defRPr>
            </a:pPr>
            <a:r>
              <a:t>Fig 1: End-to-End Zero-Leakage Pipeline Architecture and Modular Validation Workflow.</a:t>
            </a:r>
          </a:p>
        </p:txBody>
      </p:sp>
      <p:sp>
        <p:nvSpPr>
          <p:cNvPr id="11" name="Rounded Rectangle 10"/>
          <p:cNvSpPr/>
          <p:nvPr/>
        </p:nvSpPr>
        <p:spPr>
          <a:xfrm>
            <a:off x="731520" y="4434840"/>
            <a:ext cx="3429000" cy="187451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544568"/>
            <a:ext cx="3154680" cy="1655063"/>
          </a:xfrm>
          <a:prstGeom prst="rect">
            <a:avLst/>
          </a:prstGeom>
          <a:noFill/>
        </p:spPr>
        <p:txBody>
          <a:bodyPr wrap="square">
            <a:spAutoFit/>
          </a:bodyPr>
          <a:lstStyle/>
          <a:p>
            <a:pPr>
              <a:defRPr sz="1200" b="1">
                <a:solidFill>
                  <a:srgbClr val="0F766E"/>
                </a:solidFill>
                <a:latin typeface="Segoe UI"/>
              </a:defRPr>
            </a:pPr>
            <a:r>
              <a:t>1. Subject Holdout Split</a:t>
            </a:r>
          </a:p>
          <a:p>
            <a:pPr>
              <a:spcBef>
                <a:spcPts val="300"/>
              </a:spcBef>
              <a:defRPr sz="1000">
                <a:solidFill>
                  <a:srgbClr val="334155"/>
                </a:solidFill>
                <a:latin typeface="Segoe UI"/>
              </a:defRPr>
            </a:pPr>
            <a:r>
              <a:t>• Stratified 80/20 train/test split.</a:t>
            </a:r>
          </a:p>
          <a:p>
            <a:pPr>
              <a:spcBef>
                <a:spcPts val="300"/>
              </a:spcBef>
              <a:defRPr sz="1000">
                <a:solidFill>
                  <a:srgbClr val="334155"/>
                </a:solidFill>
                <a:latin typeface="Segoe UI"/>
              </a:defRPr>
            </a:pPr>
            <a:r>
              <a:t>• 188 Training Subjects (108 Ctr, 80 Dem).</a:t>
            </a:r>
          </a:p>
          <a:p>
            <a:pPr>
              <a:spcBef>
                <a:spcPts val="300"/>
              </a:spcBef>
              <a:defRPr sz="1000">
                <a:solidFill>
                  <a:srgbClr val="334155"/>
                </a:solidFill>
                <a:latin typeface="Segoe UI"/>
              </a:defRPr>
            </a:pPr>
            <a:r>
              <a:t>• 47 Held-Out Test Subjects (27 Ctr, 20 Dem).</a:t>
            </a:r>
          </a:p>
          <a:p>
            <a:pPr>
              <a:spcBef>
                <a:spcPts val="300"/>
              </a:spcBef>
              <a:defRPr sz="1000">
                <a:solidFill>
                  <a:srgbClr val="334155"/>
                </a:solidFill>
                <a:latin typeface="Segoe UI"/>
              </a:defRPr>
            </a:pPr>
            <a:r>
              <a:t>• Zero subject ID intersection.</a:t>
            </a:r>
          </a:p>
        </p:txBody>
      </p:sp>
      <p:sp>
        <p:nvSpPr>
          <p:cNvPr id="13" name="Rounded Rectangle 12"/>
          <p:cNvSpPr/>
          <p:nvPr/>
        </p:nvSpPr>
        <p:spPr>
          <a:xfrm>
            <a:off x="4379976" y="4434840"/>
            <a:ext cx="3429000" cy="187451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7136" y="4544568"/>
            <a:ext cx="3154680" cy="1655063"/>
          </a:xfrm>
          <a:prstGeom prst="rect">
            <a:avLst/>
          </a:prstGeom>
          <a:noFill/>
        </p:spPr>
        <p:txBody>
          <a:bodyPr wrap="square">
            <a:spAutoFit/>
          </a:bodyPr>
          <a:lstStyle/>
          <a:p>
            <a:pPr>
              <a:defRPr sz="1200" b="1">
                <a:solidFill>
                  <a:srgbClr val="0F766E"/>
                </a:solidFill>
                <a:latin typeface="Segoe UI"/>
              </a:defRPr>
            </a:pPr>
            <a:r>
              <a:t>2. Leak-Free Pipeline</a:t>
            </a:r>
          </a:p>
          <a:p>
            <a:pPr>
              <a:spcBef>
                <a:spcPts val="300"/>
              </a:spcBef>
              <a:defRPr sz="1000">
                <a:solidFill>
                  <a:srgbClr val="334155"/>
                </a:solidFill>
                <a:latin typeface="Segoe UI"/>
              </a:defRPr>
            </a:pPr>
            <a:r>
              <a:t>• ColumnTransformer encapsulation.</a:t>
            </a:r>
          </a:p>
          <a:p>
            <a:pPr>
              <a:spcBef>
                <a:spcPts val="300"/>
              </a:spcBef>
              <a:defRPr sz="1000">
                <a:solidFill>
                  <a:srgbClr val="334155"/>
                </a:solidFill>
                <a:latin typeface="Segoe UI"/>
              </a:defRPr>
            </a:pPr>
            <a:r>
              <a:t>• Median imputation fit solely on train.</a:t>
            </a:r>
          </a:p>
          <a:p>
            <a:pPr>
              <a:spcBef>
                <a:spcPts val="300"/>
              </a:spcBef>
              <a:defRPr sz="1000">
                <a:solidFill>
                  <a:srgbClr val="334155"/>
                </a:solidFill>
                <a:latin typeface="Segoe UI"/>
              </a:defRPr>
            </a:pPr>
            <a:r>
              <a:t>• StandardScaler z-score normalization.</a:t>
            </a:r>
          </a:p>
          <a:p>
            <a:pPr>
              <a:spcBef>
                <a:spcPts val="300"/>
              </a:spcBef>
              <a:defRPr sz="1000">
                <a:solidFill>
                  <a:srgbClr val="334155"/>
                </a:solidFill>
                <a:latin typeface="Segoe UI"/>
              </a:defRPr>
            </a:pPr>
            <a:r>
              <a:t>• OneHotEncoder for biological sex.</a:t>
            </a:r>
          </a:p>
        </p:txBody>
      </p:sp>
      <p:sp>
        <p:nvSpPr>
          <p:cNvPr id="15" name="Rounded Rectangle 14"/>
          <p:cNvSpPr/>
          <p:nvPr/>
        </p:nvSpPr>
        <p:spPr>
          <a:xfrm>
            <a:off x="8028432" y="4434840"/>
            <a:ext cx="3429000" cy="187451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65592" y="4544568"/>
            <a:ext cx="3154680" cy="1655063"/>
          </a:xfrm>
          <a:prstGeom prst="rect">
            <a:avLst/>
          </a:prstGeom>
          <a:noFill/>
        </p:spPr>
        <p:txBody>
          <a:bodyPr wrap="square">
            <a:spAutoFit/>
          </a:bodyPr>
          <a:lstStyle/>
          <a:p>
            <a:pPr>
              <a:defRPr sz="1200" b="1">
                <a:solidFill>
                  <a:srgbClr val="0F766E"/>
                </a:solidFill>
                <a:latin typeface="Segoe UI"/>
              </a:defRPr>
            </a:pPr>
            <a:r>
              <a:t>3. Model &amp; XAI Verification</a:t>
            </a:r>
          </a:p>
          <a:p>
            <a:pPr>
              <a:spcBef>
                <a:spcPts val="300"/>
              </a:spcBef>
              <a:defRPr sz="1000">
                <a:solidFill>
                  <a:srgbClr val="334155"/>
                </a:solidFill>
                <a:latin typeface="Segoe UI"/>
              </a:defRPr>
            </a:pPr>
            <a:r>
              <a:t>• 5-Fold Stratified Cross-Validation.</a:t>
            </a:r>
          </a:p>
          <a:p>
            <a:pPr>
              <a:spcBef>
                <a:spcPts val="300"/>
              </a:spcBef>
              <a:defRPr sz="1000">
                <a:solidFill>
                  <a:srgbClr val="334155"/>
                </a:solidFill>
                <a:latin typeface="Segoe UI"/>
              </a:defRPr>
            </a:pPr>
            <a:r>
              <a:t>• Final evaluation on held-out test set.</a:t>
            </a:r>
          </a:p>
          <a:p>
            <a:pPr>
              <a:spcBef>
                <a:spcPts val="300"/>
              </a:spcBef>
              <a:defRPr sz="1000">
                <a:solidFill>
                  <a:srgbClr val="334155"/>
                </a:solidFill>
                <a:latin typeface="Segoe UI"/>
              </a:defRPr>
            </a:pPr>
            <a:r>
              <a:t>• Modality ablation (Clinical vs MRI).</a:t>
            </a:r>
          </a:p>
          <a:p>
            <a:pPr>
              <a:spcBef>
                <a:spcPts val="300"/>
              </a:spcBef>
              <a:defRPr sz="1000">
                <a:solidFill>
                  <a:srgbClr val="334155"/>
                </a:solidFill>
                <a:latin typeface="Segoe UI"/>
              </a:defRPr>
            </a:pPr>
            <a:r>
              <a:t>• TreeSHAP beeswarm &amp; waterfall plots.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474720" cy="256032"/>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50" b="1">
                <a:solidFill>
                  <a:srgbClr val="0F766E"/>
                </a:solidFill>
                <a:latin typeface="Segoe UI"/>
              </a:defRPr>
            </a:pPr>
            <a:r>
              <a:t>PREPROCESSING &amp; FEATURE DERIVATION</a:t>
            </a:r>
          </a:p>
        </p:txBody>
      </p:sp>
      <p:sp>
        <p:nvSpPr>
          <p:cNvPr id="4" name="TextBox 3"/>
          <p:cNvSpPr txBox="1"/>
          <p:nvPr/>
        </p:nvSpPr>
        <p:spPr>
          <a:xfrm>
            <a:off x="731520" y="676656"/>
            <a:ext cx="10728655" cy="548640"/>
          </a:xfrm>
          <a:prstGeom prst="rect">
            <a:avLst/>
          </a:prstGeom>
          <a:noFill/>
        </p:spPr>
        <p:txBody>
          <a:bodyPr wrap="square" lIns="0" rIns="0" tIns="0" bIns="0">
            <a:spAutoFit/>
          </a:bodyPr>
          <a:lstStyle/>
          <a:p>
            <a:pPr>
              <a:defRPr sz="2100" b="1">
                <a:solidFill>
                  <a:srgbClr val="172B45"/>
                </a:solidFill>
                <a:latin typeface="Segoe UI"/>
              </a:defRPr>
            </a:pPr>
            <a:r>
              <a:t>Feature Preprocessing &amp; Neuroimaging Engineering</a:t>
            </a:r>
          </a:p>
        </p:txBody>
      </p:sp>
      <p:sp>
        <p:nvSpPr>
          <p:cNvPr id="5" name="Rectangle 4"/>
          <p:cNvSpPr/>
          <p:nvPr/>
        </p:nvSpPr>
        <p:spPr>
          <a:xfrm>
            <a:off x="731520" y="12618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7772400" cy="274320"/>
          </a:xfrm>
          <a:prstGeom prst="rect">
            <a:avLst/>
          </a:prstGeom>
          <a:noFill/>
        </p:spPr>
        <p:txBody>
          <a:bodyPr wrap="none" lIns="0" rIns="0" tIns="0" bIns="0">
            <a:spAutoFit/>
          </a:bodyPr>
          <a:lstStyle/>
          <a:p>
            <a:pPr>
              <a:defRPr sz="900">
                <a:solidFill>
                  <a:srgbClr val="64748B"/>
                </a:solidFill>
                <a:latin typeface="Segoe UI"/>
              </a:defRPr>
            </a:pPr>
            <a:r>
              <a:t>Symbiosis Institute of Technology, Nagpur • B.Tech CSE (CA3 Evaluation) • Explainable Multimodal ML</a:t>
            </a:r>
          </a:p>
        </p:txBody>
      </p:sp>
      <p:sp>
        <p:nvSpPr>
          <p:cNvPr id="7" name="TextBox 6"/>
          <p:cNvSpPr txBox="1"/>
          <p:nvPr/>
        </p:nvSpPr>
        <p:spPr>
          <a:xfrm>
            <a:off x="9601200" y="6510528"/>
            <a:ext cx="1858975" cy="274320"/>
          </a:xfrm>
          <a:prstGeom prst="rect">
            <a:avLst/>
          </a:prstGeom>
          <a:noFill/>
        </p:spPr>
        <p:txBody>
          <a:bodyPr wrap="none" lIns="0" rIns="0" tIns="0" bIns="0">
            <a:spAutoFit/>
          </a:bodyPr>
          <a:lstStyle/>
          <a:p>
            <a:pPr algn="r">
              <a:defRPr sz="900" b="1">
                <a:solidFill>
                  <a:srgbClr val="168C8C"/>
                </a:solidFill>
                <a:latin typeface="Segoe UI"/>
              </a:defRPr>
            </a:pPr>
            <a:r>
              <a:t>Slide 07 / 15</a:t>
            </a:r>
          </a:p>
        </p:txBody>
      </p:sp>
      <p:sp>
        <p:nvSpPr>
          <p:cNvPr id="8" name="Rounded Rectangle 7"/>
          <p:cNvSpPr/>
          <p:nvPr/>
        </p:nvSpPr>
        <p:spPr>
          <a:xfrm>
            <a:off x="731520" y="1463040"/>
            <a:ext cx="5257800" cy="4800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4800600" cy="4434840"/>
          </a:xfrm>
          <a:prstGeom prst="rect">
            <a:avLst/>
          </a:prstGeom>
          <a:noFill/>
        </p:spPr>
        <p:txBody>
          <a:bodyPr wrap="square">
            <a:spAutoFit/>
          </a:bodyPr>
          <a:lstStyle/>
          <a:p>
            <a:pPr>
              <a:defRPr sz="1600" b="1">
                <a:solidFill>
                  <a:srgbClr val="172B45"/>
                </a:solidFill>
                <a:latin typeface="Segoe UI"/>
              </a:defRPr>
            </a:pPr>
            <a:r>
              <a:t>Engineered Neuroimaging Indices</a:t>
            </a:r>
          </a:p>
          <a:p>
            <a:pPr>
              <a:spcBef>
                <a:spcPts val="1000"/>
              </a:spcBef>
              <a:defRPr sz="1200" b="1">
                <a:solidFill>
                  <a:srgbClr val="0F766E"/>
                </a:solidFill>
                <a:latin typeface="Segoe UI"/>
              </a:defRPr>
            </a:pPr>
            <a:r>
              <a:t>1. Brain Atrophy Index</a:t>
            </a:r>
          </a:p>
          <a:p>
            <a:pPr>
              <a:spcBef>
                <a:spcPts val="100"/>
              </a:spcBef>
              <a:defRPr sz="1050" b="1">
                <a:solidFill>
                  <a:srgbClr val="2563EB"/>
                </a:solidFill>
                <a:latin typeface="Segoe UI"/>
              </a:defRPr>
            </a:pPr>
            <a:r>
              <a:t>Formula: (1.0 - nWBV)</a:t>
            </a:r>
          </a:p>
          <a:p>
            <a:pPr>
              <a:spcBef>
                <a:spcPts val="200"/>
              </a:spcBef>
              <a:defRPr sz="1000">
                <a:solidFill>
                  <a:srgbClr val="334155"/>
                </a:solidFill>
                <a:latin typeface="Segoe UI"/>
              </a:defRPr>
            </a:pPr>
            <a:r>
              <a:t>Direct inverse of normalized whole brain volume. Directly quantifies the macroscopic percentage of parenchymal tissue lost to neurodegeneration.</a:t>
            </a:r>
          </a:p>
          <a:p>
            <a:pPr>
              <a:spcBef>
                <a:spcPts val="1000"/>
              </a:spcBef>
              <a:defRPr sz="1200" b="1">
                <a:solidFill>
                  <a:srgbClr val="0F766E"/>
                </a:solidFill>
                <a:latin typeface="Segoe UI"/>
              </a:defRPr>
            </a:pPr>
            <a:r>
              <a:t>2. Normalized Intracranial Volume</a:t>
            </a:r>
          </a:p>
          <a:p>
            <a:pPr>
              <a:spcBef>
                <a:spcPts val="100"/>
              </a:spcBef>
              <a:defRPr sz="1050" b="1">
                <a:solidFill>
                  <a:srgbClr val="2563EB"/>
                </a:solidFill>
                <a:latin typeface="Segoe UI"/>
              </a:defRPr>
            </a:pPr>
            <a:r>
              <a:t>Formula: (eTIV * ASF) / 1000</a:t>
            </a:r>
          </a:p>
          <a:p>
            <a:pPr>
              <a:spcBef>
                <a:spcPts val="200"/>
              </a:spcBef>
              <a:defRPr sz="1000">
                <a:solidFill>
                  <a:srgbClr val="334155"/>
                </a:solidFill>
                <a:latin typeface="Segoe UI"/>
              </a:defRPr>
            </a:pPr>
            <a:r>
              <a:t>Provides calibrated cranial cavity normalization across head sizes, mitigating head circumference variations between male and female subjects.</a:t>
            </a:r>
          </a:p>
          <a:p>
            <a:pPr>
              <a:spcBef>
                <a:spcPts val="1000"/>
              </a:spcBef>
              <a:defRPr sz="1200" b="1">
                <a:solidFill>
                  <a:srgbClr val="0F766E"/>
                </a:solidFill>
                <a:latin typeface="Segoe UI"/>
              </a:defRPr>
            </a:pPr>
            <a:r>
              <a:t>3. Cognitive Brain Reserve</a:t>
            </a:r>
          </a:p>
          <a:p>
            <a:pPr>
              <a:spcBef>
                <a:spcPts val="100"/>
              </a:spcBef>
              <a:defRPr sz="1050" b="1">
                <a:solidFill>
                  <a:srgbClr val="2563EB"/>
                </a:solidFill>
                <a:latin typeface="Segoe UI"/>
              </a:defRPr>
            </a:pPr>
            <a:r>
              <a:t>Formula: (MMSE * nWBV)</a:t>
            </a:r>
          </a:p>
          <a:p>
            <a:pPr>
              <a:spcBef>
                <a:spcPts val="200"/>
              </a:spcBef>
              <a:defRPr sz="1000">
                <a:solidFill>
                  <a:srgbClr val="334155"/>
                </a:solidFill>
                <a:latin typeface="Segoe UI"/>
              </a:defRPr>
            </a:pPr>
            <a:r>
              <a:t>Models the clinical cognitive reserve hypothesis: individuals with greater brain volume buffer against cognitive deficit manifestations.</a:t>
            </a:r>
          </a:p>
        </p:txBody>
      </p:sp>
      <p:sp>
        <p:nvSpPr>
          <p:cNvPr id="10" name="Rounded Rectangle 9"/>
          <p:cNvSpPr/>
          <p:nvPr/>
        </p:nvSpPr>
        <p:spPr>
          <a:xfrm>
            <a:off x="6202375" y="1463040"/>
            <a:ext cx="5257800" cy="4800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0975" y="1645920"/>
            <a:ext cx="4800600" cy="4434840"/>
          </a:xfrm>
          <a:prstGeom prst="rect">
            <a:avLst/>
          </a:prstGeom>
          <a:noFill/>
        </p:spPr>
        <p:txBody>
          <a:bodyPr wrap="square">
            <a:spAutoFit/>
          </a:bodyPr>
          <a:lstStyle/>
          <a:p>
            <a:pPr>
              <a:defRPr sz="1600" b="1">
                <a:solidFill>
                  <a:srgbClr val="172B45"/>
                </a:solidFill>
                <a:latin typeface="Segoe UI"/>
              </a:defRPr>
            </a:pPr>
            <a:r>
              <a:t>Zero-Leakage Transformation Pipeline</a:t>
            </a:r>
          </a:p>
          <a:p>
            <a:pPr>
              <a:spcBef>
                <a:spcPts val="800"/>
              </a:spcBef>
              <a:defRPr sz="1150" b="1">
                <a:solidFill>
                  <a:srgbClr val="172B45"/>
                </a:solidFill>
                <a:latin typeface="Segoe UI"/>
              </a:defRPr>
            </a:pPr>
            <a:r>
              <a:t>SimpleImputer(strategy='median')</a:t>
            </a:r>
          </a:p>
          <a:p>
            <a:pPr>
              <a:spcBef>
                <a:spcPts val="200"/>
              </a:spcBef>
              <a:defRPr sz="1000">
                <a:solidFill>
                  <a:srgbClr val="334155"/>
                </a:solidFill>
                <a:latin typeface="Segoe UI"/>
              </a:defRPr>
            </a:pPr>
            <a:r>
              <a:t>Fits median SES exclusively on training fold. Test missing values receive the training median, preventing test distribution leakage.</a:t>
            </a:r>
          </a:p>
          <a:p>
            <a:pPr>
              <a:spcBef>
                <a:spcPts val="800"/>
              </a:spcBef>
              <a:defRPr sz="1150" b="1">
                <a:solidFill>
                  <a:srgbClr val="172B45"/>
                </a:solidFill>
                <a:latin typeface="Segoe UI"/>
              </a:defRPr>
            </a:pPr>
            <a:r>
              <a:t>StandardScaler()</a:t>
            </a:r>
          </a:p>
          <a:p>
            <a:pPr>
              <a:spcBef>
                <a:spcPts val="200"/>
              </a:spcBef>
              <a:defRPr sz="1000">
                <a:solidFill>
                  <a:srgbClr val="334155"/>
                </a:solidFill>
                <a:latin typeface="Segoe UI"/>
              </a:defRPr>
            </a:pPr>
            <a:r>
              <a:t>Calculates μ_train and σ_train on training fold. Test features scaled via x_test_norm = (x_test - μ_train) / σ_train.</a:t>
            </a:r>
          </a:p>
          <a:p>
            <a:pPr>
              <a:spcBef>
                <a:spcPts val="800"/>
              </a:spcBef>
              <a:defRPr sz="1150" b="1">
                <a:solidFill>
                  <a:srgbClr val="172B45"/>
                </a:solidFill>
                <a:latin typeface="Segoe UI"/>
              </a:defRPr>
            </a:pPr>
            <a:r>
              <a:t>OneHotEncoder(drop='first')</a:t>
            </a:r>
          </a:p>
          <a:p>
            <a:pPr>
              <a:spcBef>
                <a:spcPts val="200"/>
              </a:spcBef>
              <a:defRPr sz="1000">
                <a:solidFill>
                  <a:srgbClr val="334155"/>
                </a:solidFill>
                <a:latin typeface="Segoe UI"/>
              </a:defRPr>
            </a:pPr>
            <a:r>
              <a:t>Encodes biological sex into binary Gender_Male (0=Female, 1=Male) to prevent dummy variable trap.</a:t>
            </a:r>
          </a:p>
          <a:p>
            <a:pPr>
              <a:spcBef>
                <a:spcPts val="800"/>
              </a:spcBef>
              <a:defRPr sz="1150" b="1">
                <a:solidFill>
                  <a:srgbClr val="172B45"/>
                </a:solidFill>
                <a:latin typeface="Segoe UI"/>
              </a:defRPr>
            </a:pPr>
            <a:r>
              <a:t>Ablation Subsets Partitioning</a:t>
            </a:r>
          </a:p>
          <a:p>
            <a:pPr>
              <a:spcBef>
                <a:spcPts val="200"/>
              </a:spcBef>
              <a:defRPr sz="1000">
                <a:solidFill>
                  <a:srgbClr val="334155"/>
                </a:solidFill>
                <a:latin typeface="Segoe UI"/>
              </a:defRPr>
            </a:pPr>
            <a:r>
              <a:t>Features systematically grouped into Clinical-Only (5 feats: Age, EDUC, SES, MMSE, Gender), MRI-Only (4 feats: eTIV, nWBV, ASF, Atrophy Index), and Multimodal (9 feats).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474720" cy="256032"/>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50" b="1">
                <a:solidFill>
                  <a:srgbClr val="0F766E"/>
                </a:solidFill>
                <a:latin typeface="Segoe UI"/>
              </a:defRPr>
            </a:pPr>
            <a:r>
              <a:t>MODEL SELECTION &amp; INDUCTIVE BIASES</a:t>
            </a:r>
          </a:p>
        </p:txBody>
      </p:sp>
      <p:sp>
        <p:nvSpPr>
          <p:cNvPr id="4" name="TextBox 3"/>
          <p:cNvSpPr txBox="1"/>
          <p:nvPr/>
        </p:nvSpPr>
        <p:spPr>
          <a:xfrm>
            <a:off x="731520" y="676656"/>
            <a:ext cx="10728655" cy="548640"/>
          </a:xfrm>
          <a:prstGeom prst="rect">
            <a:avLst/>
          </a:prstGeom>
          <a:noFill/>
        </p:spPr>
        <p:txBody>
          <a:bodyPr wrap="square" lIns="0" rIns="0" tIns="0" bIns="0">
            <a:spAutoFit/>
          </a:bodyPr>
          <a:lstStyle/>
          <a:p>
            <a:pPr>
              <a:defRPr sz="2100" b="1">
                <a:solidFill>
                  <a:srgbClr val="172B45"/>
                </a:solidFill>
                <a:latin typeface="Segoe UI"/>
              </a:defRPr>
            </a:pPr>
            <a:r>
              <a:t>Classification Models &amp; Ensemble Architecture</a:t>
            </a:r>
          </a:p>
        </p:txBody>
      </p:sp>
      <p:sp>
        <p:nvSpPr>
          <p:cNvPr id="5" name="Rectangle 4"/>
          <p:cNvSpPr/>
          <p:nvPr/>
        </p:nvSpPr>
        <p:spPr>
          <a:xfrm>
            <a:off x="731520" y="12618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7772400" cy="274320"/>
          </a:xfrm>
          <a:prstGeom prst="rect">
            <a:avLst/>
          </a:prstGeom>
          <a:noFill/>
        </p:spPr>
        <p:txBody>
          <a:bodyPr wrap="none" lIns="0" rIns="0" tIns="0" bIns="0">
            <a:spAutoFit/>
          </a:bodyPr>
          <a:lstStyle/>
          <a:p>
            <a:pPr>
              <a:defRPr sz="900">
                <a:solidFill>
                  <a:srgbClr val="64748B"/>
                </a:solidFill>
                <a:latin typeface="Segoe UI"/>
              </a:defRPr>
            </a:pPr>
            <a:r>
              <a:t>Symbiosis Institute of Technology, Nagpur • B.Tech CSE (CA3 Evaluation) • Explainable Multimodal ML</a:t>
            </a:r>
          </a:p>
        </p:txBody>
      </p:sp>
      <p:sp>
        <p:nvSpPr>
          <p:cNvPr id="7" name="TextBox 6"/>
          <p:cNvSpPr txBox="1"/>
          <p:nvPr/>
        </p:nvSpPr>
        <p:spPr>
          <a:xfrm>
            <a:off x="9601200" y="6510528"/>
            <a:ext cx="1858975" cy="274320"/>
          </a:xfrm>
          <a:prstGeom prst="rect">
            <a:avLst/>
          </a:prstGeom>
          <a:noFill/>
        </p:spPr>
        <p:txBody>
          <a:bodyPr wrap="none" lIns="0" rIns="0" tIns="0" bIns="0">
            <a:spAutoFit/>
          </a:bodyPr>
          <a:lstStyle/>
          <a:p>
            <a:pPr algn="r">
              <a:defRPr sz="900" b="1">
                <a:solidFill>
                  <a:srgbClr val="168C8C"/>
                </a:solidFill>
                <a:latin typeface="Segoe UI"/>
              </a:defRPr>
            </a:pPr>
            <a:r>
              <a:t>Slide 08 / 15</a:t>
            </a:r>
          </a:p>
        </p:txBody>
      </p:sp>
      <p:sp>
        <p:nvSpPr>
          <p:cNvPr id="8" name="Rounded Rectangle 7"/>
          <p:cNvSpPr/>
          <p:nvPr/>
        </p:nvSpPr>
        <p:spPr>
          <a:xfrm>
            <a:off x="731520" y="1463040"/>
            <a:ext cx="342900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68680" y="1572768"/>
            <a:ext cx="3154680" cy="274320"/>
          </a:xfrm>
          <a:prstGeom prst="round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F766E"/>
                </a:solidFill>
                <a:latin typeface="Segoe UI"/>
              </a:defRPr>
            </a:pPr>
            <a:r>
              <a:t>ZERO-RULE LOWER BOUND</a:t>
            </a:r>
          </a:p>
        </p:txBody>
      </p:sp>
      <p:sp>
        <p:nvSpPr>
          <p:cNvPr id="10" name="TextBox 9"/>
          <p:cNvSpPr txBox="1"/>
          <p:nvPr/>
        </p:nvSpPr>
        <p:spPr>
          <a:xfrm>
            <a:off x="868680" y="1901952"/>
            <a:ext cx="3154680" cy="1737360"/>
          </a:xfrm>
          <a:prstGeom prst="rect">
            <a:avLst/>
          </a:prstGeom>
          <a:noFill/>
        </p:spPr>
        <p:txBody>
          <a:bodyPr wrap="square">
            <a:spAutoFit/>
          </a:bodyPr>
          <a:lstStyle/>
          <a:p>
            <a:pPr>
              <a:defRPr sz="1400" b="1">
                <a:solidFill>
                  <a:srgbClr val="172B45"/>
                </a:solidFill>
                <a:latin typeface="Segoe UI"/>
              </a:defRPr>
            </a:pPr>
            <a:r>
              <a:t>Dummy Baseline</a:t>
            </a:r>
          </a:p>
          <a:p>
            <a:pPr>
              <a:spcBef>
                <a:spcPts val="600"/>
              </a:spcBef>
              <a:defRPr sz="1000">
                <a:solidFill>
                  <a:srgbClr val="334155"/>
                </a:solidFill>
                <a:latin typeface="Segoe UI"/>
              </a:defRPr>
            </a:pPr>
            <a:r>
              <a:t>Predicts majority class (Control). Accuracy 57.45%, Sensitivity 0.0%, ROC-AUC 0.5000. Confirms true learning in active models.</a:t>
            </a:r>
          </a:p>
        </p:txBody>
      </p:sp>
      <p:sp>
        <p:nvSpPr>
          <p:cNvPr id="11" name="Rounded Rectangle 10"/>
          <p:cNvSpPr/>
          <p:nvPr/>
        </p:nvSpPr>
        <p:spPr>
          <a:xfrm>
            <a:off x="4379976" y="1463040"/>
            <a:ext cx="342900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17136" y="1572768"/>
            <a:ext cx="3154680" cy="274320"/>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2563EB"/>
                </a:solidFill>
                <a:latin typeface="Segoe UI"/>
              </a:defRPr>
            </a:pPr>
            <a:r>
              <a:t>REGULARIZED LINEAR BASELINE</a:t>
            </a:r>
          </a:p>
        </p:txBody>
      </p:sp>
      <p:sp>
        <p:nvSpPr>
          <p:cNvPr id="13" name="TextBox 12"/>
          <p:cNvSpPr txBox="1"/>
          <p:nvPr/>
        </p:nvSpPr>
        <p:spPr>
          <a:xfrm>
            <a:off x="4517136" y="1901952"/>
            <a:ext cx="3154680" cy="1737360"/>
          </a:xfrm>
          <a:prstGeom prst="rect">
            <a:avLst/>
          </a:prstGeom>
          <a:noFill/>
        </p:spPr>
        <p:txBody>
          <a:bodyPr wrap="square">
            <a:spAutoFit/>
          </a:bodyPr>
          <a:lstStyle/>
          <a:p>
            <a:pPr>
              <a:defRPr sz="1400" b="1">
                <a:solidFill>
                  <a:srgbClr val="172B45"/>
                </a:solidFill>
                <a:latin typeface="Segoe UI"/>
              </a:defRPr>
            </a:pPr>
            <a:r>
              <a:t>Logistic Regression</a:t>
            </a:r>
          </a:p>
          <a:p>
            <a:pPr>
              <a:spcBef>
                <a:spcPts val="600"/>
              </a:spcBef>
              <a:defRPr sz="1000">
                <a:solidFill>
                  <a:srgbClr val="334155"/>
                </a:solidFill>
                <a:latin typeface="Segoe UI"/>
              </a:defRPr>
            </a:pPr>
            <a:r>
              <a:t>L2-regularized with L-BFGS solver. Fast convergence, convex optimization, and highly interpretable log-odds coefficients.</a:t>
            </a:r>
          </a:p>
        </p:txBody>
      </p:sp>
      <p:sp>
        <p:nvSpPr>
          <p:cNvPr id="14" name="Rounded Rectangle 13"/>
          <p:cNvSpPr/>
          <p:nvPr/>
        </p:nvSpPr>
        <p:spPr>
          <a:xfrm>
            <a:off x="8028432" y="1463040"/>
            <a:ext cx="342900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65592" y="1572768"/>
            <a:ext cx="3154680" cy="274320"/>
          </a:xfrm>
          <a:prstGeom prst="round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F766E"/>
                </a:solidFill>
                <a:latin typeface="Segoe UI"/>
              </a:defRPr>
            </a:pPr>
            <a:r>
              <a:t>BAGGED TREE ENSEMBLE</a:t>
            </a:r>
          </a:p>
        </p:txBody>
      </p:sp>
      <p:sp>
        <p:nvSpPr>
          <p:cNvPr id="16" name="TextBox 15"/>
          <p:cNvSpPr txBox="1"/>
          <p:nvPr/>
        </p:nvSpPr>
        <p:spPr>
          <a:xfrm>
            <a:off x="8165592" y="1901952"/>
            <a:ext cx="3154680" cy="1737360"/>
          </a:xfrm>
          <a:prstGeom prst="rect">
            <a:avLst/>
          </a:prstGeom>
          <a:noFill/>
        </p:spPr>
        <p:txBody>
          <a:bodyPr wrap="square">
            <a:spAutoFit/>
          </a:bodyPr>
          <a:lstStyle/>
          <a:p>
            <a:pPr>
              <a:defRPr sz="1400" b="1">
                <a:solidFill>
                  <a:srgbClr val="172B45"/>
                </a:solidFill>
                <a:latin typeface="Segoe UI"/>
              </a:defRPr>
            </a:pPr>
            <a:r>
              <a:t>Random Forest</a:t>
            </a:r>
          </a:p>
          <a:p>
            <a:pPr>
              <a:spcBef>
                <a:spcPts val="600"/>
              </a:spcBef>
              <a:defRPr sz="1000">
                <a:solidFill>
                  <a:srgbClr val="334155"/>
                </a:solidFill>
                <a:latin typeface="Segoe UI"/>
              </a:defRPr>
            </a:pPr>
            <a:r>
              <a:t>100 de-correlated trees, max_depth=5. Handles non-linear interactions, robust to tabular outliers, prevents overfitting.</a:t>
            </a:r>
          </a:p>
        </p:txBody>
      </p:sp>
      <p:sp>
        <p:nvSpPr>
          <p:cNvPr id="17" name="Rounded Rectangle 16"/>
          <p:cNvSpPr/>
          <p:nvPr/>
        </p:nvSpPr>
        <p:spPr>
          <a:xfrm>
            <a:off x="731520" y="3886200"/>
            <a:ext cx="342900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68680" y="3995928"/>
            <a:ext cx="3154680" cy="274320"/>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2563EB"/>
                </a:solidFill>
                <a:latin typeface="Segoe UI"/>
              </a:defRPr>
            </a:pPr>
            <a:r>
              <a:t>KERNEL MARGIN MAXIMIZER</a:t>
            </a:r>
          </a:p>
        </p:txBody>
      </p:sp>
      <p:sp>
        <p:nvSpPr>
          <p:cNvPr id="19" name="TextBox 18"/>
          <p:cNvSpPr txBox="1"/>
          <p:nvPr/>
        </p:nvSpPr>
        <p:spPr>
          <a:xfrm>
            <a:off x="868680" y="4325112"/>
            <a:ext cx="3154680" cy="1737360"/>
          </a:xfrm>
          <a:prstGeom prst="rect">
            <a:avLst/>
          </a:prstGeom>
          <a:noFill/>
        </p:spPr>
        <p:txBody>
          <a:bodyPr wrap="square">
            <a:spAutoFit/>
          </a:bodyPr>
          <a:lstStyle/>
          <a:p>
            <a:pPr>
              <a:defRPr sz="1400" b="1">
                <a:solidFill>
                  <a:srgbClr val="172B45"/>
                </a:solidFill>
                <a:latin typeface="Segoe UI"/>
              </a:defRPr>
            </a:pPr>
            <a:r>
              <a:t>Support Vector Machine</a:t>
            </a:r>
          </a:p>
          <a:p>
            <a:pPr>
              <a:spcBef>
                <a:spcPts val="600"/>
              </a:spcBef>
              <a:defRPr sz="1000">
                <a:solidFill>
                  <a:srgbClr val="334155"/>
                </a:solidFill>
                <a:latin typeface="Segoe UI"/>
              </a:defRPr>
            </a:pPr>
            <a:r>
              <a:t>RBF kernel mapping features to infinite-dimensional Hilbert space. Calibrated probabilities via Platt scaling.</a:t>
            </a:r>
          </a:p>
        </p:txBody>
      </p:sp>
      <p:sp>
        <p:nvSpPr>
          <p:cNvPr id="20" name="Rounded Rectangle 19"/>
          <p:cNvSpPr/>
          <p:nvPr/>
        </p:nvSpPr>
        <p:spPr>
          <a:xfrm>
            <a:off x="4379976" y="3886200"/>
            <a:ext cx="342900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517136" y="3995928"/>
            <a:ext cx="3154680" cy="274320"/>
          </a:xfrm>
          <a:prstGeom prst="round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F766E"/>
                </a:solidFill>
                <a:latin typeface="Segoe UI"/>
              </a:defRPr>
            </a:pPr>
            <a:r>
              <a:t>SEQUENTIAL RESIDUAL BOOSTING</a:t>
            </a:r>
          </a:p>
        </p:txBody>
      </p:sp>
      <p:sp>
        <p:nvSpPr>
          <p:cNvPr id="22" name="TextBox 21"/>
          <p:cNvSpPr txBox="1"/>
          <p:nvPr/>
        </p:nvSpPr>
        <p:spPr>
          <a:xfrm>
            <a:off x="4517136" y="4325112"/>
            <a:ext cx="3154680" cy="1737360"/>
          </a:xfrm>
          <a:prstGeom prst="rect">
            <a:avLst/>
          </a:prstGeom>
          <a:noFill/>
        </p:spPr>
        <p:txBody>
          <a:bodyPr wrap="square">
            <a:spAutoFit/>
          </a:bodyPr>
          <a:lstStyle/>
          <a:p>
            <a:pPr>
              <a:defRPr sz="1400" b="1">
                <a:solidFill>
                  <a:srgbClr val="172B45"/>
                </a:solidFill>
                <a:latin typeface="Segoe UI"/>
              </a:defRPr>
            </a:pPr>
            <a:r>
              <a:t>Gradient Boosting</a:t>
            </a:r>
          </a:p>
          <a:p>
            <a:pPr>
              <a:spcBef>
                <a:spcPts val="600"/>
              </a:spcBef>
              <a:defRPr sz="1000">
                <a:solidFill>
                  <a:srgbClr val="334155"/>
                </a:solidFill>
                <a:latin typeface="Segoe UI"/>
              </a:defRPr>
            </a:pPr>
            <a:r>
              <a:t>100 shallow estimators with shrinkage (η=0.05). Iteratively fits decision trees to pseudo-residuals.</a:t>
            </a:r>
          </a:p>
        </p:txBody>
      </p:sp>
      <p:sp>
        <p:nvSpPr>
          <p:cNvPr id="23" name="Rounded Rectangle 22"/>
          <p:cNvSpPr/>
          <p:nvPr/>
        </p:nvSpPr>
        <p:spPr>
          <a:xfrm>
            <a:off x="8028432" y="3886200"/>
            <a:ext cx="342900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165592" y="3995928"/>
            <a:ext cx="3154680" cy="27432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D97706"/>
                </a:solidFill>
                <a:latin typeface="Segoe UI"/>
              </a:defRPr>
            </a:pPr>
            <a:r>
              <a:t>BAYESIAN POSTERIOR AVERAGING</a:t>
            </a:r>
          </a:p>
        </p:txBody>
      </p:sp>
      <p:sp>
        <p:nvSpPr>
          <p:cNvPr id="25" name="TextBox 24"/>
          <p:cNvSpPr txBox="1"/>
          <p:nvPr/>
        </p:nvSpPr>
        <p:spPr>
          <a:xfrm>
            <a:off x="8165592" y="4325112"/>
            <a:ext cx="3154680" cy="1737360"/>
          </a:xfrm>
          <a:prstGeom prst="rect">
            <a:avLst/>
          </a:prstGeom>
          <a:noFill/>
        </p:spPr>
        <p:txBody>
          <a:bodyPr wrap="square">
            <a:spAutoFit/>
          </a:bodyPr>
          <a:lstStyle/>
          <a:p>
            <a:pPr>
              <a:defRPr sz="1400" b="1">
                <a:solidFill>
                  <a:srgbClr val="172B45"/>
                </a:solidFill>
                <a:latin typeface="Segoe UI"/>
              </a:defRPr>
            </a:pPr>
            <a:r>
              <a:t>Soft-Voting Ensemble</a:t>
            </a:r>
          </a:p>
          <a:p>
            <a:pPr>
              <a:spcBef>
                <a:spcPts val="600"/>
              </a:spcBef>
              <a:defRPr sz="1000">
                <a:solidFill>
                  <a:srgbClr val="334155"/>
                </a:solidFill>
                <a:latin typeface="Segoe UI"/>
              </a:defRPr>
            </a:pPr>
            <a:r>
              <a:t>Combines LR, RF, SVC, and GB: p(y=1|x) = 1/M * Σ p_m(y=1|x). Reduces individual model variance and prediction errors.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474720" cy="256032"/>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50" b="1">
                <a:solidFill>
                  <a:srgbClr val="0F766E"/>
                </a:solidFill>
                <a:latin typeface="Segoe UI"/>
              </a:defRPr>
            </a:pPr>
            <a:r>
              <a:t>THEORETICAL EXPLAINABILITY FRAMEWORK</a:t>
            </a:r>
          </a:p>
        </p:txBody>
      </p:sp>
      <p:sp>
        <p:nvSpPr>
          <p:cNvPr id="4" name="TextBox 3"/>
          <p:cNvSpPr txBox="1"/>
          <p:nvPr/>
        </p:nvSpPr>
        <p:spPr>
          <a:xfrm>
            <a:off x="731520" y="676656"/>
            <a:ext cx="10728655" cy="548640"/>
          </a:xfrm>
          <a:prstGeom prst="rect">
            <a:avLst/>
          </a:prstGeom>
          <a:noFill/>
        </p:spPr>
        <p:txBody>
          <a:bodyPr wrap="square" lIns="0" rIns="0" tIns="0" bIns="0">
            <a:spAutoFit/>
          </a:bodyPr>
          <a:lstStyle/>
          <a:p>
            <a:pPr>
              <a:defRPr sz="2100" b="1">
                <a:solidFill>
                  <a:srgbClr val="172B45"/>
                </a:solidFill>
                <a:latin typeface="Segoe UI"/>
              </a:defRPr>
            </a:pPr>
            <a:r>
              <a:t>Explainable AI (XAI) Using Game-Theoretic SHAP</a:t>
            </a:r>
          </a:p>
        </p:txBody>
      </p:sp>
      <p:sp>
        <p:nvSpPr>
          <p:cNvPr id="5" name="Rectangle 4"/>
          <p:cNvSpPr/>
          <p:nvPr/>
        </p:nvSpPr>
        <p:spPr>
          <a:xfrm>
            <a:off x="731520" y="12618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7772400" cy="274320"/>
          </a:xfrm>
          <a:prstGeom prst="rect">
            <a:avLst/>
          </a:prstGeom>
          <a:noFill/>
        </p:spPr>
        <p:txBody>
          <a:bodyPr wrap="none" lIns="0" rIns="0" tIns="0" bIns="0">
            <a:spAutoFit/>
          </a:bodyPr>
          <a:lstStyle/>
          <a:p>
            <a:pPr>
              <a:defRPr sz="900">
                <a:solidFill>
                  <a:srgbClr val="64748B"/>
                </a:solidFill>
                <a:latin typeface="Segoe UI"/>
              </a:defRPr>
            </a:pPr>
            <a:r>
              <a:t>Symbiosis Institute of Technology, Nagpur • B.Tech CSE (CA3 Evaluation) • Explainable Multimodal ML</a:t>
            </a:r>
          </a:p>
        </p:txBody>
      </p:sp>
      <p:sp>
        <p:nvSpPr>
          <p:cNvPr id="7" name="TextBox 6"/>
          <p:cNvSpPr txBox="1"/>
          <p:nvPr/>
        </p:nvSpPr>
        <p:spPr>
          <a:xfrm>
            <a:off x="9601200" y="6510528"/>
            <a:ext cx="1858975" cy="274320"/>
          </a:xfrm>
          <a:prstGeom prst="rect">
            <a:avLst/>
          </a:prstGeom>
          <a:noFill/>
        </p:spPr>
        <p:txBody>
          <a:bodyPr wrap="none" lIns="0" rIns="0" tIns="0" bIns="0">
            <a:spAutoFit/>
          </a:bodyPr>
          <a:lstStyle/>
          <a:p>
            <a:pPr algn="r">
              <a:defRPr sz="900" b="1">
                <a:solidFill>
                  <a:srgbClr val="168C8C"/>
                </a:solidFill>
                <a:latin typeface="Segoe UI"/>
              </a:defRPr>
            </a:pPr>
            <a:r>
              <a:t>Slide 09 / 15</a:t>
            </a:r>
          </a:p>
        </p:txBody>
      </p:sp>
      <p:sp>
        <p:nvSpPr>
          <p:cNvPr id="8" name="Rounded Rectangle 7"/>
          <p:cNvSpPr/>
          <p:nvPr/>
        </p:nvSpPr>
        <p:spPr>
          <a:xfrm>
            <a:off x="731520" y="1463040"/>
            <a:ext cx="5257800" cy="4800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45920"/>
            <a:ext cx="4800600" cy="4434840"/>
          </a:xfrm>
          <a:prstGeom prst="rect">
            <a:avLst/>
          </a:prstGeom>
          <a:noFill/>
        </p:spPr>
        <p:txBody>
          <a:bodyPr wrap="square">
            <a:spAutoFit/>
          </a:bodyPr>
          <a:lstStyle/>
          <a:p>
            <a:pPr>
              <a:defRPr sz="1600" b="1">
                <a:solidFill>
                  <a:srgbClr val="172B45"/>
                </a:solidFill>
                <a:latin typeface="Segoe UI"/>
              </a:defRPr>
            </a:pPr>
            <a:r>
              <a:t>Mathematical Foundations of SHAP</a:t>
            </a:r>
          </a:p>
          <a:p>
            <a:pPr>
              <a:spcBef>
                <a:spcPts val="800"/>
              </a:spcBef>
              <a:defRPr sz="1100" b="1">
                <a:solidFill>
                  <a:srgbClr val="0F766E"/>
                </a:solidFill>
                <a:latin typeface="Segoe UI"/>
              </a:defRPr>
            </a:pPr>
            <a:r>
              <a:t>Unified Attribution Theory</a:t>
            </a:r>
          </a:p>
          <a:p>
            <a:pPr>
              <a:spcBef>
                <a:spcPts val="200"/>
              </a:spcBef>
              <a:defRPr sz="1000">
                <a:solidFill>
                  <a:srgbClr val="334155"/>
                </a:solidFill>
                <a:latin typeface="Segoe UI"/>
              </a:defRPr>
            </a:pPr>
            <a:r>
              <a:t>SHAP connects game-theoretic Shapley values with local surrogate explanations (Lundberg &amp; Lee, NeurIPS 2017).</a:t>
            </a:r>
          </a:p>
          <a:p>
            <a:pPr>
              <a:spcBef>
                <a:spcPts val="800"/>
              </a:spcBef>
              <a:defRPr sz="1100" b="1">
                <a:solidFill>
                  <a:srgbClr val="0F766E"/>
                </a:solidFill>
                <a:latin typeface="Segoe UI"/>
              </a:defRPr>
            </a:pPr>
            <a:r>
              <a:t>Additive Decomposition</a:t>
            </a:r>
          </a:p>
          <a:p>
            <a:pPr>
              <a:spcBef>
                <a:spcPts val="200"/>
              </a:spcBef>
              <a:defRPr sz="1000">
                <a:solidFill>
                  <a:srgbClr val="334155"/>
                </a:solidFill>
                <a:latin typeface="Segoe UI"/>
              </a:defRPr>
            </a:pPr>
            <a:r>
              <a:t>Model prediction decomposes as: f(x) = φ₀ + Σ φᵢ(x), where φ₀ is the expected baseline and φᵢ is the individual feature contribution.</a:t>
            </a:r>
          </a:p>
          <a:p>
            <a:pPr>
              <a:spcBef>
                <a:spcPts val="800"/>
              </a:spcBef>
              <a:defRPr sz="1100" b="1">
                <a:solidFill>
                  <a:srgbClr val="0F766E"/>
                </a:solidFill>
                <a:latin typeface="Segoe UI"/>
              </a:defRPr>
            </a:pPr>
            <a:r>
              <a:t>Axiom 1 — Efficiency</a:t>
            </a:r>
          </a:p>
          <a:p>
            <a:pPr>
              <a:spcBef>
                <a:spcPts val="200"/>
              </a:spcBef>
              <a:defRPr sz="1000">
                <a:solidFill>
                  <a:srgbClr val="334155"/>
                </a:solidFill>
                <a:latin typeface="Segoe UI"/>
              </a:defRPr>
            </a:pPr>
            <a:r>
              <a:t>The sum of all feature attributions equals the difference between model output and expected baseline: Σ φᵢ(x) = f(x) - E[f(x)].</a:t>
            </a:r>
          </a:p>
          <a:p>
            <a:pPr>
              <a:spcBef>
                <a:spcPts val="800"/>
              </a:spcBef>
              <a:defRPr sz="1100" b="1">
                <a:solidFill>
                  <a:srgbClr val="0F766E"/>
                </a:solidFill>
                <a:latin typeface="Segoe UI"/>
              </a:defRPr>
            </a:pPr>
            <a:r>
              <a:t>Axiom 2 — Symmetry</a:t>
            </a:r>
          </a:p>
          <a:p>
            <a:pPr>
              <a:spcBef>
                <a:spcPts val="200"/>
              </a:spcBef>
              <a:defRPr sz="1000">
                <a:solidFill>
                  <a:srgbClr val="334155"/>
                </a:solidFill>
                <a:latin typeface="Segoe UI"/>
              </a:defRPr>
            </a:pPr>
            <a:r>
              <a:t>Features contributing identically across all possible subsets receive identical attribution values.</a:t>
            </a:r>
          </a:p>
          <a:p>
            <a:pPr>
              <a:spcBef>
                <a:spcPts val="800"/>
              </a:spcBef>
              <a:defRPr sz="1100" b="1">
                <a:solidFill>
                  <a:srgbClr val="0F766E"/>
                </a:solidFill>
                <a:latin typeface="Segoe UI"/>
              </a:defRPr>
            </a:pPr>
            <a:r>
              <a:t>Axiom 3 — Additivity</a:t>
            </a:r>
          </a:p>
          <a:p>
            <a:pPr>
              <a:spcBef>
                <a:spcPts val="200"/>
              </a:spcBef>
              <a:defRPr sz="1000">
                <a:solidFill>
                  <a:srgbClr val="334155"/>
                </a:solidFill>
                <a:latin typeface="Segoe UI"/>
              </a:defRPr>
            </a:pPr>
            <a:r>
              <a:t>For ensemble models, feature attributions sum linearly across component trees: φᵢ(f + g) = φᵢ(f) + φᵢ(g).</a:t>
            </a:r>
          </a:p>
        </p:txBody>
      </p:sp>
      <p:sp>
        <p:nvSpPr>
          <p:cNvPr id="10" name="Rounded Rectangle 9"/>
          <p:cNvSpPr/>
          <p:nvPr/>
        </p:nvSpPr>
        <p:spPr>
          <a:xfrm>
            <a:off x="6202375" y="1463040"/>
            <a:ext cx="5257800" cy="4800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0975" y="1645920"/>
            <a:ext cx="4800600" cy="4434840"/>
          </a:xfrm>
          <a:prstGeom prst="rect">
            <a:avLst/>
          </a:prstGeom>
          <a:noFill/>
        </p:spPr>
        <p:txBody>
          <a:bodyPr wrap="square">
            <a:spAutoFit/>
          </a:bodyPr>
          <a:lstStyle/>
          <a:p>
            <a:pPr>
              <a:defRPr sz="1600" b="1">
                <a:solidFill>
                  <a:srgbClr val="172B45"/>
                </a:solidFill>
                <a:latin typeface="Segoe UI"/>
              </a:defRPr>
            </a:pPr>
            <a:r>
              <a:t>TreeSHAP &amp; Clinical Translation</a:t>
            </a:r>
          </a:p>
          <a:p>
            <a:pPr>
              <a:spcBef>
                <a:spcPts val="1000"/>
              </a:spcBef>
              <a:defRPr sz="1100" b="1">
                <a:solidFill>
                  <a:srgbClr val="2563EB"/>
                </a:solidFill>
                <a:latin typeface="Segoe UI"/>
              </a:defRPr>
            </a:pPr>
            <a:r>
              <a:t>Polynomial Complexity O(T L D²)</a:t>
            </a:r>
          </a:p>
          <a:p>
            <a:pPr>
              <a:spcBef>
                <a:spcPts val="200"/>
              </a:spcBef>
              <a:defRPr sz="1000">
                <a:solidFill>
                  <a:srgbClr val="334155"/>
                </a:solidFill>
                <a:latin typeface="Segoe UI"/>
              </a:defRPr>
            </a:pPr>
            <a:r>
              <a:t>TreeSHAP calculates exact attributions in polynomial time rather than exponential time O(2^M), enabling real-time clinical deployment.</a:t>
            </a:r>
          </a:p>
          <a:p>
            <a:pPr>
              <a:spcBef>
                <a:spcPts val="1000"/>
              </a:spcBef>
              <a:defRPr sz="1100" b="1">
                <a:solidFill>
                  <a:srgbClr val="2563EB"/>
                </a:solidFill>
                <a:latin typeface="Segoe UI"/>
              </a:defRPr>
            </a:pPr>
            <a:r>
              <a:t>Global Feature Audit</a:t>
            </a:r>
          </a:p>
          <a:p>
            <a:pPr>
              <a:spcBef>
                <a:spcPts val="200"/>
              </a:spcBef>
              <a:defRPr sz="1000">
                <a:solidFill>
                  <a:srgbClr val="334155"/>
                </a:solidFill>
                <a:latin typeface="Segoe UI"/>
              </a:defRPr>
            </a:pPr>
            <a:r>
              <a:t>Calculates mean absolute SHAP values across all test patients, revealing which biological markers universally drive dementia predictions.</a:t>
            </a:r>
          </a:p>
          <a:p>
            <a:pPr>
              <a:spcBef>
                <a:spcPts val="1000"/>
              </a:spcBef>
              <a:defRPr sz="1100" b="1">
                <a:solidFill>
                  <a:srgbClr val="2563EB"/>
                </a:solidFill>
                <a:latin typeface="Segoe UI"/>
              </a:defRPr>
            </a:pPr>
            <a:r>
              <a:t>Patient-Level Explanations</a:t>
            </a:r>
          </a:p>
          <a:p>
            <a:pPr>
              <a:spcBef>
                <a:spcPts val="200"/>
              </a:spcBef>
              <a:defRPr sz="1000">
                <a:solidFill>
                  <a:srgbClr val="334155"/>
                </a:solidFill>
                <a:latin typeface="Segoe UI"/>
              </a:defRPr>
            </a:pPr>
            <a:r>
              <a:t>Waterfall plots show exact risk factors pushing an individual patient toward or away from a dementia diagnosis.</a:t>
            </a:r>
          </a:p>
          <a:p>
            <a:pPr>
              <a:spcBef>
                <a:spcPts val="1000"/>
              </a:spcBef>
              <a:defRPr sz="1100" b="1">
                <a:solidFill>
                  <a:srgbClr val="2563EB"/>
                </a:solidFill>
                <a:latin typeface="Segoe UI"/>
              </a:defRPr>
            </a:pPr>
            <a:r>
              <a:t>Eliminating 'Black-Box' Risk</a:t>
            </a:r>
          </a:p>
          <a:p>
            <a:pPr>
              <a:spcBef>
                <a:spcPts val="200"/>
              </a:spcBef>
              <a:defRPr sz="1000">
                <a:solidFill>
                  <a:srgbClr val="334155"/>
                </a:solidFill>
                <a:latin typeface="Segoe UI"/>
              </a:defRPr>
            </a:pPr>
            <a:r>
              <a:t>Enables clinicians to verify that predictions align with known neuropathology rather than spurious dataset artifacts.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474720" cy="256032"/>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50" b="1">
                <a:solidFill>
                  <a:srgbClr val="0F766E"/>
                </a:solidFill>
                <a:latin typeface="Segoe UI"/>
              </a:defRPr>
            </a:pPr>
            <a:r>
              <a:t>TESTING ENVIRONMENT &amp; RIGOR</a:t>
            </a:r>
          </a:p>
        </p:txBody>
      </p:sp>
      <p:sp>
        <p:nvSpPr>
          <p:cNvPr id="4" name="TextBox 3"/>
          <p:cNvSpPr txBox="1"/>
          <p:nvPr/>
        </p:nvSpPr>
        <p:spPr>
          <a:xfrm>
            <a:off x="731520" y="676656"/>
            <a:ext cx="10728655" cy="548640"/>
          </a:xfrm>
          <a:prstGeom prst="rect">
            <a:avLst/>
          </a:prstGeom>
          <a:noFill/>
        </p:spPr>
        <p:txBody>
          <a:bodyPr wrap="square" lIns="0" rIns="0" tIns="0" bIns="0">
            <a:spAutoFit/>
          </a:bodyPr>
          <a:lstStyle/>
          <a:p>
            <a:pPr>
              <a:defRPr sz="2100" b="1">
                <a:solidFill>
                  <a:srgbClr val="172B45"/>
                </a:solidFill>
                <a:latin typeface="Segoe UI"/>
              </a:defRPr>
            </a:pPr>
            <a:r>
              <a:t>Experimental Environment &amp; Hyperparameter Setup</a:t>
            </a:r>
          </a:p>
        </p:txBody>
      </p:sp>
      <p:sp>
        <p:nvSpPr>
          <p:cNvPr id="5" name="Rectangle 4"/>
          <p:cNvSpPr/>
          <p:nvPr/>
        </p:nvSpPr>
        <p:spPr>
          <a:xfrm>
            <a:off x="731520" y="12618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7772400" cy="274320"/>
          </a:xfrm>
          <a:prstGeom prst="rect">
            <a:avLst/>
          </a:prstGeom>
          <a:noFill/>
        </p:spPr>
        <p:txBody>
          <a:bodyPr wrap="none" lIns="0" rIns="0" tIns="0" bIns="0">
            <a:spAutoFit/>
          </a:bodyPr>
          <a:lstStyle/>
          <a:p>
            <a:pPr>
              <a:defRPr sz="900">
                <a:solidFill>
                  <a:srgbClr val="64748B"/>
                </a:solidFill>
                <a:latin typeface="Segoe UI"/>
              </a:defRPr>
            </a:pPr>
            <a:r>
              <a:t>Symbiosis Institute of Technology, Nagpur • B.Tech CSE (CA3 Evaluation) • Explainable Multimodal ML</a:t>
            </a:r>
          </a:p>
        </p:txBody>
      </p:sp>
      <p:sp>
        <p:nvSpPr>
          <p:cNvPr id="7" name="TextBox 6"/>
          <p:cNvSpPr txBox="1"/>
          <p:nvPr/>
        </p:nvSpPr>
        <p:spPr>
          <a:xfrm>
            <a:off x="9601200" y="6510528"/>
            <a:ext cx="1858975" cy="274320"/>
          </a:xfrm>
          <a:prstGeom prst="rect">
            <a:avLst/>
          </a:prstGeom>
          <a:noFill/>
        </p:spPr>
        <p:txBody>
          <a:bodyPr wrap="none" lIns="0" rIns="0" tIns="0" bIns="0">
            <a:spAutoFit/>
          </a:bodyPr>
          <a:lstStyle/>
          <a:p>
            <a:pPr algn="r">
              <a:defRPr sz="900" b="1">
                <a:solidFill>
                  <a:srgbClr val="168C8C"/>
                </a:solidFill>
                <a:latin typeface="Segoe UI"/>
              </a:defRPr>
            </a:pPr>
            <a:r>
              <a:t>Slide 10 / 15</a:t>
            </a:r>
          </a:p>
        </p:txBody>
      </p:sp>
      <p:sp>
        <p:nvSpPr>
          <p:cNvPr id="8" name="Rounded Rectangle 7"/>
          <p:cNvSpPr/>
          <p:nvPr/>
        </p:nvSpPr>
        <p:spPr>
          <a:xfrm>
            <a:off x="731520" y="141732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1508760"/>
            <a:ext cx="3209544" cy="777240"/>
          </a:xfrm>
          <a:prstGeom prst="rect">
            <a:avLst/>
          </a:prstGeom>
          <a:noFill/>
        </p:spPr>
        <p:txBody>
          <a:bodyPr wrap="square">
            <a:spAutoFit/>
          </a:bodyPr>
          <a:lstStyle/>
          <a:p>
            <a:pPr>
              <a:defRPr sz="950" b="1">
                <a:solidFill>
                  <a:srgbClr val="0F766E"/>
                </a:solidFill>
                <a:latin typeface="Segoe UI"/>
              </a:defRPr>
            </a:pPr>
            <a:r>
              <a:t>HARDWARE &amp; OS</a:t>
            </a:r>
          </a:p>
          <a:p>
            <a:pPr>
              <a:spcBef>
                <a:spcPts val="300"/>
              </a:spcBef>
              <a:defRPr sz="1000">
                <a:solidFill>
                  <a:srgbClr val="334155"/>
                </a:solidFill>
                <a:latin typeface="Segoe UI"/>
              </a:defRPr>
            </a:pPr>
            <a:r>
              <a:t>Windows 11 64-bit | 16 GB RAM | Intel Core i5 / x64 Architecture</a:t>
            </a:r>
          </a:p>
        </p:txBody>
      </p:sp>
      <p:sp>
        <p:nvSpPr>
          <p:cNvPr id="10" name="Rounded Rectangle 9"/>
          <p:cNvSpPr/>
          <p:nvPr/>
        </p:nvSpPr>
        <p:spPr>
          <a:xfrm>
            <a:off x="4379976" y="141732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9704" y="1508760"/>
            <a:ext cx="3209544" cy="777240"/>
          </a:xfrm>
          <a:prstGeom prst="rect">
            <a:avLst/>
          </a:prstGeom>
          <a:noFill/>
        </p:spPr>
        <p:txBody>
          <a:bodyPr wrap="square">
            <a:spAutoFit/>
          </a:bodyPr>
          <a:lstStyle/>
          <a:p>
            <a:pPr>
              <a:defRPr sz="950" b="1">
                <a:solidFill>
                  <a:srgbClr val="0F766E"/>
                </a:solidFill>
                <a:latin typeface="Segoe UI"/>
              </a:defRPr>
            </a:pPr>
            <a:r>
              <a:t>COMPUTATIONAL STACK</a:t>
            </a:r>
          </a:p>
          <a:p>
            <a:pPr>
              <a:spcBef>
                <a:spcPts val="300"/>
              </a:spcBef>
              <a:defRPr sz="1000">
                <a:solidFill>
                  <a:srgbClr val="334155"/>
                </a:solidFill>
                <a:latin typeface="Segoe UI"/>
              </a:defRPr>
            </a:pPr>
            <a:r>
              <a:t>Python 3.14.3 | Scikit-learn 1.4+ | NumPy 1.26+ | SHAP 0.44+</a:t>
            </a:r>
          </a:p>
        </p:txBody>
      </p:sp>
      <p:sp>
        <p:nvSpPr>
          <p:cNvPr id="12" name="Rounded Rectangle 11"/>
          <p:cNvSpPr/>
          <p:nvPr/>
        </p:nvSpPr>
        <p:spPr>
          <a:xfrm>
            <a:off x="8028432" y="1417320"/>
            <a:ext cx="342900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0" y="1508760"/>
            <a:ext cx="3209544" cy="777240"/>
          </a:xfrm>
          <a:prstGeom prst="rect">
            <a:avLst/>
          </a:prstGeom>
          <a:noFill/>
        </p:spPr>
        <p:txBody>
          <a:bodyPr wrap="square">
            <a:spAutoFit/>
          </a:bodyPr>
          <a:lstStyle/>
          <a:p>
            <a:pPr>
              <a:defRPr sz="950" b="1">
                <a:solidFill>
                  <a:srgbClr val="0F766E"/>
                </a:solidFill>
                <a:latin typeface="Segoe UI"/>
              </a:defRPr>
            </a:pPr>
            <a:r>
              <a:t>REPRODUCIBILITY SEED</a:t>
            </a:r>
          </a:p>
          <a:p>
            <a:pPr>
              <a:spcBef>
                <a:spcPts val="300"/>
              </a:spcBef>
              <a:defRPr sz="1000">
                <a:solidFill>
                  <a:srgbClr val="334155"/>
                </a:solidFill>
                <a:latin typeface="Segoe UI"/>
              </a:defRPr>
            </a:pPr>
            <a:r>
              <a:t>Random State 42 pinned globally across all train/test splits &amp; models</a:t>
            </a:r>
          </a:p>
        </p:txBody>
      </p:sp>
      <p:graphicFrame>
        <p:nvGraphicFramePr>
          <p:cNvPr id="14" name="Table 13"/>
          <p:cNvGraphicFramePr>
            <a:graphicFrameLocks noGrp="1"/>
          </p:cNvGraphicFramePr>
          <p:nvPr/>
        </p:nvGraphicFramePr>
        <p:xfrm>
          <a:off x="731520" y="2560320"/>
          <a:ext cx="10728655" cy="3474720"/>
        </p:xfrm>
        <a:graphic>
          <a:graphicData uri="http://schemas.openxmlformats.org/drawingml/2006/table">
            <a:tbl>
              <a:tblPr firstRow="1" bandRow="1">
                <a:tableStyleId>{5C22544A-7EE6-4342-B048-85BDC9FD1C3A}</a:tableStyleId>
              </a:tblPr>
              <a:tblGrid>
                <a:gridCol w="2377440"/>
                <a:gridCol w="3291840"/>
                <a:gridCol w="3474720"/>
                <a:gridCol w="1584655"/>
              </a:tblGrid>
              <a:tr h="496388">
                <a:tc>
                  <a:txBody>
                    <a:bodyPr wrap="square"/>
                    <a:lstStyle/>
                    <a:p>
                      <a:pPr algn="ctr">
                        <a:defRPr sz="1050" b="1">
                          <a:solidFill>
                            <a:srgbClr val="FFFFFF"/>
                          </a:solidFill>
                          <a:latin typeface="Segoe UI"/>
                        </a:defRPr>
                      </a:pPr>
                      <a:r>
                        <a:rPr sz="1050" b="1">
                          <a:solidFill>
                            <a:srgbClr val="FFFFFF"/>
                          </a:solidFill>
                          <a:latin typeface="Segoe UI"/>
                        </a:rPr>
                        <a:t>Model Component</a:t>
                      </a:r>
                    </a:p>
                  </a:txBody>
                  <a:tcPr anchor="ctr" marL="73152" marR="73152" marT="45720" marB="45720">
                    <a:solidFill>
                      <a:srgbClr val="1E293B"/>
                    </a:solidFill>
                  </a:tcPr>
                </a:tc>
                <a:tc>
                  <a:txBody>
                    <a:bodyPr wrap="square"/>
                    <a:lstStyle/>
                    <a:p>
                      <a:pPr algn="ctr">
                        <a:defRPr sz="1050" b="1">
                          <a:solidFill>
                            <a:srgbClr val="FFFFFF"/>
                          </a:solidFill>
                          <a:latin typeface="Segoe UI"/>
                        </a:defRPr>
                      </a:pPr>
                      <a:r>
                        <a:rPr sz="1050" b="1">
                          <a:solidFill>
                            <a:srgbClr val="FFFFFF"/>
                          </a:solidFill>
                          <a:latin typeface="Segoe UI"/>
                        </a:rPr>
                        <a:t>Hyperparameters</a:t>
                      </a:r>
                    </a:p>
                  </a:txBody>
                  <a:tcPr anchor="ctr" marL="73152" marR="73152" marT="45720" marB="45720">
                    <a:solidFill>
                      <a:srgbClr val="1E293B"/>
                    </a:solidFill>
                  </a:tcPr>
                </a:tc>
                <a:tc>
                  <a:txBody>
                    <a:bodyPr wrap="square"/>
                    <a:lstStyle/>
                    <a:p>
                      <a:pPr algn="ctr">
                        <a:defRPr sz="1050" b="1">
                          <a:solidFill>
                            <a:srgbClr val="FFFFFF"/>
                          </a:solidFill>
                          <a:latin typeface="Segoe UI"/>
                        </a:defRPr>
                      </a:pPr>
                      <a:r>
                        <a:rPr sz="1050" b="1">
                          <a:solidFill>
                            <a:srgbClr val="FFFFFF"/>
                          </a:solidFill>
                          <a:latin typeface="Segoe UI"/>
                        </a:rPr>
                        <a:t>Search / Optimization</a:t>
                      </a:r>
                    </a:p>
                  </a:txBody>
                  <a:tcPr anchor="ctr" marL="73152" marR="73152" marT="45720" marB="45720">
                    <a:solidFill>
                      <a:srgbClr val="1E293B"/>
                    </a:solidFill>
                  </a:tcPr>
                </a:tc>
                <a:tc>
                  <a:txBody>
                    <a:bodyPr wrap="square"/>
                    <a:lstStyle/>
                    <a:p>
                      <a:pPr algn="ctr">
                        <a:defRPr sz="1050" b="1">
                          <a:solidFill>
                            <a:srgbClr val="FFFFFF"/>
                          </a:solidFill>
                          <a:latin typeface="Segoe UI"/>
                        </a:defRPr>
                      </a:pPr>
                      <a:r>
                        <a:rPr sz="1050" b="1">
                          <a:solidFill>
                            <a:srgbClr val="FFFFFF"/>
                          </a:solidFill>
                          <a:latin typeface="Segoe UI"/>
                        </a:rPr>
                        <a:t>Reproducibility Seed</a:t>
                      </a:r>
                    </a:p>
                  </a:txBody>
                  <a:tcPr anchor="ctr" marL="73152" marR="73152" marT="45720" marB="45720">
                    <a:solidFill>
                      <a:srgbClr val="1E293B"/>
                    </a:solidFill>
                  </a:tcPr>
                </a:tc>
              </a:tr>
              <a:tr h="496388">
                <a:tc>
                  <a:txBody>
                    <a:bodyPr wrap="square"/>
                    <a:lstStyle/>
                    <a:p>
                      <a:pPr algn="ctr">
                        <a:defRPr sz="950" b="0">
                          <a:solidFill>
                            <a:srgbClr val="172B45"/>
                          </a:solidFill>
                          <a:latin typeface="Segoe UI"/>
                        </a:defRPr>
                      </a:pPr>
                      <a:r>
                        <a:rPr sz="950" b="0">
                          <a:solidFill>
                            <a:srgbClr val="172B45"/>
                          </a:solidFill>
                          <a:latin typeface="Segoe UI"/>
                        </a:rPr>
                        <a:t>Dummy Baseline</a:t>
                      </a:r>
                    </a:p>
                  </a:txBody>
                  <a:tcPr anchor="ctr" marL="73152" marR="73152" marT="45720" marB="45720">
                    <a:solidFill>
                      <a:srgbClr val="FFFFFF"/>
                    </a:solidFill>
                  </a:tcPr>
                </a:tc>
                <a:tc>
                  <a:txBody>
                    <a:bodyPr wrap="square"/>
                    <a:lstStyle/>
                    <a:p>
                      <a:pPr algn="l">
                        <a:defRPr sz="950" b="0">
                          <a:solidFill>
                            <a:srgbClr val="172B45"/>
                          </a:solidFill>
                          <a:latin typeface="Segoe UI"/>
                        </a:defRPr>
                      </a:pPr>
                      <a:r>
                        <a:rPr sz="950" b="0">
                          <a:solidFill>
                            <a:srgbClr val="172B45"/>
                          </a:solidFill>
                          <a:latin typeface="Segoe UI"/>
                        </a:rPr>
                        <a:t>strategy = 'most_frequent'</a:t>
                      </a:r>
                    </a:p>
                  </a:txBody>
                  <a:tcPr anchor="ctr" marL="73152" marR="73152" marT="45720" marB="45720">
                    <a:solidFill>
                      <a:srgbClr val="FFFFFF"/>
                    </a:solidFill>
                  </a:tcPr>
                </a:tc>
                <a:tc>
                  <a:txBody>
                    <a:bodyPr wrap="square"/>
                    <a:lstStyle/>
                    <a:p>
                      <a:pPr algn="l">
                        <a:defRPr sz="950" b="0">
                          <a:solidFill>
                            <a:srgbClr val="172B45"/>
                          </a:solidFill>
                          <a:latin typeface="Segoe UI"/>
                        </a:defRPr>
                      </a:pPr>
                      <a:r>
                        <a:rPr sz="950" b="0">
                          <a:solidFill>
                            <a:srgbClr val="172B45"/>
                          </a:solidFill>
                          <a:latin typeface="Segoe UI"/>
                        </a:rPr>
                        <a:t>None (Analytical empirical baseline)</a:t>
                      </a:r>
                    </a:p>
                  </a:txBody>
                  <a:tcPr anchor="ctr" marL="73152" marR="73152" marT="45720" marB="45720">
                    <a:solidFill>
                      <a:srgbClr val="FFFFFF"/>
                    </a:solidFill>
                  </a:tcPr>
                </a:tc>
                <a:tc>
                  <a:txBody>
                    <a:bodyPr wrap="square"/>
                    <a:lstStyle/>
                    <a:p>
                      <a:pPr algn="ctr">
                        <a:defRPr sz="950" b="0">
                          <a:solidFill>
                            <a:srgbClr val="172B45"/>
                          </a:solidFill>
                          <a:latin typeface="Segoe UI"/>
                        </a:defRPr>
                      </a:pPr>
                      <a:r>
                        <a:rPr sz="950" b="0">
                          <a:solidFill>
                            <a:srgbClr val="172B45"/>
                          </a:solidFill>
                          <a:latin typeface="Segoe UI"/>
                        </a:rPr>
                        <a:t>seed = 42</a:t>
                      </a:r>
                    </a:p>
                  </a:txBody>
                  <a:tcPr anchor="ctr" marL="73152" marR="73152" marT="45720" marB="45720">
                    <a:solidFill>
                      <a:srgbClr val="FFFFFF"/>
                    </a:solidFill>
                  </a:tcPr>
                </a:tc>
              </a:tr>
              <a:tr h="496388">
                <a:tc>
                  <a:txBody>
                    <a:bodyPr wrap="square"/>
                    <a:lstStyle/>
                    <a:p>
                      <a:pPr algn="ctr">
                        <a:defRPr sz="950" b="0">
                          <a:solidFill>
                            <a:srgbClr val="172B45"/>
                          </a:solidFill>
                          <a:latin typeface="Segoe UI"/>
                        </a:defRPr>
                      </a:pPr>
                      <a:r>
                        <a:rPr sz="950" b="0">
                          <a:solidFill>
                            <a:srgbClr val="172B45"/>
                          </a:solidFill>
                          <a:latin typeface="Segoe UI"/>
                        </a:rPr>
                        <a:t>Logistic Regression</a:t>
                      </a:r>
                    </a:p>
                  </a:txBody>
                  <a:tcPr anchor="ctr" marL="73152" marR="73152" marT="45720" marB="45720">
                    <a:solidFill>
                      <a:srgbClr val="F8FAFC"/>
                    </a:solidFill>
                  </a:tcPr>
                </a:tc>
                <a:tc>
                  <a:txBody>
                    <a:bodyPr wrap="square"/>
                    <a:lstStyle/>
                    <a:p>
                      <a:pPr algn="l">
                        <a:defRPr sz="950" b="0">
                          <a:solidFill>
                            <a:srgbClr val="172B45"/>
                          </a:solidFill>
                          <a:latin typeface="Segoe UI"/>
                        </a:defRPr>
                      </a:pPr>
                      <a:r>
                        <a:rPr sz="950" b="0">
                          <a:solidFill>
                            <a:srgbClr val="172B45"/>
                          </a:solidFill>
                          <a:latin typeface="Segoe UI"/>
                        </a:rPr>
                        <a:t>C = 1.0, max_iter = 1000, solver = 'lbfgs'</a:t>
                      </a:r>
                    </a:p>
                  </a:txBody>
                  <a:tcPr anchor="ctr" marL="73152" marR="73152" marT="45720" marB="45720">
                    <a:solidFill>
                      <a:srgbClr val="F8FAFC"/>
                    </a:solidFill>
                  </a:tcPr>
                </a:tc>
                <a:tc>
                  <a:txBody>
                    <a:bodyPr wrap="square"/>
                    <a:lstStyle/>
                    <a:p>
                      <a:pPr algn="l">
                        <a:defRPr sz="950" b="0">
                          <a:solidFill>
                            <a:srgbClr val="172B45"/>
                          </a:solidFill>
                          <a:latin typeface="Segoe UI"/>
                        </a:defRPr>
                      </a:pPr>
                      <a:r>
                        <a:rPr sz="950" b="0">
                          <a:solidFill>
                            <a:srgbClr val="172B45"/>
                          </a:solidFill>
                          <a:latin typeface="Segoe UI"/>
                        </a:rPr>
                        <a:t>L-BFGS quasi-Newton optimization</a:t>
                      </a:r>
                    </a:p>
                  </a:txBody>
                  <a:tcPr anchor="ctr" marL="73152" marR="73152" marT="45720" marB="45720">
                    <a:solidFill>
                      <a:srgbClr val="F8FAFC"/>
                    </a:solidFill>
                  </a:tcPr>
                </a:tc>
                <a:tc>
                  <a:txBody>
                    <a:bodyPr wrap="square"/>
                    <a:lstStyle/>
                    <a:p>
                      <a:pPr algn="ctr">
                        <a:defRPr sz="950" b="0">
                          <a:solidFill>
                            <a:srgbClr val="172B45"/>
                          </a:solidFill>
                          <a:latin typeface="Segoe UI"/>
                        </a:defRPr>
                      </a:pPr>
                      <a:r>
                        <a:rPr sz="950" b="0">
                          <a:solidFill>
                            <a:srgbClr val="172B45"/>
                          </a:solidFill>
                          <a:latin typeface="Segoe UI"/>
                        </a:rPr>
                        <a:t>seed = 42</a:t>
                      </a:r>
                    </a:p>
                  </a:txBody>
                  <a:tcPr anchor="ctr" marL="73152" marR="73152" marT="45720" marB="45720">
                    <a:solidFill>
                      <a:srgbClr val="F8FAFC"/>
                    </a:solidFill>
                  </a:tcPr>
                </a:tc>
              </a:tr>
              <a:tr h="496388">
                <a:tc>
                  <a:txBody>
                    <a:bodyPr wrap="square"/>
                    <a:lstStyle/>
                    <a:p>
                      <a:pPr algn="ctr">
                        <a:defRPr sz="950" b="1">
                          <a:solidFill>
                            <a:srgbClr val="172B45"/>
                          </a:solidFill>
                          <a:latin typeface="Segoe UI"/>
                        </a:defRPr>
                      </a:pPr>
                      <a:r>
                        <a:rPr sz="950" b="1">
                          <a:solidFill>
                            <a:srgbClr val="172B45"/>
                          </a:solidFill>
                          <a:latin typeface="Segoe UI"/>
                        </a:rPr>
                        <a:t>Random Forest</a:t>
                      </a:r>
                    </a:p>
                  </a:txBody>
                  <a:tcPr anchor="ctr" marL="73152" marR="73152" marT="45720" marB="45720">
                    <a:solidFill>
                      <a:srgbClr val="ECFDF5"/>
                    </a:solidFill>
                  </a:tcPr>
                </a:tc>
                <a:tc>
                  <a:txBody>
                    <a:bodyPr wrap="square"/>
                    <a:lstStyle/>
                    <a:p>
                      <a:pPr algn="l">
                        <a:defRPr sz="950" b="0">
                          <a:solidFill>
                            <a:srgbClr val="172B45"/>
                          </a:solidFill>
                          <a:latin typeface="Segoe UI"/>
                        </a:defRPr>
                      </a:pPr>
                      <a:r>
                        <a:rPr sz="950" b="0">
                          <a:solidFill>
                            <a:srgbClr val="172B45"/>
                          </a:solidFill>
                          <a:latin typeface="Segoe UI"/>
                        </a:rPr>
                        <a:t>n_estimators = 100, max_depth = 5, min_split = 5</a:t>
                      </a:r>
                    </a:p>
                  </a:txBody>
                  <a:tcPr anchor="ctr" marL="73152" marR="73152" marT="45720" marB="45720">
                    <a:solidFill>
                      <a:srgbClr val="ECFDF5"/>
                    </a:solidFill>
                  </a:tcPr>
                </a:tc>
                <a:tc>
                  <a:txBody>
                    <a:bodyPr wrap="square"/>
                    <a:lstStyle/>
                    <a:p>
                      <a:pPr algn="l">
                        <a:defRPr sz="950" b="0">
                          <a:solidFill>
                            <a:srgbClr val="172B45"/>
                          </a:solidFill>
                          <a:latin typeface="Segoe UI"/>
                        </a:defRPr>
                      </a:pPr>
                      <a:r>
                        <a:rPr sz="950" b="0">
                          <a:solidFill>
                            <a:srgbClr val="172B45"/>
                          </a:solidFill>
                          <a:latin typeface="Segoe UI"/>
                        </a:rPr>
                        <a:t>Constrained tree depth to prevent overfitting</a:t>
                      </a:r>
                    </a:p>
                  </a:txBody>
                  <a:tcPr anchor="ctr" marL="73152" marR="73152" marT="45720" marB="45720">
                    <a:solidFill>
                      <a:srgbClr val="ECFDF5"/>
                    </a:solidFill>
                  </a:tcPr>
                </a:tc>
                <a:tc>
                  <a:txBody>
                    <a:bodyPr wrap="square"/>
                    <a:lstStyle/>
                    <a:p>
                      <a:pPr algn="ctr">
                        <a:defRPr sz="950" b="0">
                          <a:solidFill>
                            <a:srgbClr val="172B45"/>
                          </a:solidFill>
                          <a:latin typeface="Segoe UI"/>
                        </a:defRPr>
                      </a:pPr>
                      <a:r>
                        <a:rPr sz="950" b="0">
                          <a:solidFill>
                            <a:srgbClr val="172B45"/>
                          </a:solidFill>
                          <a:latin typeface="Segoe UI"/>
                        </a:rPr>
                        <a:t>seed = 42</a:t>
                      </a:r>
                    </a:p>
                  </a:txBody>
                  <a:tcPr anchor="ctr" marL="73152" marR="73152" marT="45720" marB="45720">
                    <a:solidFill>
                      <a:srgbClr val="ECFDF5"/>
                    </a:solidFill>
                  </a:tcPr>
                </a:tc>
              </a:tr>
              <a:tr h="496388">
                <a:tc>
                  <a:txBody>
                    <a:bodyPr wrap="square"/>
                    <a:lstStyle/>
                    <a:p>
                      <a:pPr algn="ctr">
                        <a:defRPr sz="950" b="0">
                          <a:solidFill>
                            <a:srgbClr val="172B45"/>
                          </a:solidFill>
                          <a:latin typeface="Segoe UI"/>
                        </a:defRPr>
                      </a:pPr>
                      <a:r>
                        <a:rPr sz="950" b="0">
                          <a:solidFill>
                            <a:srgbClr val="172B45"/>
                          </a:solidFill>
                          <a:latin typeface="Segoe UI"/>
                        </a:rPr>
                        <a:t>Support Vector Machine</a:t>
                      </a:r>
                    </a:p>
                  </a:txBody>
                  <a:tcPr anchor="ctr" marL="73152" marR="73152" marT="45720" marB="45720">
                    <a:solidFill>
                      <a:srgbClr val="F8FAFC"/>
                    </a:solidFill>
                  </a:tcPr>
                </a:tc>
                <a:tc>
                  <a:txBody>
                    <a:bodyPr wrap="square"/>
                    <a:lstStyle/>
                    <a:p>
                      <a:pPr algn="l">
                        <a:defRPr sz="950" b="0">
                          <a:solidFill>
                            <a:srgbClr val="172B45"/>
                          </a:solidFill>
                          <a:latin typeface="Segoe UI"/>
                        </a:defRPr>
                      </a:pPr>
                      <a:r>
                        <a:rPr sz="950" b="0">
                          <a:solidFill>
                            <a:srgbClr val="172B45"/>
                          </a:solidFill>
                          <a:latin typeface="Segoe UI"/>
                        </a:rPr>
                        <a:t>C = 1.0, kernel = 'rbf', probability = True</a:t>
                      </a:r>
                    </a:p>
                  </a:txBody>
                  <a:tcPr anchor="ctr" marL="73152" marR="73152" marT="45720" marB="45720">
                    <a:solidFill>
                      <a:srgbClr val="F8FAFC"/>
                    </a:solidFill>
                  </a:tcPr>
                </a:tc>
                <a:tc>
                  <a:txBody>
                    <a:bodyPr wrap="square"/>
                    <a:lstStyle/>
                    <a:p>
                      <a:pPr algn="l">
                        <a:defRPr sz="950" b="0">
                          <a:solidFill>
                            <a:srgbClr val="172B45"/>
                          </a:solidFill>
                          <a:latin typeface="Segoe UI"/>
                        </a:defRPr>
                      </a:pPr>
                      <a:r>
                        <a:rPr sz="950" b="0">
                          <a:solidFill>
                            <a:srgbClr val="172B45"/>
                          </a:solidFill>
                          <a:latin typeface="Segoe UI"/>
                        </a:rPr>
                        <a:t>Platt scaling cross-calibration</a:t>
                      </a:r>
                    </a:p>
                  </a:txBody>
                  <a:tcPr anchor="ctr" marL="73152" marR="73152" marT="45720" marB="45720">
                    <a:solidFill>
                      <a:srgbClr val="F8FAFC"/>
                    </a:solidFill>
                  </a:tcPr>
                </a:tc>
                <a:tc>
                  <a:txBody>
                    <a:bodyPr wrap="square"/>
                    <a:lstStyle/>
                    <a:p>
                      <a:pPr algn="ctr">
                        <a:defRPr sz="950" b="0">
                          <a:solidFill>
                            <a:srgbClr val="172B45"/>
                          </a:solidFill>
                          <a:latin typeface="Segoe UI"/>
                        </a:defRPr>
                      </a:pPr>
                      <a:r>
                        <a:rPr sz="950" b="0">
                          <a:solidFill>
                            <a:srgbClr val="172B45"/>
                          </a:solidFill>
                          <a:latin typeface="Segoe UI"/>
                        </a:rPr>
                        <a:t>seed = 42</a:t>
                      </a:r>
                    </a:p>
                  </a:txBody>
                  <a:tcPr anchor="ctr" marL="73152" marR="73152" marT="45720" marB="45720">
                    <a:solidFill>
                      <a:srgbClr val="F8FAFC"/>
                    </a:solidFill>
                  </a:tcPr>
                </a:tc>
              </a:tr>
              <a:tr h="496388">
                <a:tc>
                  <a:txBody>
                    <a:bodyPr wrap="square"/>
                    <a:lstStyle/>
                    <a:p>
                      <a:pPr algn="ctr">
                        <a:defRPr sz="950" b="0">
                          <a:solidFill>
                            <a:srgbClr val="172B45"/>
                          </a:solidFill>
                          <a:latin typeface="Segoe UI"/>
                        </a:defRPr>
                      </a:pPr>
                      <a:r>
                        <a:rPr sz="950" b="0">
                          <a:solidFill>
                            <a:srgbClr val="172B45"/>
                          </a:solidFill>
                          <a:latin typeface="Segoe UI"/>
                        </a:rPr>
                        <a:t>Gradient Boosting</a:t>
                      </a:r>
                    </a:p>
                  </a:txBody>
                  <a:tcPr anchor="ctr" marL="73152" marR="73152" marT="45720" marB="45720">
                    <a:solidFill>
                      <a:srgbClr val="FFFFFF"/>
                    </a:solidFill>
                  </a:tcPr>
                </a:tc>
                <a:tc>
                  <a:txBody>
                    <a:bodyPr wrap="square"/>
                    <a:lstStyle/>
                    <a:p>
                      <a:pPr algn="l">
                        <a:defRPr sz="950" b="0">
                          <a:solidFill>
                            <a:srgbClr val="172B45"/>
                          </a:solidFill>
                          <a:latin typeface="Segoe UI"/>
                        </a:defRPr>
                      </a:pPr>
                      <a:r>
                        <a:rPr sz="950" b="0">
                          <a:solidFill>
                            <a:srgbClr val="172B45"/>
                          </a:solidFill>
                          <a:latin typeface="Segoe UI"/>
                        </a:rPr>
                        <a:t>n_estimators = 100, lr = 0.05, max_depth = 3</a:t>
                      </a:r>
                    </a:p>
                  </a:txBody>
                  <a:tcPr anchor="ctr" marL="73152" marR="73152" marT="45720" marB="45720">
                    <a:solidFill>
                      <a:srgbClr val="FFFFFF"/>
                    </a:solidFill>
                  </a:tcPr>
                </a:tc>
                <a:tc>
                  <a:txBody>
                    <a:bodyPr wrap="square"/>
                    <a:lstStyle/>
                    <a:p>
                      <a:pPr algn="l">
                        <a:defRPr sz="950" b="0">
                          <a:solidFill>
                            <a:srgbClr val="172B45"/>
                          </a:solidFill>
                          <a:latin typeface="Segoe UI"/>
                        </a:defRPr>
                      </a:pPr>
                      <a:r>
                        <a:rPr sz="950" b="0">
                          <a:solidFill>
                            <a:srgbClr val="172B45"/>
                          </a:solidFill>
                          <a:latin typeface="Segoe UI"/>
                        </a:rPr>
                        <a:t>Gradient tree boosting with shrinkage</a:t>
                      </a:r>
                    </a:p>
                  </a:txBody>
                  <a:tcPr anchor="ctr" marL="73152" marR="73152" marT="45720" marB="45720">
                    <a:solidFill>
                      <a:srgbClr val="FFFFFF"/>
                    </a:solidFill>
                  </a:tcPr>
                </a:tc>
                <a:tc>
                  <a:txBody>
                    <a:bodyPr wrap="square"/>
                    <a:lstStyle/>
                    <a:p>
                      <a:pPr algn="ctr">
                        <a:defRPr sz="950" b="0">
                          <a:solidFill>
                            <a:srgbClr val="172B45"/>
                          </a:solidFill>
                          <a:latin typeface="Segoe UI"/>
                        </a:defRPr>
                      </a:pPr>
                      <a:r>
                        <a:rPr sz="950" b="0">
                          <a:solidFill>
                            <a:srgbClr val="172B45"/>
                          </a:solidFill>
                          <a:latin typeface="Segoe UI"/>
                        </a:rPr>
                        <a:t>seed = 42</a:t>
                      </a:r>
                    </a:p>
                  </a:txBody>
                  <a:tcPr anchor="ctr" marL="73152" marR="73152" marT="45720" marB="45720">
                    <a:solidFill>
                      <a:srgbClr val="FFFFFF"/>
                    </a:solidFill>
                  </a:tcPr>
                </a:tc>
              </a:tr>
              <a:tr h="496392">
                <a:tc>
                  <a:txBody>
                    <a:bodyPr wrap="square"/>
                    <a:lstStyle/>
                    <a:p>
                      <a:pPr algn="ctr">
                        <a:defRPr sz="950" b="0">
                          <a:solidFill>
                            <a:srgbClr val="172B45"/>
                          </a:solidFill>
                          <a:latin typeface="Segoe UI"/>
                        </a:defRPr>
                      </a:pPr>
                      <a:r>
                        <a:rPr sz="950" b="0">
                          <a:solidFill>
                            <a:srgbClr val="172B45"/>
                          </a:solidFill>
                          <a:latin typeface="Segoe UI"/>
                        </a:rPr>
                        <a:t>Voting Ensemble</a:t>
                      </a:r>
                    </a:p>
                  </a:txBody>
                  <a:tcPr anchor="ctr" marL="73152" marR="73152" marT="45720" marB="45720">
                    <a:solidFill>
                      <a:srgbClr val="F8FAFC"/>
                    </a:solidFill>
                  </a:tcPr>
                </a:tc>
                <a:tc>
                  <a:txBody>
                    <a:bodyPr wrap="square"/>
                    <a:lstStyle/>
                    <a:p>
                      <a:pPr algn="l">
                        <a:defRPr sz="950" b="0">
                          <a:solidFill>
                            <a:srgbClr val="172B45"/>
                          </a:solidFill>
                          <a:latin typeface="Segoe UI"/>
                        </a:defRPr>
                      </a:pPr>
                      <a:r>
                        <a:rPr sz="950" b="0">
                          <a:solidFill>
                            <a:srgbClr val="172B45"/>
                          </a:solidFill>
                          <a:latin typeface="Segoe UI"/>
                        </a:rPr>
                        <a:t>voting = 'soft', weights = equal [1, 1, 1, 1]</a:t>
                      </a:r>
                    </a:p>
                  </a:txBody>
                  <a:tcPr anchor="ctr" marL="73152" marR="73152" marT="45720" marB="45720">
                    <a:solidFill>
                      <a:srgbClr val="F8FAFC"/>
                    </a:solidFill>
                  </a:tcPr>
                </a:tc>
                <a:tc>
                  <a:txBody>
                    <a:bodyPr wrap="square"/>
                    <a:lstStyle/>
                    <a:p>
                      <a:pPr algn="l">
                        <a:defRPr sz="950" b="0">
                          <a:solidFill>
                            <a:srgbClr val="172B45"/>
                          </a:solidFill>
                          <a:latin typeface="Segoe UI"/>
                        </a:defRPr>
                      </a:pPr>
                      <a:r>
                        <a:rPr sz="950" b="0">
                          <a:solidFill>
                            <a:srgbClr val="172B45"/>
                          </a:solidFill>
                          <a:latin typeface="Segoe UI"/>
                        </a:rPr>
                        <a:t>Ensemble probability distribution averaging</a:t>
                      </a:r>
                    </a:p>
                  </a:txBody>
                  <a:tcPr anchor="ctr" marL="73152" marR="73152" marT="45720" marB="45720">
                    <a:solidFill>
                      <a:srgbClr val="F8FAFC"/>
                    </a:solidFill>
                  </a:tcPr>
                </a:tc>
                <a:tc>
                  <a:txBody>
                    <a:bodyPr wrap="square"/>
                    <a:lstStyle/>
                    <a:p>
                      <a:pPr algn="ctr">
                        <a:defRPr sz="950" b="0">
                          <a:solidFill>
                            <a:srgbClr val="172B45"/>
                          </a:solidFill>
                          <a:latin typeface="Segoe UI"/>
                        </a:defRPr>
                      </a:pPr>
                      <a:r>
                        <a:rPr sz="950" b="0">
                          <a:solidFill>
                            <a:srgbClr val="172B45"/>
                          </a:solidFill>
                          <a:latin typeface="Segoe UI"/>
                        </a:rPr>
                        <a:t>seed = 42</a:t>
                      </a:r>
                    </a:p>
                  </a:txBody>
                  <a:tcPr anchor="ctr" marL="73152" marR="73152" marT="45720" marB="45720">
                    <a:solidFill>
                      <a:srgbClr val="F8FAFC"/>
                    </a:solidFill>
                  </a:tcPr>
                </a:tc>
              </a:tr>
            </a:tbl>
          </a:graphicData>
        </a:graphic>
      </p:graphicFrame>
      <p:sp>
        <p:nvSpPr>
          <p:cNvPr id="15" name="TextBox 14"/>
          <p:cNvSpPr txBox="1"/>
          <p:nvPr/>
        </p:nvSpPr>
        <p:spPr>
          <a:xfrm>
            <a:off x="731520" y="6080760"/>
            <a:ext cx="10728655" cy="320040"/>
          </a:xfrm>
          <a:prstGeom prst="rect">
            <a:avLst/>
          </a:prstGeom>
          <a:noFill/>
        </p:spPr>
        <p:txBody>
          <a:bodyPr wrap="none">
            <a:spAutoFit/>
          </a:bodyPr>
          <a:lstStyle/>
          <a:p>
            <a:pPr algn="ctr">
              <a:defRPr sz="950" i="1">
                <a:solidFill>
                  <a:srgbClr val="64748B"/>
                </a:solidFill>
                <a:latin typeface="Segoe UI"/>
              </a:defRPr>
            </a:pPr>
            <a:r>
              <a:t>Defensive Hyperparameter Strategy: Parameters were defensively constrained to prevent high-dimensional variance rather than aggressively maximizing training fit.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474720" cy="256032"/>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50" b="1">
                <a:solidFill>
                  <a:srgbClr val="0F766E"/>
                </a:solidFill>
                <a:latin typeface="Segoe UI"/>
              </a:defRPr>
            </a:pPr>
            <a:r>
              <a:t>EXPERIMENTAL FINDINGS &amp; METRICS</a:t>
            </a:r>
          </a:p>
        </p:txBody>
      </p:sp>
      <p:sp>
        <p:nvSpPr>
          <p:cNvPr id="4" name="TextBox 3"/>
          <p:cNvSpPr txBox="1"/>
          <p:nvPr/>
        </p:nvSpPr>
        <p:spPr>
          <a:xfrm>
            <a:off x="731520" y="676656"/>
            <a:ext cx="10728655" cy="548640"/>
          </a:xfrm>
          <a:prstGeom prst="rect">
            <a:avLst/>
          </a:prstGeom>
          <a:noFill/>
        </p:spPr>
        <p:txBody>
          <a:bodyPr wrap="square" lIns="0" rIns="0" tIns="0" bIns="0">
            <a:spAutoFit/>
          </a:bodyPr>
          <a:lstStyle/>
          <a:p>
            <a:pPr>
              <a:defRPr sz="2100" b="1">
                <a:solidFill>
                  <a:srgbClr val="172B45"/>
                </a:solidFill>
                <a:latin typeface="Segoe UI"/>
              </a:defRPr>
            </a:pPr>
            <a:r>
              <a:t>Empirical Classification Results (Held-Out Test Set N=47)</a:t>
            </a:r>
          </a:p>
        </p:txBody>
      </p:sp>
      <p:sp>
        <p:nvSpPr>
          <p:cNvPr id="5" name="Rectangle 4"/>
          <p:cNvSpPr/>
          <p:nvPr/>
        </p:nvSpPr>
        <p:spPr>
          <a:xfrm>
            <a:off x="731520" y="12618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7772400" cy="274320"/>
          </a:xfrm>
          <a:prstGeom prst="rect">
            <a:avLst/>
          </a:prstGeom>
          <a:noFill/>
        </p:spPr>
        <p:txBody>
          <a:bodyPr wrap="none" lIns="0" rIns="0" tIns="0" bIns="0">
            <a:spAutoFit/>
          </a:bodyPr>
          <a:lstStyle/>
          <a:p>
            <a:pPr>
              <a:defRPr sz="900">
                <a:solidFill>
                  <a:srgbClr val="64748B"/>
                </a:solidFill>
                <a:latin typeface="Segoe UI"/>
              </a:defRPr>
            </a:pPr>
            <a:r>
              <a:t>Symbiosis Institute of Technology, Nagpur • B.Tech CSE (CA3 Evaluation) • Explainable Multimodal ML</a:t>
            </a:r>
          </a:p>
        </p:txBody>
      </p:sp>
      <p:sp>
        <p:nvSpPr>
          <p:cNvPr id="7" name="TextBox 6"/>
          <p:cNvSpPr txBox="1"/>
          <p:nvPr/>
        </p:nvSpPr>
        <p:spPr>
          <a:xfrm>
            <a:off x="9601200" y="6510528"/>
            <a:ext cx="1858975" cy="274320"/>
          </a:xfrm>
          <a:prstGeom prst="rect">
            <a:avLst/>
          </a:prstGeom>
          <a:noFill/>
        </p:spPr>
        <p:txBody>
          <a:bodyPr wrap="none" lIns="0" rIns="0" tIns="0" bIns="0">
            <a:spAutoFit/>
          </a:bodyPr>
          <a:lstStyle/>
          <a:p>
            <a:pPr algn="r">
              <a:defRPr sz="900" b="1">
                <a:solidFill>
                  <a:srgbClr val="168C8C"/>
                </a:solidFill>
                <a:latin typeface="Segoe UI"/>
              </a:defRPr>
            </a:pPr>
            <a:r>
              <a:t>Slide 11 / 15</a:t>
            </a:r>
          </a:p>
        </p:txBody>
      </p:sp>
      <p:sp>
        <p:nvSpPr>
          <p:cNvPr id="8" name="Rounded Rectangle 7"/>
          <p:cNvSpPr/>
          <p:nvPr/>
        </p:nvSpPr>
        <p:spPr>
          <a:xfrm>
            <a:off x="731520" y="1417320"/>
            <a:ext cx="3429000" cy="91440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1490472"/>
            <a:ext cx="3209544" cy="768096"/>
          </a:xfrm>
          <a:prstGeom prst="rect">
            <a:avLst/>
          </a:prstGeom>
          <a:noFill/>
        </p:spPr>
        <p:txBody>
          <a:bodyPr wrap="square">
            <a:spAutoFit/>
          </a:bodyPr>
          <a:lstStyle/>
          <a:p>
            <a:pPr>
              <a:defRPr sz="850" b="1">
                <a:solidFill>
                  <a:srgbClr val="0F766E"/>
                </a:solidFill>
                <a:latin typeface="Segoe UI"/>
              </a:defRPr>
            </a:pPr>
            <a:r>
              <a:t>RANDOM FOREST (TOP PERFORMER)</a:t>
            </a:r>
          </a:p>
          <a:p>
            <a:pPr>
              <a:spcBef>
                <a:spcPts val="100"/>
              </a:spcBef>
              <a:defRPr sz="1300" b="1">
                <a:solidFill>
                  <a:srgbClr val="172B45"/>
                </a:solidFill>
                <a:latin typeface="Segoe UI"/>
              </a:defRPr>
            </a:pPr>
            <a:r>
              <a:t>ROC-AUC: 0.9370</a:t>
            </a:r>
          </a:p>
          <a:p>
            <a:pPr>
              <a:spcBef>
                <a:spcPts val="100"/>
              </a:spcBef>
              <a:defRPr sz="900">
                <a:solidFill>
                  <a:srgbClr val="334155"/>
                </a:solidFill>
                <a:latin typeface="Segoe UI"/>
              </a:defRPr>
            </a:pPr>
            <a:r>
              <a:t>Accuracy: 80.85% | Specificity: 88.89% | PR-AUC: 0.9277</a:t>
            </a:r>
          </a:p>
        </p:txBody>
      </p:sp>
      <p:sp>
        <p:nvSpPr>
          <p:cNvPr id="10" name="Rounded Rectangle 9"/>
          <p:cNvSpPr/>
          <p:nvPr/>
        </p:nvSpPr>
        <p:spPr>
          <a:xfrm>
            <a:off x="4379976" y="1417320"/>
            <a:ext cx="3429000" cy="91440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9704" y="1490472"/>
            <a:ext cx="3209544" cy="768096"/>
          </a:xfrm>
          <a:prstGeom prst="rect">
            <a:avLst/>
          </a:prstGeom>
          <a:noFill/>
        </p:spPr>
        <p:txBody>
          <a:bodyPr wrap="square">
            <a:spAutoFit/>
          </a:bodyPr>
          <a:lstStyle/>
          <a:p>
            <a:pPr>
              <a:defRPr sz="850" b="1">
                <a:solidFill>
                  <a:srgbClr val="2563EB"/>
                </a:solidFill>
                <a:latin typeface="Segoe UI"/>
              </a:defRPr>
            </a:pPr>
            <a:r>
              <a:t>LOGISTIC REGRESSION</a:t>
            </a:r>
          </a:p>
          <a:p>
            <a:pPr>
              <a:spcBef>
                <a:spcPts val="100"/>
              </a:spcBef>
              <a:defRPr sz="1300" b="1">
                <a:solidFill>
                  <a:srgbClr val="172B45"/>
                </a:solidFill>
                <a:latin typeface="Segoe UI"/>
              </a:defRPr>
            </a:pPr>
            <a:r>
              <a:t>Highest Sensitivity: 75.00%</a:t>
            </a:r>
          </a:p>
          <a:p>
            <a:pPr>
              <a:spcBef>
                <a:spcPts val="100"/>
              </a:spcBef>
              <a:defRPr sz="900">
                <a:solidFill>
                  <a:srgbClr val="334155"/>
                </a:solidFill>
                <a:latin typeface="Segoe UI"/>
              </a:defRPr>
            </a:pPr>
            <a:r>
              <a:t>Accuracy: 80.85% | Bal. Acc: 80.09% | ROC-AUC: 0.9093</a:t>
            </a:r>
          </a:p>
        </p:txBody>
      </p:sp>
      <p:sp>
        <p:nvSpPr>
          <p:cNvPr id="12" name="Rounded Rectangle 11"/>
          <p:cNvSpPr/>
          <p:nvPr/>
        </p:nvSpPr>
        <p:spPr>
          <a:xfrm>
            <a:off x="8028432" y="1417320"/>
            <a:ext cx="3429000" cy="914400"/>
          </a:xfrm>
          <a:prstGeom prst="roundRect">
            <a:avLst/>
          </a:prstGeom>
          <a:solidFill>
            <a:srgbClr val="FEF3C7"/>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0" y="1490472"/>
            <a:ext cx="3209544" cy="768096"/>
          </a:xfrm>
          <a:prstGeom prst="rect">
            <a:avLst/>
          </a:prstGeom>
          <a:noFill/>
        </p:spPr>
        <p:txBody>
          <a:bodyPr wrap="square">
            <a:spAutoFit/>
          </a:bodyPr>
          <a:lstStyle/>
          <a:p>
            <a:pPr>
              <a:defRPr sz="850" b="1">
                <a:solidFill>
                  <a:srgbClr val="D97706"/>
                </a:solidFill>
                <a:latin typeface="Segoe UI"/>
              </a:defRPr>
            </a:pPr>
            <a:r>
              <a:t>SOFT VOTING ENSEMBLE</a:t>
            </a:r>
          </a:p>
          <a:p>
            <a:pPr>
              <a:spcBef>
                <a:spcPts val="100"/>
              </a:spcBef>
              <a:defRPr sz="1300" b="1">
                <a:solidFill>
                  <a:srgbClr val="172B45"/>
                </a:solidFill>
                <a:latin typeface="Segoe UI"/>
              </a:defRPr>
            </a:pPr>
            <a:r>
              <a:t>Ensemble ROC-AUC: 0.9296</a:t>
            </a:r>
          </a:p>
          <a:p>
            <a:pPr>
              <a:spcBef>
                <a:spcPts val="100"/>
              </a:spcBef>
              <a:defRPr sz="900">
                <a:solidFill>
                  <a:srgbClr val="334155"/>
                </a:solidFill>
                <a:latin typeface="Segoe UI"/>
              </a:defRPr>
            </a:pPr>
            <a:r>
              <a:t>Accuracy: 78.72% | Specificity: 85.19% | F1: 0.7368</a:t>
            </a:r>
          </a:p>
        </p:txBody>
      </p:sp>
      <p:graphicFrame>
        <p:nvGraphicFramePr>
          <p:cNvPr id="14" name="Table 13"/>
          <p:cNvGraphicFramePr>
            <a:graphicFrameLocks noGrp="1"/>
          </p:cNvGraphicFramePr>
          <p:nvPr/>
        </p:nvGraphicFramePr>
        <p:xfrm>
          <a:off x="731520" y="2468880"/>
          <a:ext cx="10728655" cy="2926080"/>
        </p:xfrm>
        <a:graphic>
          <a:graphicData uri="http://schemas.openxmlformats.org/drawingml/2006/table">
            <a:tbl>
              <a:tblPr firstRow="1" bandRow="1">
                <a:tableStyleId>{5C22544A-7EE6-4342-B048-85BDC9FD1C3A}</a:tableStyleId>
              </a:tblPr>
              <a:tblGrid>
                <a:gridCol w="2316175"/>
                <a:gridCol w="1188720"/>
                <a:gridCol w="1280160"/>
                <a:gridCol w="1188720"/>
                <a:gridCol w="1188720"/>
                <a:gridCol w="1188720"/>
                <a:gridCol w="1188720"/>
                <a:gridCol w="1188720"/>
              </a:tblGrid>
              <a:tr h="418011">
                <a:tc>
                  <a:txBody>
                    <a:bodyPr wrap="square"/>
                    <a:lstStyle/>
                    <a:p>
                      <a:pPr algn="ctr">
                        <a:defRPr sz="1000" b="1">
                          <a:solidFill>
                            <a:srgbClr val="FFFFFF"/>
                          </a:solidFill>
                          <a:latin typeface="Segoe UI"/>
                        </a:defRPr>
                      </a:pPr>
                      <a:r>
                        <a:rPr sz="1000" b="1">
                          <a:solidFill>
                            <a:srgbClr val="FFFFFF"/>
                          </a:solidFill>
                          <a:latin typeface="Segoe UI"/>
                        </a:rPr>
                        <a:t>Model Architecture</a:t>
                      </a:r>
                    </a:p>
                  </a:txBody>
                  <a:tcPr anchor="ctr" marL="73152" marR="73152" marT="45720" marB="45720">
                    <a:solidFill>
                      <a:srgbClr val="1E293B"/>
                    </a:solidFill>
                  </a:tcPr>
                </a:tc>
                <a:tc>
                  <a:txBody>
                    <a:bodyPr wrap="square"/>
                    <a:lstStyle/>
                    <a:p>
                      <a:pPr algn="ctr">
                        <a:defRPr sz="1000" b="1">
                          <a:solidFill>
                            <a:srgbClr val="FFFFFF"/>
                          </a:solidFill>
                          <a:latin typeface="Segoe UI"/>
                        </a:defRPr>
                      </a:pPr>
                      <a:r>
                        <a:rPr sz="1000" b="1">
                          <a:solidFill>
                            <a:srgbClr val="FFFFFF"/>
                          </a:solidFill>
                          <a:latin typeface="Segoe UI"/>
                        </a:rPr>
                        <a:t>Accuracy</a:t>
                      </a:r>
                    </a:p>
                  </a:txBody>
                  <a:tcPr anchor="ctr" marL="73152" marR="73152" marT="45720" marB="45720">
                    <a:solidFill>
                      <a:srgbClr val="1E293B"/>
                    </a:solidFill>
                  </a:tcPr>
                </a:tc>
                <a:tc>
                  <a:txBody>
                    <a:bodyPr wrap="square"/>
                    <a:lstStyle/>
                    <a:p>
                      <a:pPr algn="ctr">
                        <a:defRPr sz="1000" b="1">
                          <a:solidFill>
                            <a:srgbClr val="FFFFFF"/>
                          </a:solidFill>
                          <a:latin typeface="Segoe UI"/>
                        </a:defRPr>
                      </a:pPr>
                      <a:r>
                        <a:rPr sz="1000" b="1">
                          <a:solidFill>
                            <a:srgbClr val="FFFFFF"/>
                          </a:solidFill>
                          <a:latin typeface="Segoe UI"/>
                        </a:rPr>
                        <a:t>Balanced Acc.</a:t>
                      </a:r>
                    </a:p>
                  </a:txBody>
                  <a:tcPr anchor="ctr" marL="73152" marR="73152" marT="45720" marB="45720">
                    <a:solidFill>
                      <a:srgbClr val="1E293B"/>
                    </a:solidFill>
                  </a:tcPr>
                </a:tc>
                <a:tc>
                  <a:txBody>
                    <a:bodyPr wrap="square"/>
                    <a:lstStyle/>
                    <a:p>
                      <a:pPr algn="ctr">
                        <a:defRPr sz="1000" b="1">
                          <a:solidFill>
                            <a:srgbClr val="FFFFFF"/>
                          </a:solidFill>
                          <a:latin typeface="Segoe UI"/>
                        </a:defRPr>
                      </a:pPr>
                      <a:r>
                        <a:rPr sz="1000" b="1">
                          <a:solidFill>
                            <a:srgbClr val="FFFFFF"/>
                          </a:solidFill>
                          <a:latin typeface="Segoe UI"/>
                        </a:rPr>
                        <a:t>Precision</a:t>
                      </a:r>
                    </a:p>
                  </a:txBody>
                  <a:tcPr anchor="ctr" marL="73152" marR="73152" marT="45720" marB="45720">
                    <a:solidFill>
                      <a:srgbClr val="1E293B"/>
                    </a:solidFill>
                  </a:tcPr>
                </a:tc>
                <a:tc>
                  <a:txBody>
                    <a:bodyPr wrap="square"/>
                    <a:lstStyle/>
                    <a:p>
                      <a:pPr algn="ctr">
                        <a:defRPr sz="1000" b="1">
                          <a:solidFill>
                            <a:srgbClr val="FFFFFF"/>
                          </a:solidFill>
                          <a:latin typeface="Segoe UI"/>
                        </a:defRPr>
                      </a:pPr>
                      <a:r>
                        <a:rPr sz="1000" b="1">
                          <a:solidFill>
                            <a:srgbClr val="FFFFFF"/>
                          </a:solidFill>
                          <a:latin typeface="Segoe UI"/>
                        </a:rPr>
                        <a:t>Recall</a:t>
                      </a:r>
                    </a:p>
                  </a:txBody>
                  <a:tcPr anchor="ctr" marL="73152" marR="73152" marT="45720" marB="45720">
                    <a:solidFill>
                      <a:srgbClr val="1E293B"/>
                    </a:solidFill>
                  </a:tcPr>
                </a:tc>
                <a:tc>
                  <a:txBody>
                    <a:bodyPr wrap="square"/>
                    <a:lstStyle/>
                    <a:p>
                      <a:pPr algn="ctr">
                        <a:defRPr sz="1000" b="1">
                          <a:solidFill>
                            <a:srgbClr val="FFFFFF"/>
                          </a:solidFill>
                          <a:latin typeface="Segoe UI"/>
                        </a:defRPr>
                      </a:pPr>
                      <a:r>
                        <a:rPr sz="1000" b="1">
                          <a:solidFill>
                            <a:srgbClr val="FFFFFF"/>
                          </a:solidFill>
                          <a:latin typeface="Segoe UI"/>
                        </a:rPr>
                        <a:t>Specificity</a:t>
                      </a:r>
                    </a:p>
                  </a:txBody>
                  <a:tcPr anchor="ctr" marL="73152" marR="73152" marT="45720" marB="45720">
                    <a:solidFill>
                      <a:srgbClr val="1E293B"/>
                    </a:solidFill>
                  </a:tcPr>
                </a:tc>
                <a:tc>
                  <a:txBody>
                    <a:bodyPr wrap="square"/>
                    <a:lstStyle/>
                    <a:p>
                      <a:pPr algn="ctr">
                        <a:defRPr sz="1000" b="1">
                          <a:solidFill>
                            <a:srgbClr val="FFFFFF"/>
                          </a:solidFill>
                          <a:latin typeface="Segoe UI"/>
                        </a:defRPr>
                      </a:pPr>
                      <a:r>
                        <a:rPr sz="1000" b="1">
                          <a:solidFill>
                            <a:srgbClr val="FFFFFF"/>
                          </a:solidFill>
                          <a:latin typeface="Segoe UI"/>
                        </a:rPr>
                        <a:t>F1-Score</a:t>
                      </a:r>
                    </a:p>
                  </a:txBody>
                  <a:tcPr anchor="ctr" marL="73152" marR="73152" marT="45720" marB="45720">
                    <a:solidFill>
                      <a:srgbClr val="1E293B"/>
                    </a:solidFill>
                  </a:tcPr>
                </a:tc>
                <a:tc>
                  <a:txBody>
                    <a:bodyPr wrap="square"/>
                    <a:lstStyle/>
                    <a:p>
                      <a:pPr algn="ctr">
                        <a:defRPr sz="1000" b="1">
                          <a:solidFill>
                            <a:srgbClr val="FFFFFF"/>
                          </a:solidFill>
                          <a:latin typeface="Segoe UI"/>
                        </a:defRPr>
                      </a:pPr>
                      <a:r>
                        <a:rPr sz="1000" b="1">
                          <a:solidFill>
                            <a:srgbClr val="FFFFFF"/>
                          </a:solidFill>
                          <a:latin typeface="Segoe UI"/>
                        </a:rPr>
                        <a:t>ROC-AUC</a:t>
                      </a:r>
                    </a:p>
                  </a:txBody>
                  <a:tcPr anchor="ctr" marL="73152" marR="73152" marT="45720" marB="45720">
                    <a:solidFill>
                      <a:srgbClr val="1E293B"/>
                    </a:solidFill>
                  </a:tcPr>
                </a:tc>
              </a:tr>
              <a:tr h="418011">
                <a:tc>
                  <a:txBody>
                    <a:bodyPr wrap="square"/>
                    <a:lstStyle/>
                    <a:p>
                      <a:pPr algn="l">
                        <a:defRPr sz="950" b="0">
                          <a:solidFill>
                            <a:srgbClr val="172B45"/>
                          </a:solidFill>
                          <a:latin typeface="Segoe UI"/>
                        </a:defRPr>
                      </a:pPr>
                      <a:r>
                        <a:rPr sz="950" b="0">
                          <a:solidFill>
                            <a:srgbClr val="172B45"/>
                          </a:solidFill>
                          <a:latin typeface="Segoe UI"/>
                        </a:rPr>
                        <a:t>Dummy Baseline</a:t>
                      </a:r>
                    </a:p>
                  </a:txBody>
                  <a:tcPr anchor="ctr" marL="73152" marR="73152" marT="45720" marB="45720">
                    <a:solidFill>
                      <a:srgbClr val="FFFFFF"/>
                    </a:solidFill>
                  </a:tcPr>
                </a:tc>
                <a:tc>
                  <a:txBody>
                    <a:bodyPr wrap="square"/>
                    <a:lstStyle/>
                    <a:p>
                      <a:pPr algn="ctr">
                        <a:defRPr sz="950" b="0">
                          <a:solidFill>
                            <a:srgbClr val="172B45"/>
                          </a:solidFill>
                          <a:latin typeface="Segoe UI"/>
                        </a:defRPr>
                      </a:pPr>
                      <a:r>
                        <a:rPr sz="950" b="0">
                          <a:solidFill>
                            <a:srgbClr val="172B45"/>
                          </a:solidFill>
                          <a:latin typeface="Segoe UI"/>
                        </a:rPr>
                        <a:t>57.45%</a:t>
                      </a:r>
                    </a:p>
                  </a:txBody>
                  <a:tcPr anchor="ctr" marL="73152" marR="73152" marT="45720" marB="45720">
                    <a:solidFill>
                      <a:srgbClr val="FFFFFF"/>
                    </a:solidFill>
                  </a:tcPr>
                </a:tc>
                <a:tc>
                  <a:txBody>
                    <a:bodyPr wrap="square"/>
                    <a:lstStyle/>
                    <a:p>
                      <a:pPr algn="ctr">
                        <a:defRPr sz="950" b="0">
                          <a:solidFill>
                            <a:srgbClr val="172B45"/>
                          </a:solidFill>
                          <a:latin typeface="Segoe UI"/>
                        </a:defRPr>
                      </a:pPr>
                      <a:r>
                        <a:rPr sz="950" b="0">
                          <a:solidFill>
                            <a:srgbClr val="172B45"/>
                          </a:solidFill>
                          <a:latin typeface="Segoe UI"/>
                        </a:rPr>
                        <a:t>50.00%</a:t>
                      </a:r>
                    </a:p>
                  </a:txBody>
                  <a:tcPr anchor="ctr" marL="73152" marR="73152" marT="45720" marB="45720">
                    <a:solidFill>
                      <a:srgbClr val="FFFFFF"/>
                    </a:solidFill>
                  </a:tcPr>
                </a:tc>
                <a:tc>
                  <a:txBody>
                    <a:bodyPr wrap="square"/>
                    <a:lstStyle/>
                    <a:p>
                      <a:pPr algn="ctr">
                        <a:defRPr sz="950" b="0">
                          <a:solidFill>
                            <a:srgbClr val="172B45"/>
                          </a:solidFill>
                          <a:latin typeface="Segoe UI"/>
                        </a:defRPr>
                      </a:pPr>
                      <a:r>
                        <a:rPr sz="950" b="0">
                          <a:solidFill>
                            <a:srgbClr val="172B45"/>
                          </a:solidFill>
                          <a:latin typeface="Segoe UI"/>
                        </a:rPr>
                        <a:t>0.00%</a:t>
                      </a:r>
                    </a:p>
                  </a:txBody>
                  <a:tcPr anchor="ctr" marL="73152" marR="73152" marT="45720" marB="45720">
                    <a:solidFill>
                      <a:srgbClr val="FFFFFF"/>
                    </a:solidFill>
                  </a:tcPr>
                </a:tc>
                <a:tc>
                  <a:txBody>
                    <a:bodyPr wrap="square"/>
                    <a:lstStyle/>
                    <a:p>
                      <a:pPr algn="ctr">
                        <a:defRPr sz="950" b="0">
                          <a:solidFill>
                            <a:srgbClr val="172B45"/>
                          </a:solidFill>
                          <a:latin typeface="Segoe UI"/>
                        </a:defRPr>
                      </a:pPr>
                      <a:r>
                        <a:rPr sz="950" b="0">
                          <a:solidFill>
                            <a:srgbClr val="172B45"/>
                          </a:solidFill>
                          <a:latin typeface="Segoe UI"/>
                        </a:rPr>
                        <a:t>0.00%</a:t>
                      </a:r>
                    </a:p>
                  </a:txBody>
                  <a:tcPr anchor="ctr" marL="73152" marR="73152" marT="45720" marB="45720">
                    <a:solidFill>
                      <a:srgbClr val="FFFFFF"/>
                    </a:solidFill>
                  </a:tcPr>
                </a:tc>
                <a:tc>
                  <a:txBody>
                    <a:bodyPr wrap="square"/>
                    <a:lstStyle/>
                    <a:p>
                      <a:pPr algn="ctr">
                        <a:defRPr sz="950" b="0">
                          <a:solidFill>
                            <a:srgbClr val="172B45"/>
                          </a:solidFill>
                          <a:latin typeface="Segoe UI"/>
                        </a:defRPr>
                      </a:pPr>
                      <a:r>
                        <a:rPr sz="950" b="0">
                          <a:solidFill>
                            <a:srgbClr val="172B45"/>
                          </a:solidFill>
                          <a:latin typeface="Segoe UI"/>
                        </a:rPr>
                        <a:t>100.00%</a:t>
                      </a:r>
                    </a:p>
                  </a:txBody>
                  <a:tcPr anchor="ctr" marL="73152" marR="73152" marT="45720" marB="45720">
                    <a:solidFill>
                      <a:srgbClr val="FFFFFF"/>
                    </a:solidFill>
                  </a:tcPr>
                </a:tc>
                <a:tc>
                  <a:txBody>
                    <a:bodyPr wrap="square"/>
                    <a:lstStyle/>
                    <a:p>
                      <a:pPr algn="ctr">
                        <a:defRPr sz="950" b="0">
                          <a:solidFill>
                            <a:srgbClr val="172B45"/>
                          </a:solidFill>
                          <a:latin typeface="Segoe UI"/>
                        </a:defRPr>
                      </a:pPr>
                      <a:r>
                        <a:rPr sz="950" b="0">
                          <a:solidFill>
                            <a:srgbClr val="172B45"/>
                          </a:solidFill>
                          <a:latin typeface="Segoe UI"/>
                        </a:rPr>
                        <a:t>0.0000</a:t>
                      </a:r>
                    </a:p>
                  </a:txBody>
                  <a:tcPr anchor="ctr" marL="73152" marR="73152" marT="45720" marB="45720">
                    <a:solidFill>
                      <a:srgbClr val="FFFFFF"/>
                    </a:solidFill>
                  </a:tcPr>
                </a:tc>
                <a:tc>
                  <a:txBody>
                    <a:bodyPr wrap="square"/>
                    <a:lstStyle/>
                    <a:p>
                      <a:pPr algn="ctr">
                        <a:defRPr sz="950" b="0">
                          <a:solidFill>
                            <a:srgbClr val="172B45"/>
                          </a:solidFill>
                          <a:latin typeface="Segoe UI"/>
                        </a:defRPr>
                      </a:pPr>
                      <a:r>
                        <a:rPr sz="950" b="0">
                          <a:solidFill>
                            <a:srgbClr val="172B45"/>
                          </a:solidFill>
                          <a:latin typeface="Segoe UI"/>
                        </a:rPr>
                        <a:t>0.5000</a:t>
                      </a:r>
                    </a:p>
                  </a:txBody>
                  <a:tcPr anchor="ctr" marL="73152" marR="73152" marT="45720" marB="45720">
                    <a:solidFill>
                      <a:srgbClr val="FFFFFF"/>
                    </a:solidFill>
                  </a:tcPr>
                </a:tc>
              </a:tr>
              <a:tr h="418011">
                <a:tc>
                  <a:txBody>
                    <a:bodyPr wrap="square"/>
                    <a:lstStyle/>
                    <a:p>
                      <a:pPr algn="l">
                        <a:defRPr sz="950" b="0">
                          <a:solidFill>
                            <a:srgbClr val="172B45"/>
                          </a:solidFill>
                          <a:latin typeface="Segoe UI"/>
                        </a:defRPr>
                      </a:pPr>
                      <a:r>
                        <a:rPr sz="950" b="0">
                          <a:solidFill>
                            <a:srgbClr val="172B45"/>
                          </a:solidFill>
                          <a:latin typeface="Segoe UI"/>
                        </a:rPr>
                        <a:t>Logistic Regression</a:t>
                      </a:r>
                    </a:p>
                  </a:txBody>
                  <a:tcPr anchor="ctr" marL="73152" marR="73152" marT="45720" marB="45720">
                    <a:solidFill>
                      <a:srgbClr val="F8FAFC"/>
                    </a:solidFill>
                  </a:tcPr>
                </a:tc>
                <a:tc>
                  <a:txBody>
                    <a:bodyPr wrap="square"/>
                    <a:lstStyle/>
                    <a:p>
                      <a:pPr algn="ctr">
                        <a:defRPr sz="950" b="0">
                          <a:solidFill>
                            <a:srgbClr val="172B45"/>
                          </a:solidFill>
                          <a:latin typeface="Segoe UI"/>
                        </a:defRPr>
                      </a:pPr>
                      <a:r>
                        <a:rPr sz="950" b="0">
                          <a:solidFill>
                            <a:srgbClr val="172B45"/>
                          </a:solidFill>
                          <a:latin typeface="Segoe UI"/>
                        </a:rPr>
                        <a:t>80.85%</a:t>
                      </a:r>
                    </a:p>
                  </a:txBody>
                  <a:tcPr anchor="ctr" marL="73152" marR="73152" marT="45720" marB="45720">
                    <a:solidFill>
                      <a:srgbClr val="F8FAFC"/>
                    </a:solidFill>
                  </a:tcPr>
                </a:tc>
                <a:tc>
                  <a:txBody>
                    <a:bodyPr wrap="square"/>
                    <a:lstStyle/>
                    <a:p>
                      <a:pPr algn="ctr">
                        <a:defRPr sz="950" b="0">
                          <a:solidFill>
                            <a:srgbClr val="172B45"/>
                          </a:solidFill>
                          <a:latin typeface="Segoe UI"/>
                        </a:defRPr>
                      </a:pPr>
                      <a:r>
                        <a:rPr sz="950" b="0">
                          <a:solidFill>
                            <a:srgbClr val="172B45"/>
                          </a:solidFill>
                          <a:latin typeface="Segoe UI"/>
                        </a:rPr>
                        <a:t>80.09%</a:t>
                      </a:r>
                    </a:p>
                  </a:txBody>
                  <a:tcPr anchor="ctr" marL="73152" marR="73152" marT="45720" marB="45720">
                    <a:solidFill>
                      <a:srgbClr val="F8FAFC"/>
                    </a:solidFill>
                  </a:tcPr>
                </a:tc>
                <a:tc>
                  <a:txBody>
                    <a:bodyPr wrap="square"/>
                    <a:lstStyle/>
                    <a:p>
                      <a:pPr algn="ctr">
                        <a:defRPr sz="950" b="0">
                          <a:solidFill>
                            <a:srgbClr val="172B45"/>
                          </a:solidFill>
                          <a:latin typeface="Segoe UI"/>
                        </a:defRPr>
                      </a:pPr>
                      <a:r>
                        <a:rPr sz="950" b="0">
                          <a:solidFill>
                            <a:srgbClr val="172B45"/>
                          </a:solidFill>
                          <a:latin typeface="Segoe UI"/>
                        </a:rPr>
                        <a:t>78.95%</a:t>
                      </a:r>
                    </a:p>
                  </a:txBody>
                  <a:tcPr anchor="ctr" marL="73152" marR="73152" marT="45720" marB="45720">
                    <a:solidFill>
                      <a:srgbClr val="F8FAFC"/>
                    </a:solidFill>
                  </a:tcPr>
                </a:tc>
                <a:tc>
                  <a:txBody>
                    <a:bodyPr wrap="square"/>
                    <a:lstStyle/>
                    <a:p>
                      <a:pPr algn="ctr">
                        <a:defRPr sz="950" b="0">
                          <a:solidFill>
                            <a:srgbClr val="172B45"/>
                          </a:solidFill>
                          <a:latin typeface="Segoe UI"/>
                        </a:defRPr>
                      </a:pPr>
                      <a:r>
                        <a:rPr sz="950" b="0">
                          <a:solidFill>
                            <a:srgbClr val="172B45"/>
                          </a:solidFill>
                          <a:latin typeface="Segoe UI"/>
                        </a:rPr>
                        <a:t>75.00%</a:t>
                      </a:r>
                    </a:p>
                  </a:txBody>
                  <a:tcPr anchor="ctr" marL="73152" marR="73152" marT="45720" marB="45720">
                    <a:solidFill>
                      <a:srgbClr val="F8FAFC"/>
                    </a:solidFill>
                  </a:tcPr>
                </a:tc>
                <a:tc>
                  <a:txBody>
                    <a:bodyPr wrap="square"/>
                    <a:lstStyle/>
                    <a:p>
                      <a:pPr algn="ctr">
                        <a:defRPr sz="950" b="0">
                          <a:solidFill>
                            <a:srgbClr val="172B45"/>
                          </a:solidFill>
                          <a:latin typeface="Segoe UI"/>
                        </a:defRPr>
                      </a:pPr>
                      <a:r>
                        <a:rPr sz="950" b="0">
                          <a:solidFill>
                            <a:srgbClr val="172B45"/>
                          </a:solidFill>
                          <a:latin typeface="Segoe UI"/>
                        </a:rPr>
                        <a:t>85.19%</a:t>
                      </a:r>
                    </a:p>
                  </a:txBody>
                  <a:tcPr anchor="ctr" marL="73152" marR="73152" marT="45720" marB="45720">
                    <a:solidFill>
                      <a:srgbClr val="F8FAFC"/>
                    </a:solidFill>
                  </a:tcPr>
                </a:tc>
                <a:tc>
                  <a:txBody>
                    <a:bodyPr wrap="square"/>
                    <a:lstStyle/>
                    <a:p>
                      <a:pPr algn="ctr">
                        <a:defRPr sz="950" b="0">
                          <a:solidFill>
                            <a:srgbClr val="172B45"/>
                          </a:solidFill>
                          <a:latin typeface="Segoe UI"/>
                        </a:defRPr>
                      </a:pPr>
                      <a:r>
                        <a:rPr sz="950" b="0">
                          <a:solidFill>
                            <a:srgbClr val="172B45"/>
                          </a:solidFill>
                          <a:latin typeface="Segoe UI"/>
                        </a:rPr>
                        <a:t>0.7692</a:t>
                      </a:r>
                    </a:p>
                  </a:txBody>
                  <a:tcPr anchor="ctr" marL="73152" marR="73152" marT="45720" marB="45720">
                    <a:solidFill>
                      <a:srgbClr val="F8FAFC"/>
                    </a:solidFill>
                  </a:tcPr>
                </a:tc>
                <a:tc>
                  <a:txBody>
                    <a:bodyPr wrap="square"/>
                    <a:lstStyle/>
                    <a:p>
                      <a:pPr algn="ctr">
                        <a:defRPr sz="950" b="1">
                          <a:solidFill>
                            <a:srgbClr val="172B45"/>
                          </a:solidFill>
                          <a:latin typeface="Segoe UI"/>
                        </a:defRPr>
                      </a:pPr>
                      <a:r>
                        <a:rPr sz="950" b="1">
                          <a:solidFill>
                            <a:srgbClr val="172B45"/>
                          </a:solidFill>
                          <a:latin typeface="Segoe UI"/>
                        </a:rPr>
                        <a:t>0.9093</a:t>
                      </a:r>
                    </a:p>
                  </a:txBody>
                  <a:tcPr anchor="ctr" marL="73152" marR="73152" marT="45720" marB="45720">
                    <a:solidFill>
                      <a:srgbClr val="F8FAFC"/>
                    </a:solidFill>
                  </a:tcPr>
                </a:tc>
              </a:tr>
              <a:tr h="418011">
                <a:tc>
                  <a:txBody>
                    <a:bodyPr wrap="square"/>
                    <a:lstStyle/>
                    <a:p>
                      <a:pPr algn="l">
                        <a:defRPr sz="950" b="1">
                          <a:solidFill>
                            <a:srgbClr val="0F766E"/>
                          </a:solidFill>
                          <a:latin typeface="Segoe UI"/>
                        </a:defRPr>
                      </a:pPr>
                      <a:r>
                        <a:rPr sz="950" b="1">
                          <a:solidFill>
                            <a:srgbClr val="0F766E"/>
                          </a:solidFill>
                          <a:latin typeface="Segoe UI"/>
                        </a:rPr>
                        <a:t>Random Forest (Top)</a:t>
                      </a:r>
                    </a:p>
                  </a:txBody>
                  <a:tcPr anchor="ctr" marL="73152" marR="73152" marT="45720" marB="45720">
                    <a:solidFill>
                      <a:srgbClr val="ECFDF5"/>
                    </a:solidFill>
                  </a:tcPr>
                </a:tc>
                <a:tc>
                  <a:txBody>
                    <a:bodyPr wrap="square"/>
                    <a:lstStyle/>
                    <a:p>
                      <a:pPr algn="ctr">
                        <a:defRPr sz="950" b="1">
                          <a:solidFill>
                            <a:srgbClr val="0F766E"/>
                          </a:solidFill>
                          <a:latin typeface="Segoe UI"/>
                        </a:defRPr>
                      </a:pPr>
                      <a:r>
                        <a:rPr sz="950" b="1">
                          <a:solidFill>
                            <a:srgbClr val="0F766E"/>
                          </a:solidFill>
                          <a:latin typeface="Segoe UI"/>
                        </a:rPr>
                        <a:t>80.85%</a:t>
                      </a:r>
                    </a:p>
                  </a:txBody>
                  <a:tcPr anchor="ctr" marL="73152" marR="73152" marT="45720" marB="45720">
                    <a:solidFill>
                      <a:srgbClr val="ECFDF5"/>
                    </a:solidFill>
                  </a:tcPr>
                </a:tc>
                <a:tc>
                  <a:txBody>
                    <a:bodyPr wrap="square"/>
                    <a:lstStyle/>
                    <a:p>
                      <a:pPr algn="ctr">
                        <a:defRPr sz="950" b="1">
                          <a:solidFill>
                            <a:srgbClr val="0F766E"/>
                          </a:solidFill>
                          <a:latin typeface="Segoe UI"/>
                        </a:defRPr>
                      </a:pPr>
                      <a:r>
                        <a:rPr sz="950" b="1">
                          <a:solidFill>
                            <a:srgbClr val="0F766E"/>
                          </a:solidFill>
                          <a:latin typeface="Segoe UI"/>
                        </a:rPr>
                        <a:t>79.44%</a:t>
                      </a:r>
                    </a:p>
                  </a:txBody>
                  <a:tcPr anchor="ctr" marL="73152" marR="73152" marT="45720" marB="45720">
                    <a:solidFill>
                      <a:srgbClr val="ECFDF5"/>
                    </a:solidFill>
                  </a:tcPr>
                </a:tc>
                <a:tc>
                  <a:txBody>
                    <a:bodyPr wrap="square"/>
                    <a:lstStyle/>
                    <a:p>
                      <a:pPr algn="ctr">
                        <a:defRPr sz="950" b="1">
                          <a:solidFill>
                            <a:srgbClr val="0F766E"/>
                          </a:solidFill>
                          <a:latin typeface="Segoe UI"/>
                        </a:defRPr>
                      </a:pPr>
                      <a:r>
                        <a:rPr sz="950" b="1">
                          <a:solidFill>
                            <a:srgbClr val="0F766E"/>
                          </a:solidFill>
                          <a:latin typeface="Segoe UI"/>
                        </a:rPr>
                        <a:t>82.35%</a:t>
                      </a:r>
                    </a:p>
                  </a:txBody>
                  <a:tcPr anchor="ctr" marL="73152" marR="73152" marT="45720" marB="45720">
                    <a:solidFill>
                      <a:srgbClr val="ECFDF5"/>
                    </a:solidFill>
                  </a:tcPr>
                </a:tc>
                <a:tc>
                  <a:txBody>
                    <a:bodyPr wrap="square"/>
                    <a:lstStyle/>
                    <a:p>
                      <a:pPr algn="ctr">
                        <a:defRPr sz="950" b="1">
                          <a:solidFill>
                            <a:srgbClr val="0F766E"/>
                          </a:solidFill>
                          <a:latin typeface="Segoe UI"/>
                        </a:defRPr>
                      </a:pPr>
                      <a:r>
                        <a:rPr sz="950" b="1">
                          <a:solidFill>
                            <a:srgbClr val="0F766E"/>
                          </a:solidFill>
                          <a:latin typeface="Segoe UI"/>
                        </a:rPr>
                        <a:t>70.00%</a:t>
                      </a:r>
                    </a:p>
                  </a:txBody>
                  <a:tcPr anchor="ctr" marL="73152" marR="73152" marT="45720" marB="45720">
                    <a:solidFill>
                      <a:srgbClr val="ECFDF5"/>
                    </a:solidFill>
                  </a:tcPr>
                </a:tc>
                <a:tc>
                  <a:txBody>
                    <a:bodyPr wrap="square"/>
                    <a:lstStyle/>
                    <a:p>
                      <a:pPr algn="ctr">
                        <a:defRPr sz="950" b="1">
                          <a:solidFill>
                            <a:srgbClr val="0F766E"/>
                          </a:solidFill>
                          <a:latin typeface="Segoe UI"/>
                        </a:defRPr>
                      </a:pPr>
                      <a:r>
                        <a:rPr sz="950" b="1">
                          <a:solidFill>
                            <a:srgbClr val="0F766E"/>
                          </a:solidFill>
                          <a:latin typeface="Segoe UI"/>
                        </a:rPr>
                        <a:t>88.89%</a:t>
                      </a:r>
                    </a:p>
                  </a:txBody>
                  <a:tcPr anchor="ctr" marL="73152" marR="73152" marT="45720" marB="45720">
                    <a:solidFill>
                      <a:srgbClr val="ECFDF5"/>
                    </a:solidFill>
                  </a:tcPr>
                </a:tc>
                <a:tc>
                  <a:txBody>
                    <a:bodyPr wrap="square"/>
                    <a:lstStyle/>
                    <a:p>
                      <a:pPr algn="ctr">
                        <a:defRPr sz="950" b="1">
                          <a:solidFill>
                            <a:srgbClr val="0F766E"/>
                          </a:solidFill>
                          <a:latin typeface="Segoe UI"/>
                        </a:defRPr>
                      </a:pPr>
                      <a:r>
                        <a:rPr sz="950" b="1">
                          <a:solidFill>
                            <a:srgbClr val="0F766E"/>
                          </a:solidFill>
                          <a:latin typeface="Segoe UI"/>
                        </a:rPr>
                        <a:t>0.7568</a:t>
                      </a:r>
                    </a:p>
                  </a:txBody>
                  <a:tcPr anchor="ctr" marL="73152" marR="73152" marT="45720" marB="45720">
                    <a:solidFill>
                      <a:srgbClr val="ECFDF5"/>
                    </a:solidFill>
                  </a:tcPr>
                </a:tc>
                <a:tc>
                  <a:txBody>
                    <a:bodyPr wrap="square"/>
                    <a:lstStyle/>
                    <a:p>
                      <a:pPr algn="ctr">
                        <a:defRPr sz="950" b="1">
                          <a:solidFill>
                            <a:srgbClr val="0F766E"/>
                          </a:solidFill>
                          <a:latin typeface="Segoe UI"/>
                        </a:defRPr>
                      </a:pPr>
                      <a:r>
                        <a:rPr sz="950" b="1">
                          <a:solidFill>
                            <a:srgbClr val="0F766E"/>
                          </a:solidFill>
                          <a:latin typeface="Segoe UI"/>
                        </a:rPr>
                        <a:t>0.9370</a:t>
                      </a:r>
                    </a:p>
                  </a:txBody>
                  <a:tcPr anchor="ctr" marL="73152" marR="73152" marT="45720" marB="45720">
                    <a:solidFill>
                      <a:srgbClr val="ECFDF5"/>
                    </a:solidFill>
                  </a:tcPr>
                </a:tc>
              </a:tr>
              <a:tr h="418011">
                <a:tc>
                  <a:txBody>
                    <a:bodyPr wrap="square"/>
                    <a:lstStyle/>
                    <a:p>
                      <a:pPr algn="l">
                        <a:defRPr sz="950" b="0">
                          <a:solidFill>
                            <a:srgbClr val="172B45"/>
                          </a:solidFill>
                          <a:latin typeface="Segoe UI"/>
                        </a:defRPr>
                      </a:pPr>
                      <a:r>
                        <a:rPr sz="950" b="0">
                          <a:solidFill>
                            <a:srgbClr val="172B45"/>
                          </a:solidFill>
                          <a:latin typeface="Segoe UI"/>
                        </a:rPr>
                        <a:t>Support Vector Machine</a:t>
                      </a:r>
                    </a:p>
                  </a:txBody>
                  <a:tcPr anchor="ctr" marL="73152" marR="73152" marT="45720" marB="45720">
                    <a:solidFill>
                      <a:srgbClr val="F8FAFC"/>
                    </a:solidFill>
                  </a:tcPr>
                </a:tc>
                <a:tc>
                  <a:txBody>
                    <a:bodyPr wrap="square"/>
                    <a:lstStyle/>
                    <a:p>
                      <a:pPr algn="ctr">
                        <a:defRPr sz="950" b="0">
                          <a:solidFill>
                            <a:srgbClr val="172B45"/>
                          </a:solidFill>
                          <a:latin typeface="Segoe UI"/>
                        </a:defRPr>
                      </a:pPr>
                      <a:r>
                        <a:rPr sz="950" b="0">
                          <a:solidFill>
                            <a:srgbClr val="172B45"/>
                          </a:solidFill>
                          <a:latin typeface="Segoe UI"/>
                        </a:rPr>
                        <a:t>78.72%</a:t>
                      </a:r>
                    </a:p>
                  </a:txBody>
                  <a:tcPr anchor="ctr" marL="73152" marR="73152" marT="45720" marB="45720">
                    <a:solidFill>
                      <a:srgbClr val="F8FAFC"/>
                    </a:solidFill>
                  </a:tcPr>
                </a:tc>
                <a:tc>
                  <a:txBody>
                    <a:bodyPr wrap="square"/>
                    <a:lstStyle/>
                    <a:p>
                      <a:pPr algn="ctr">
                        <a:defRPr sz="950" b="0">
                          <a:solidFill>
                            <a:srgbClr val="172B45"/>
                          </a:solidFill>
                          <a:latin typeface="Segoe UI"/>
                        </a:defRPr>
                      </a:pPr>
                      <a:r>
                        <a:rPr sz="950" b="0">
                          <a:solidFill>
                            <a:srgbClr val="172B45"/>
                          </a:solidFill>
                          <a:latin typeface="Segoe UI"/>
                        </a:rPr>
                        <a:t>78.24%</a:t>
                      </a:r>
                    </a:p>
                  </a:txBody>
                  <a:tcPr anchor="ctr" marL="73152" marR="73152" marT="45720" marB="45720">
                    <a:solidFill>
                      <a:srgbClr val="F8FAFC"/>
                    </a:solidFill>
                  </a:tcPr>
                </a:tc>
                <a:tc>
                  <a:txBody>
                    <a:bodyPr wrap="square"/>
                    <a:lstStyle/>
                    <a:p>
                      <a:pPr algn="ctr">
                        <a:defRPr sz="950" b="0">
                          <a:solidFill>
                            <a:srgbClr val="172B45"/>
                          </a:solidFill>
                          <a:latin typeface="Segoe UI"/>
                        </a:defRPr>
                      </a:pPr>
                      <a:r>
                        <a:rPr sz="950" b="0">
                          <a:solidFill>
                            <a:srgbClr val="172B45"/>
                          </a:solidFill>
                          <a:latin typeface="Segoe UI"/>
                        </a:rPr>
                        <a:t>75.00%</a:t>
                      </a:r>
                    </a:p>
                  </a:txBody>
                  <a:tcPr anchor="ctr" marL="73152" marR="73152" marT="45720" marB="45720">
                    <a:solidFill>
                      <a:srgbClr val="F8FAFC"/>
                    </a:solidFill>
                  </a:tcPr>
                </a:tc>
                <a:tc>
                  <a:txBody>
                    <a:bodyPr wrap="square"/>
                    <a:lstStyle/>
                    <a:p>
                      <a:pPr algn="ctr">
                        <a:defRPr sz="950" b="0">
                          <a:solidFill>
                            <a:srgbClr val="172B45"/>
                          </a:solidFill>
                          <a:latin typeface="Segoe UI"/>
                        </a:defRPr>
                      </a:pPr>
                      <a:r>
                        <a:rPr sz="950" b="0">
                          <a:solidFill>
                            <a:srgbClr val="172B45"/>
                          </a:solidFill>
                          <a:latin typeface="Segoe UI"/>
                        </a:rPr>
                        <a:t>75.00%</a:t>
                      </a:r>
                    </a:p>
                  </a:txBody>
                  <a:tcPr anchor="ctr" marL="73152" marR="73152" marT="45720" marB="45720">
                    <a:solidFill>
                      <a:srgbClr val="F8FAFC"/>
                    </a:solidFill>
                  </a:tcPr>
                </a:tc>
                <a:tc>
                  <a:txBody>
                    <a:bodyPr wrap="square"/>
                    <a:lstStyle/>
                    <a:p>
                      <a:pPr algn="ctr">
                        <a:defRPr sz="950" b="0">
                          <a:solidFill>
                            <a:srgbClr val="172B45"/>
                          </a:solidFill>
                          <a:latin typeface="Segoe UI"/>
                        </a:defRPr>
                      </a:pPr>
                      <a:r>
                        <a:rPr sz="950" b="0">
                          <a:solidFill>
                            <a:srgbClr val="172B45"/>
                          </a:solidFill>
                          <a:latin typeface="Segoe UI"/>
                        </a:rPr>
                        <a:t>81.48%</a:t>
                      </a:r>
                    </a:p>
                  </a:txBody>
                  <a:tcPr anchor="ctr" marL="73152" marR="73152" marT="45720" marB="45720">
                    <a:solidFill>
                      <a:srgbClr val="F8FAFC"/>
                    </a:solidFill>
                  </a:tcPr>
                </a:tc>
                <a:tc>
                  <a:txBody>
                    <a:bodyPr wrap="square"/>
                    <a:lstStyle/>
                    <a:p>
                      <a:pPr algn="ctr">
                        <a:defRPr sz="950" b="0">
                          <a:solidFill>
                            <a:srgbClr val="172B45"/>
                          </a:solidFill>
                          <a:latin typeface="Segoe UI"/>
                        </a:defRPr>
                      </a:pPr>
                      <a:r>
                        <a:rPr sz="950" b="0">
                          <a:solidFill>
                            <a:srgbClr val="172B45"/>
                          </a:solidFill>
                          <a:latin typeface="Segoe UI"/>
                        </a:rPr>
                        <a:t>0.7500</a:t>
                      </a:r>
                    </a:p>
                  </a:txBody>
                  <a:tcPr anchor="ctr" marL="73152" marR="73152" marT="45720" marB="45720">
                    <a:solidFill>
                      <a:srgbClr val="F8FAFC"/>
                    </a:solidFill>
                  </a:tcPr>
                </a:tc>
                <a:tc>
                  <a:txBody>
                    <a:bodyPr wrap="square"/>
                    <a:lstStyle/>
                    <a:p>
                      <a:pPr algn="ctr">
                        <a:defRPr sz="950" b="0">
                          <a:solidFill>
                            <a:srgbClr val="172B45"/>
                          </a:solidFill>
                          <a:latin typeface="Segoe UI"/>
                        </a:defRPr>
                      </a:pPr>
                      <a:r>
                        <a:rPr sz="950" b="0">
                          <a:solidFill>
                            <a:srgbClr val="172B45"/>
                          </a:solidFill>
                          <a:latin typeface="Segoe UI"/>
                        </a:rPr>
                        <a:t>0.9120</a:t>
                      </a:r>
                    </a:p>
                  </a:txBody>
                  <a:tcPr anchor="ctr" marL="73152" marR="73152" marT="45720" marB="45720">
                    <a:solidFill>
                      <a:srgbClr val="F8FAFC"/>
                    </a:solidFill>
                  </a:tcPr>
                </a:tc>
              </a:tr>
              <a:tr h="418011">
                <a:tc>
                  <a:txBody>
                    <a:bodyPr wrap="square"/>
                    <a:lstStyle/>
                    <a:p>
                      <a:pPr algn="l">
                        <a:defRPr sz="950" b="0">
                          <a:solidFill>
                            <a:srgbClr val="172B45"/>
                          </a:solidFill>
                          <a:latin typeface="Segoe UI"/>
                        </a:defRPr>
                      </a:pPr>
                      <a:r>
                        <a:rPr sz="950" b="0">
                          <a:solidFill>
                            <a:srgbClr val="172B45"/>
                          </a:solidFill>
                          <a:latin typeface="Segoe UI"/>
                        </a:rPr>
                        <a:t>Gradient Boosting</a:t>
                      </a:r>
                    </a:p>
                  </a:txBody>
                  <a:tcPr anchor="ctr" marL="73152" marR="73152" marT="45720" marB="45720">
                    <a:solidFill>
                      <a:srgbClr val="FFFFFF"/>
                    </a:solidFill>
                  </a:tcPr>
                </a:tc>
                <a:tc>
                  <a:txBody>
                    <a:bodyPr wrap="square"/>
                    <a:lstStyle/>
                    <a:p>
                      <a:pPr algn="ctr">
                        <a:defRPr sz="950" b="0">
                          <a:solidFill>
                            <a:srgbClr val="172B45"/>
                          </a:solidFill>
                          <a:latin typeface="Segoe UI"/>
                        </a:defRPr>
                      </a:pPr>
                      <a:r>
                        <a:rPr sz="950" b="0">
                          <a:solidFill>
                            <a:srgbClr val="172B45"/>
                          </a:solidFill>
                          <a:latin typeface="Segoe UI"/>
                        </a:rPr>
                        <a:t>78.72%</a:t>
                      </a:r>
                    </a:p>
                  </a:txBody>
                  <a:tcPr anchor="ctr" marL="73152" marR="73152" marT="45720" marB="45720">
                    <a:solidFill>
                      <a:srgbClr val="FFFFFF"/>
                    </a:solidFill>
                  </a:tcPr>
                </a:tc>
                <a:tc>
                  <a:txBody>
                    <a:bodyPr wrap="square"/>
                    <a:lstStyle/>
                    <a:p>
                      <a:pPr algn="ctr">
                        <a:defRPr sz="950" b="0">
                          <a:solidFill>
                            <a:srgbClr val="172B45"/>
                          </a:solidFill>
                          <a:latin typeface="Segoe UI"/>
                        </a:defRPr>
                      </a:pPr>
                      <a:r>
                        <a:rPr sz="950" b="0">
                          <a:solidFill>
                            <a:srgbClr val="172B45"/>
                          </a:solidFill>
                          <a:latin typeface="Segoe UI"/>
                        </a:rPr>
                        <a:t>77.59%</a:t>
                      </a:r>
                    </a:p>
                  </a:txBody>
                  <a:tcPr anchor="ctr" marL="73152" marR="73152" marT="45720" marB="45720">
                    <a:solidFill>
                      <a:srgbClr val="FFFFFF"/>
                    </a:solidFill>
                  </a:tcPr>
                </a:tc>
                <a:tc>
                  <a:txBody>
                    <a:bodyPr wrap="square"/>
                    <a:lstStyle/>
                    <a:p>
                      <a:pPr algn="ctr">
                        <a:defRPr sz="950" b="0">
                          <a:solidFill>
                            <a:srgbClr val="172B45"/>
                          </a:solidFill>
                          <a:latin typeface="Segoe UI"/>
                        </a:defRPr>
                      </a:pPr>
                      <a:r>
                        <a:rPr sz="950" b="0">
                          <a:solidFill>
                            <a:srgbClr val="172B45"/>
                          </a:solidFill>
                          <a:latin typeface="Segoe UI"/>
                        </a:rPr>
                        <a:t>77.78%</a:t>
                      </a:r>
                    </a:p>
                  </a:txBody>
                  <a:tcPr anchor="ctr" marL="73152" marR="73152" marT="45720" marB="45720">
                    <a:solidFill>
                      <a:srgbClr val="FFFFFF"/>
                    </a:solidFill>
                  </a:tcPr>
                </a:tc>
                <a:tc>
                  <a:txBody>
                    <a:bodyPr wrap="square"/>
                    <a:lstStyle/>
                    <a:p>
                      <a:pPr algn="ctr">
                        <a:defRPr sz="950" b="0">
                          <a:solidFill>
                            <a:srgbClr val="172B45"/>
                          </a:solidFill>
                          <a:latin typeface="Segoe UI"/>
                        </a:defRPr>
                      </a:pPr>
                      <a:r>
                        <a:rPr sz="950" b="0">
                          <a:solidFill>
                            <a:srgbClr val="172B45"/>
                          </a:solidFill>
                          <a:latin typeface="Segoe UI"/>
                        </a:rPr>
                        <a:t>70.00%</a:t>
                      </a:r>
                    </a:p>
                  </a:txBody>
                  <a:tcPr anchor="ctr" marL="73152" marR="73152" marT="45720" marB="45720">
                    <a:solidFill>
                      <a:srgbClr val="FFFFFF"/>
                    </a:solidFill>
                  </a:tcPr>
                </a:tc>
                <a:tc>
                  <a:txBody>
                    <a:bodyPr wrap="square"/>
                    <a:lstStyle/>
                    <a:p>
                      <a:pPr algn="ctr">
                        <a:defRPr sz="950" b="0">
                          <a:solidFill>
                            <a:srgbClr val="172B45"/>
                          </a:solidFill>
                          <a:latin typeface="Segoe UI"/>
                        </a:defRPr>
                      </a:pPr>
                      <a:r>
                        <a:rPr sz="950" b="0">
                          <a:solidFill>
                            <a:srgbClr val="172B45"/>
                          </a:solidFill>
                          <a:latin typeface="Segoe UI"/>
                        </a:rPr>
                        <a:t>85.19%</a:t>
                      </a:r>
                    </a:p>
                  </a:txBody>
                  <a:tcPr anchor="ctr" marL="73152" marR="73152" marT="45720" marB="45720">
                    <a:solidFill>
                      <a:srgbClr val="FFFFFF"/>
                    </a:solidFill>
                  </a:tcPr>
                </a:tc>
                <a:tc>
                  <a:txBody>
                    <a:bodyPr wrap="square"/>
                    <a:lstStyle/>
                    <a:p>
                      <a:pPr algn="ctr">
                        <a:defRPr sz="950" b="0">
                          <a:solidFill>
                            <a:srgbClr val="172B45"/>
                          </a:solidFill>
                          <a:latin typeface="Segoe UI"/>
                        </a:defRPr>
                      </a:pPr>
                      <a:r>
                        <a:rPr sz="950" b="0">
                          <a:solidFill>
                            <a:srgbClr val="172B45"/>
                          </a:solidFill>
                          <a:latin typeface="Segoe UI"/>
                        </a:rPr>
                        <a:t>0.7368</a:t>
                      </a:r>
                    </a:p>
                  </a:txBody>
                  <a:tcPr anchor="ctr" marL="73152" marR="73152" marT="45720" marB="45720">
                    <a:solidFill>
                      <a:srgbClr val="FFFFFF"/>
                    </a:solidFill>
                  </a:tcPr>
                </a:tc>
                <a:tc>
                  <a:txBody>
                    <a:bodyPr wrap="square"/>
                    <a:lstStyle/>
                    <a:p>
                      <a:pPr algn="ctr">
                        <a:defRPr sz="950" b="0">
                          <a:solidFill>
                            <a:srgbClr val="172B45"/>
                          </a:solidFill>
                          <a:latin typeface="Segoe UI"/>
                        </a:defRPr>
                      </a:pPr>
                      <a:r>
                        <a:rPr sz="950" b="0">
                          <a:solidFill>
                            <a:srgbClr val="172B45"/>
                          </a:solidFill>
                          <a:latin typeface="Segoe UI"/>
                        </a:rPr>
                        <a:t>0.9222</a:t>
                      </a:r>
                    </a:p>
                  </a:txBody>
                  <a:tcPr anchor="ctr" marL="73152" marR="73152" marT="45720" marB="45720">
                    <a:solidFill>
                      <a:srgbClr val="FFFFFF"/>
                    </a:solidFill>
                  </a:tcPr>
                </a:tc>
              </a:tr>
              <a:tr h="418014">
                <a:tc>
                  <a:txBody>
                    <a:bodyPr wrap="square"/>
                    <a:lstStyle/>
                    <a:p>
                      <a:pPr algn="l">
                        <a:defRPr sz="950" b="0">
                          <a:solidFill>
                            <a:srgbClr val="172B45"/>
                          </a:solidFill>
                          <a:latin typeface="Segoe UI"/>
                        </a:defRPr>
                      </a:pPr>
                      <a:r>
                        <a:rPr sz="950" b="0">
                          <a:solidFill>
                            <a:srgbClr val="172B45"/>
                          </a:solidFill>
                          <a:latin typeface="Segoe UI"/>
                        </a:rPr>
                        <a:t>Soft Voting Ensemble</a:t>
                      </a:r>
                    </a:p>
                  </a:txBody>
                  <a:tcPr anchor="ctr" marL="73152" marR="73152" marT="45720" marB="45720">
                    <a:solidFill>
                      <a:srgbClr val="F8FAFC"/>
                    </a:solidFill>
                  </a:tcPr>
                </a:tc>
                <a:tc>
                  <a:txBody>
                    <a:bodyPr wrap="square"/>
                    <a:lstStyle/>
                    <a:p>
                      <a:pPr algn="ctr">
                        <a:defRPr sz="950" b="0">
                          <a:solidFill>
                            <a:srgbClr val="172B45"/>
                          </a:solidFill>
                          <a:latin typeface="Segoe UI"/>
                        </a:defRPr>
                      </a:pPr>
                      <a:r>
                        <a:rPr sz="950" b="0">
                          <a:solidFill>
                            <a:srgbClr val="172B45"/>
                          </a:solidFill>
                          <a:latin typeface="Segoe UI"/>
                        </a:rPr>
                        <a:t>78.72%</a:t>
                      </a:r>
                    </a:p>
                  </a:txBody>
                  <a:tcPr anchor="ctr" marL="73152" marR="73152" marT="45720" marB="45720">
                    <a:solidFill>
                      <a:srgbClr val="F8FAFC"/>
                    </a:solidFill>
                  </a:tcPr>
                </a:tc>
                <a:tc>
                  <a:txBody>
                    <a:bodyPr wrap="square"/>
                    <a:lstStyle/>
                    <a:p>
                      <a:pPr algn="ctr">
                        <a:defRPr sz="950" b="0">
                          <a:solidFill>
                            <a:srgbClr val="172B45"/>
                          </a:solidFill>
                          <a:latin typeface="Segoe UI"/>
                        </a:defRPr>
                      </a:pPr>
                      <a:r>
                        <a:rPr sz="950" b="0">
                          <a:solidFill>
                            <a:srgbClr val="172B45"/>
                          </a:solidFill>
                          <a:latin typeface="Segoe UI"/>
                        </a:rPr>
                        <a:t>77.59%</a:t>
                      </a:r>
                    </a:p>
                  </a:txBody>
                  <a:tcPr anchor="ctr" marL="73152" marR="73152" marT="45720" marB="45720">
                    <a:solidFill>
                      <a:srgbClr val="F8FAFC"/>
                    </a:solidFill>
                  </a:tcPr>
                </a:tc>
                <a:tc>
                  <a:txBody>
                    <a:bodyPr wrap="square"/>
                    <a:lstStyle/>
                    <a:p>
                      <a:pPr algn="ctr">
                        <a:defRPr sz="950" b="0">
                          <a:solidFill>
                            <a:srgbClr val="172B45"/>
                          </a:solidFill>
                          <a:latin typeface="Segoe UI"/>
                        </a:defRPr>
                      </a:pPr>
                      <a:r>
                        <a:rPr sz="950" b="0">
                          <a:solidFill>
                            <a:srgbClr val="172B45"/>
                          </a:solidFill>
                          <a:latin typeface="Segoe UI"/>
                        </a:rPr>
                        <a:t>77.78%</a:t>
                      </a:r>
                    </a:p>
                  </a:txBody>
                  <a:tcPr anchor="ctr" marL="73152" marR="73152" marT="45720" marB="45720">
                    <a:solidFill>
                      <a:srgbClr val="F8FAFC"/>
                    </a:solidFill>
                  </a:tcPr>
                </a:tc>
                <a:tc>
                  <a:txBody>
                    <a:bodyPr wrap="square"/>
                    <a:lstStyle/>
                    <a:p>
                      <a:pPr algn="ctr">
                        <a:defRPr sz="950" b="0">
                          <a:solidFill>
                            <a:srgbClr val="172B45"/>
                          </a:solidFill>
                          <a:latin typeface="Segoe UI"/>
                        </a:defRPr>
                      </a:pPr>
                      <a:r>
                        <a:rPr sz="950" b="0">
                          <a:solidFill>
                            <a:srgbClr val="172B45"/>
                          </a:solidFill>
                          <a:latin typeface="Segoe UI"/>
                        </a:rPr>
                        <a:t>70.00%</a:t>
                      </a:r>
                    </a:p>
                  </a:txBody>
                  <a:tcPr anchor="ctr" marL="73152" marR="73152" marT="45720" marB="45720">
                    <a:solidFill>
                      <a:srgbClr val="F8FAFC"/>
                    </a:solidFill>
                  </a:tcPr>
                </a:tc>
                <a:tc>
                  <a:txBody>
                    <a:bodyPr wrap="square"/>
                    <a:lstStyle/>
                    <a:p>
                      <a:pPr algn="ctr">
                        <a:defRPr sz="950" b="0">
                          <a:solidFill>
                            <a:srgbClr val="172B45"/>
                          </a:solidFill>
                          <a:latin typeface="Segoe UI"/>
                        </a:defRPr>
                      </a:pPr>
                      <a:r>
                        <a:rPr sz="950" b="0">
                          <a:solidFill>
                            <a:srgbClr val="172B45"/>
                          </a:solidFill>
                          <a:latin typeface="Segoe UI"/>
                        </a:rPr>
                        <a:t>85.19%</a:t>
                      </a:r>
                    </a:p>
                  </a:txBody>
                  <a:tcPr anchor="ctr" marL="73152" marR="73152" marT="45720" marB="45720">
                    <a:solidFill>
                      <a:srgbClr val="F8FAFC"/>
                    </a:solidFill>
                  </a:tcPr>
                </a:tc>
                <a:tc>
                  <a:txBody>
                    <a:bodyPr wrap="square"/>
                    <a:lstStyle/>
                    <a:p>
                      <a:pPr algn="ctr">
                        <a:defRPr sz="950" b="0">
                          <a:solidFill>
                            <a:srgbClr val="172B45"/>
                          </a:solidFill>
                          <a:latin typeface="Segoe UI"/>
                        </a:defRPr>
                      </a:pPr>
                      <a:r>
                        <a:rPr sz="950" b="0">
                          <a:solidFill>
                            <a:srgbClr val="172B45"/>
                          </a:solidFill>
                          <a:latin typeface="Segoe UI"/>
                        </a:rPr>
                        <a:t>0.7368</a:t>
                      </a:r>
                    </a:p>
                  </a:txBody>
                  <a:tcPr anchor="ctr" marL="73152" marR="73152" marT="45720" marB="45720">
                    <a:solidFill>
                      <a:srgbClr val="F8FAFC"/>
                    </a:solidFill>
                  </a:tcPr>
                </a:tc>
                <a:tc>
                  <a:txBody>
                    <a:bodyPr wrap="square"/>
                    <a:lstStyle/>
                    <a:p>
                      <a:pPr algn="ctr">
                        <a:defRPr sz="950" b="1">
                          <a:solidFill>
                            <a:srgbClr val="172B45"/>
                          </a:solidFill>
                          <a:latin typeface="Segoe UI"/>
                        </a:defRPr>
                      </a:pPr>
                      <a:r>
                        <a:rPr sz="950" b="1">
                          <a:solidFill>
                            <a:srgbClr val="172B45"/>
                          </a:solidFill>
                          <a:latin typeface="Segoe UI"/>
                        </a:rPr>
                        <a:t>0.9296</a:t>
                      </a:r>
                    </a:p>
                  </a:txBody>
                  <a:tcPr anchor="ctr" marL="73152" marR="73152" marT="45720" marB="45720">
                    <a:solidFill>
                      <a:srgbClr val="F8FAFC"/>
                    </a:solidFill>
                  </a:tcPr>
                </a:tc>
              </a:tr>
            </a:tbl>
          </a:graphicData>
        </a:graphic>
      </p:graphicFrame>
      <p:sp>
        <p:nvSpPr>
          <p:cNvPr id="15" name="Rounded Rectangle 14"/>
          <p:cNvSpPr/>
          <p:nvPr/>
        </p:nvSpPr>
        <p:spPr>
          <a:xfrm>
            <a:off x="731520" y="5532120"/>
            <a:ext cx="10728655"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596128"/>
            <a:ext cx="10362895" cy="731520"/>
          </a:xfrm>
          <a:prstGeom prst="rect">
            <a:avLst/>
          </a:prstGeom>
          <a:noFill/>
        </p:spPr>
        <p:txBody>
          <a:bodyPr wrap="square">
            <a:spAutoFit/>
          </a:bodyPr>
          <a:lstStyle/>
          <a:p>
            <a:pPr>
              <a:defRPr sz="1000" b="1">
                <a:solidFill>
                  <a:srgbClr val="172B45"/>
                </a:solidFill>
                <a:latin typeface="Segoe UI"/>
              </a:defRPr>
            </a:pPr>
            <a:r>
              <a:t>Key Findings on Held-Out Test Cohort (N=47; 27 Control, 20 Dementia):</a:t>
            </a:r>
          </a:p>
          <a:p>
            <a:pPr>
              <a:spcBef>
                <a:spcPts val="200"/>
              </a:spcBef>
              <a:defRPr sz="950">
                <a:solidFill>
                  <a:srgbClr val="334155"/>
                </a:solidFill>
                <a:latin typeface="Segoe UI"/>
              </a:defRPr>
            </a:pPr>
            <a:r>
              <a:t>• Top Discriminative Power: Random Forest achieved highest ROC-AUC (0.9370) and PR-AUC (0.9277) with 88.89% clinical specificity.</a:t>
            </a:r>
            <a:br/>
            <a:r>
              <a:t>• Clinical Balance: Logistic Regression achieved 80.85% accuracy and 80.09% balanced accuracy with 75.00% sensitivity.</a:t>
            </a:r>
            <a:br/>
            <a:r>
              <a:t>• Ensemble Stability: Soft Voting Ensemble delivered 0.9296 ROC-AUC, confirming consistent posterior probability calibration.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474720" cy="256032"/>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50" b="1">
                <a:solidFill>
                  <a:srgbClr val="0F766E"/>
                </a:solidFill>
                <a:latin typeface="Segoe UI"/>
              </a:defRPr>
            </a:pPr>
            <a:r>
              <a:t>VISUAL PERFORMANCE AUDIT</a:t>
            </a:r>
          </a:p>
        </p:txBody>
      </p:sp>
      <p:sp>
        <p:nvSpPr>
          <p:cNvPr id="4" name="TextBox 3"/>
          <p:cNvSpPr txBox="1"/>
          <p:nvPr/>
        </p:nvSpPr>
        <p:spPr>
          <a:xfrm>
            <a:off x="731520" y="676656"/>
            <a:ext cx="10728655" cy="548640"/>
          </a:xfrm>
          <a:prstGeom prst="rect">
            <a:avLst/>
          </a:prstGeom>
          <a:noFill/>
        </p:spPr>
        <p:txBody>
          <a:bodyPr wrap="square" lIns="0" rIns="0" tIns="0" bIns="0">
            <a:spAutoFit/>
          </a:bodyPr>
          <a:lstStyle/>
          <a:p>
            <a:pPr>
              <a:defRPr sz="2100" b="1">
                <a:solidFill>
                  <a:srgbClr val="172B45"/>
                </a:solidFill>
                <a:latin typeface="Segoe UI"/>
              </a:defRPr>
            </a:pPr>
            <a:r>
              <a:t>ROC Analysis &amp; Confusion Matrix Performance</a:t>
            </a:r>
          </a:p>
        </p:txBody>
      </p:sp>
      <p:sp>
        <p:nvSpPr>
          <p:cNvPr id="5" name="Rectangle 4"/>
          <p:cNvSpPr/>
          <p:nvPr/>
        </p:nvSpPr>
        <p:spPr>
          <a:xfrm>
            <a:off x="731520" y="12618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7772400" cy="274320"/>
          </a:xfrm>
          <a:prstGeom prst="rect">
            <a:avLst/>
          </a:prstGeom>
          <a:noFill/>
        </p:spPr>
        <p:txBody>
          <a:bodyPr wrap="none" lIns="0" rIns="0" tIns="0" bIns="0">
            <a:spAutoFit/>
          </a:bodyPr>
          <a:lstStyle/>
          <a:p>
            <a:pPr>
              <a:defRPr sz="900">
                <a:solidFill>
                  <a:srgbClr val="64748B"/>
                </a:solidFill>
                <a:latin typeface="Segoe UI"/>
              </a:defRPr>
            </a:pPr>
            <a:r>
              <a:t>Symbiosis Institute of Technology, Nagpur • B.Tech CSE (CA3 Evaluation) • Explainable Multimodal ML</a:t>
            </a:r>
          </a:p>
        </p:txBody>
      </p:sp>
      <p:sp>
        <p:nvSpPr>
          <p:cNvPr id="7" name="TextBox 6"/>
          <p:cNvSpPr txBox="1"/>
          <p:nvPr/>
        </p:nvSpPr>
        <p:spPr>
          <a:xfrm>
            <a:off x="9601200" y="6510528"/>
            <a:ext cx="1858975" cy="274320"/>
          </a:xfrm>
          <a:prstGeom prst="rect">
            <a:avLst/>
          </a:prstGeom>
          <a:noFill/>
        </p:spPr>
        <p:txBody>
          <a:bodyPr wrap="none" lIns="0" rIns="0" tIns="0" bIns="0">
            <a:spAutoFit/>
          </a:bodyPr>
          <a:lstStyle/>
          <a:p>
            <a:pPr algn="r">
              <a:defRPr sz="900" b="1">
                <a:solidFill>
                  <a:srgbClr val="168C8C"/>
                </a:solidFill>
                <a:latin typeface="Segoe UI"/>
              </a:defRPr>
            </a:pPr>
            <a:r>
              <a:t>Slide 12 / 15</a:t>
            </a:r>
          </a:p>
        </p:txBody>
      </p:sp>
      <p:sp>
        <p:nvSpPr>
          <p:cNvPr id="8" name="Rounded Rectangle 7"/>
          <p:cNvSpPr/>
          <p:nvPr/>
        </p:nvSpPr>
        <p:spPr>
          <a:xfrm>
            <a:off x="731520" y="1417320"/>
            <a:ext cx="5257800" cy="4892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lide_12_img_3_Picture 4.jpg"/>
          <p:cNvPicPr>
            <a:picLocks noChangeAspect="1"/>
          </p:cNvPicPr>
          <p:nvPr/>
        </p:nvPicPr>
        <p:blipFill>
          <a:blip r:embed="rId2"/>
          <a:stretch>
            <a:fillRect/>
          </a:stretch>
        </p:blipFill>
        <p:spPr>
          <a:xfrm>
            <a:off x="868680" y="1554480"/>
            <a:ext cx="4983480" cy="3749039"/>
          </a:xfrm>
          <a:prstGeom prst="rect">
            <a:avLst/>
          </a:prstGeom>
        </p:spPr>
      </p:pic>
      <p:sp>
        <p:nvSpPr>
          <p:cNvPr id="10" name="TextBox 9"/>
          <p:cNvSpPr txBox="1"/>
          <p:nvPr/>
        </p:nvSpPr>
        <p:spPr>
          <a:xfrm>
            <a:off x="914400" y="5394959"/>
            <a:ext cx="4892040" cy="822960"/>
          </a:xfrm>
          <a:prstGeom prst="rect">
            <a:avLst/>
          </a:prstGeom>
          <a:noFill/>
        </p:spPr>
        <p:txBody>
          <a:bodyPr wrap="square">
            <a:spAutoFit/>
          </a:bodyPr>
          <a:lstStyle/>
          <a:p>
            <a:pPr algn="ctr">
              <a:defRPr sz="1000" b="1">
                <a:solidFill>
                  <a:srgbClr val="172B45"/>
                </a:solidFill>
                <a:latin typeface="Segoe UI"/>
              </a:defRPr>
            </a:pPr>
            <a:r>
              <a:t>Fig 3: Multimodel ROC Curves (RF AUC = 0.937, Ensemble AUC = 0.930)</a:t>
            </a:r>
          </a:p>
          <a:p>
            <a:pPr algn="ctr">
              <a:spcBef>
                <a:spcPts val="200"/>
              </a:spcBef>
              <a:defRPr sz="900">
                <a:solidFill>
                  <a:srgbClr val="334155"/>
                </a:solidFill>
                <a:latin typeface="Segoe UI"/>
              </a:defRPr>
            </a:pPr>
            <a:r>
              <a:t>Steep early ROC trajectory indicates high true-positive detection at conservative false-positive thresholds, vital for clinical triaging.</a:t>
            </a:r>
          </a:p>
        </p:txBody>
      </p:sp>
      <p:sp>
        <p:nvSpPr>
          <p:cNvPr id="11" name="Rounded Rectangle 10"/>
          <p:cNvSpPr/>
          <p:nvPr/>
        </p:nvSpPr>
        <p:spPr>
          <a:xfrm>
            <a:off x="6202375" y="1417320"/>
            <a:ext cx="5257800" cy="4892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lide_12_img_6_Picture 7.jpg"/>
          <p:cNvPicPr>
            <a:picLocks noChangeAspect="1"/>
          </p:cNvPicPr>
          <p:nvPr/>
        </p:nvPicPr>
        <p:blipFill>
          <a:blip r:embed="rId3"/>
          <a:stretch>
            <a:fillRect/>
          </a:stretch>
        </p:blipFill>
        <p:spPr>
          <a:xfrm>
            <a:off x="6339535" y="1554480"/>
            <a:ext cx="4983480" cy="3749039"/>
          </a:xfrm>
          <a:prstGeom prst="rect">
            <a:avLst/>
          </a:prstGeom>
        </p:spPr>
      </p:pic>
      <p:sp>
        <p:nvSpPr>
          <p:cNvPr id="13" name="TextBox 12"/>
          <p:cNvSpPr txBox="1"/>
          <p:nvPr/>
        </p:nvSpPr>
        <p:spPr>
          <a:xfrm>
            <a:off x="6385255" y="5394959"/>
            <a:ext cx="4892040" cy="822960"/>
          </a:xfrm>
          <a:prstGeom prst="rect">
            <a:avLst/>
          </a:prstGeom>
          <a:noFill/>
        </p:spPr>
        <p:txBody>
          <a:bodyPr wrap="square">
            <a:spAutoFit/>
          </a:bodyPr>
          <a:lstStyle/>
          <a:p>
            <a:pPr algn="ctr">
              <a:defRPr sz="1000" b="1">
                <a:solidFill>
                  <a:srgbClr val="172B45"/>
                </a:solidFill>
                <a:latin typeface="Segoe UI"/>
              </a:defRPr>
            </a:pPr>
            <a:r>
              <a:t>Fig 4: Annotated Confusion Matrices on Test Cohort (N=47; 27 Ctr, 20 Dem)</a:t>
            </a:r>
          </a:p>
          <a:p>
            <a:pPr algn="ctr">
              <a:spcBef>
                <a:spcPts val="200"/>
              </a:spcBef>
              <a:defRPr sz="900">
                <a:solidFill>
                  <a:srgbClr val="334155"/>
                </a:solidFill>
                <a:latin typeface="Segoe UI"/>
              </a:defRPr>
            </a:pPr>
            <a:r>
              <a:t>Random Forest achieved 24 True Negatives and 14 True Positives, with only 3 False Positives (88.89% clinical specificity).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474720" cy="256032"/>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50" b="1">
                <a:solidFill>
                  <a:srgbClr val="0F766E"/>
                </a:solidFill>
                <a:latin typeface="Segoe UI"/>
              </a:defRPr>
            </a:pPr>
            <a:r>
              <a:t>EXPLAINABLE AI IN ACTION</a:t>
            </a:r>
          </a:p>
        </p:txBody>
      </p:sp>
      <p:sp>
        <p:nvSpPr>
          <p:cNvPr id="4" name="TextBox 3"/>
          <p:cNvSpPr txBox="1"/>
          <p:nvPr/>
        </p:nvSpPr>
        <p:spPr>
          <a:xfrm>
            <a:off x="731520" y="676656"/>
            <a:ext cx="10728655" cy="548640"/>
          </a:xfrm>
          <a:prstGeom prst="rect">
            <a:avLst/>
          </a:prstGeom>
          <a:noFill/>
        </p:spPr>
        <p:txBody>
          <a:bodyPr wrap="square" lIns="0" rIns="0" tIns="0" bIns="0">
            <a:spAutoFit/>
          </a:bodyPr>
          <a:lstStyle/>
          <a:p>
            <a:pPr>
              <a:defRPr sz="2100" b="1">
                <a:solidFill>
                  <a:srgbClr val="172B45"/>
                </a:solidFill>
                <a:latin typeface="Segoe UI"/>
              </a:defRPr>
            </a:pPr>
            <a:r>
              <a:t>SHAP Interpretability &amp; Patient Case Explanations</a:t>
            </a:r>
          </a:p>
        </p:txBody>
      </p:sp>
      <p:sp>
        <p:nvSpPr>
          <p:cNvPr id="5" name="Rectangle 4"/>
          <p:cNvSpPr/>
          <p:nvPr/>
        </p:nvSpPr>
        <p:spPr>
          <a:xfrm>
            <a:off x="731520" y="12618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7772400" cy="274320"/>
          </a:xfrm>
          <a:prstGeom prst="rect">
            <a:avLst/>
          </a:prstGeom>
          <a:noFill/>
        </p:spPr>
        <p:txBody>
          <a:bodyPr wrap="none" lIns="0" rIns="0" tIns="0" bIns="0">
            <a:spAutoFit/>
          </a:bodyPr>
          <a:lstStyle/>
          <a:p>
            <a:pPr>
              <a:defRPr sz="900">
                <a:solidFill>
                  <a:srgbClr val="64748B"/>
                </a:solidFill>
                <a:latin typeface="Segoe UI"/>
              </a:defRPr>
            </a:pPr>
            <a:r>
              <a:t>Symbiosis Institute of Technology, Nagpur • B.Tech CSE (CA3 Evaluation) • Explainable Multimodal ML</a:t>
            </a:r>
          </a:p>
        </p:txBody>
      </p:sp>
      <p:sp>
        <p:nvSpPr>
          <p:cNvPr id="7" name="TextBox 6"/>
          <p:cNvSpPr txBox="1"/>
          <p:nvPr/>
        </p:nvSpPr>
        <p:spPr>
          <a:xfrm>
            <a:off x="9601200" y="6510528"/>
            <a:ext cx="1858975" cy="274320"/>
          </a:xfrm>
          <a:prstGeom prst="rect">
            <a:avLst/>
          </a:prstGeom>
          <a:noFill/>
        </p:spPr>
        <p:txBody>
          <a:bodyPr wrap="none" lIns="0" rIns="0" tIns="0" bIns="0">
            <a:spAutoFit/>
          </a:bodyPr>
          <a:lstStyle/>
          <a:p>
            <a:pPr algn="r">
              <a:defRPr sz="900" b="1">
                <a:solidFill>
                  <a:srgbClr val="168C8C"/>
                </a:solidFill>
                <a:latin typeface="Segoe UI"/>
              </a:defRPr>
            </a:pPr>
            <a:r>
              <a:t>Slide 13 / 15</a:t>
            </a:r>
          </a:p>
        </p:txBody>
      </p:sp>
      <p:sp>
        <p:nvSpPr>
          <p:cNvPr id="8" name="Rounded Rectangle 7"/>
          <p:cNvSpPr/>
          <p:nvPr/>
        </p:nvSpPr>
        <p:spPr>
          <a:xfrm>
            <a:off x="731520" y="1417320"/>
            <a:ext cx="5257800" cy="4892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lide_13_img_3_Picture 4.jpg"/>
          <p:cNvPicPr>
            <a:picLocks noChangeAspect="1"/>
          </p:cNvPicPr>
          <p:nvPr/>
        </p:nvPicPr>
        <p:blipFill>
          <a:blip r:embed="rId2"/>
          <a:stretch>
            <a:fillRect/>
          </a:stretch>
        </p:blipFill>
        <p:spPr>
          <a:xfrm>
            <a:off x="868680" y="1554480"/>
            <a:ext cx="4983480" cy="3749039"/>
          </a:xfrm>
          <a:prstGeom prst="rect">
            <a:avLst/>
          </a:prstGeom>
        </p:spPr>
      </p:pic>
      <p:sp>
        <p:nvSpPr>
          <p:cNvPr id="10" name="TextBox 9"/>
          <p:cNvSpPr txBox="1"/>
          <p:nvPr/>
        </p:nvSpPr>
        <p:spPr>
          <a:xfrm>
            <a:off x="914400" y="5394959"/>
            <a:ext cx="4892040" cy="822960"/>
          </a:xfrm>
          <a:prstGeom prst="rect">
            <a:avLst/>
          </a:prstGeom>
          <a:noFill/>
        </p:spPr>
        <p:txBody>
          <a:bodyPr wrap="square">
            <a:spAutoFit/>
          </a:bodyPr>
          <a:lstStyle/>
          <a:p>
            <a:pPr algn="ctr">
              <a:defRPr sz="1000" b="1">
                <a:solidFill>
                  <a:srgbClr val="172B45"/>
                </a:solidFill>
                <a:latin typeface="Segoe UI"/>
              </a:defRPr>
            </a:pPr>
            <a:r>
              <a:t>Fig 6: Global SHAP Feature Importance Ranking &amp; Beeswarm Distribution</a:t>
            </a:r>
          </a:p>
          <a:p>
            <a:pPr algn="ctr">
              <a:spcBef>
                <a:spcPts val="200"/>
              </a:spcBef>
              <a:defRPr sz="900">
                <a:solidFill>
                  <a:srgbClr val="334155"/>
                </a:solidFill>
                <a:latin typeface="Segoe UI"/>
              </a:defRPr>
            </a:pPr>
            <a:r>
              <a:t>MMSE cognitive score and Brain Atrophy Index (1 - nWBV) emerge as the two primary drivers of dementia predictions across the cohort.</a:t>
            </a:r>
          </a:p>
        </p:txBody>
      </p:sp>
      <p:sp>
        <p:nvSpPr>
          <p:cNvPr id="11" name="Rounded Rectangle 10"/>
          <p:cNvSpPr/>
          <p:nvPr/>
        </p:nvSpPr>
        <p:spPr>
          <a:xfrm>
            <a:off x="6202375" y="1417320"/>
            <a:ext cx="5257800" cy="4892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lide_13_img_6_Picture 7.jpg"/>
          <p:cNvPicPr>
            <a:picLocks noChangeAspect="1"/>
          </p:cNvPicPr>
          <p:nvPr/>
        </p:nvPicPr>
        <p:blipFill>
          <a:blip r:embed="rId3"/>
          <a:stretch>
            <a:fillRect/>
          </a:stretch>
        </p:blipFill>
        <p:spPr>
          <a:xfrm>
            <a:off x="6339535" y="1554480"/>
            <a:ext cx="4983480" cy="3749039"/>
          </a:xfrm>
          <a:prstGeom prst="rect">
            <a:avLst/>
          </a:prstGeom>
        </p:spPr>
      </p:pic>
      <p:sp>
        <p:nvSpPr>
          <p:cNvPr id="13" name="TextBox 12"/>
          <p:cNvSpPr txBox="1"/>
          <p:nvPr/>
        </p:nvSpPr>
        <p:spPr>
          <a:xfrm>
            <a:off x="6385255" y="5394959"/>
            <a:ext cx="4892040" cy="822960"/>
          </a:xfrm>
          <a:prstGeom prst="rect">
            <a:avLst/>
          </a:prstGeom>
          <a:noFill/>
        </p:spPr>
        <p:txBody>
          <a:bodyPr wrap="square">
            <a:spAutoFit/>
          </a:bodyPr>
          <a:lstStyle/>
          <a:p>
            <a:pPr algn="ctr">
              <a:defRPr sz="1000" b="1">
                <a:solidFill>
                  <a:srgbClr val="172B45"/>
                </a:solidFill>
                <a:latin typeface="Segoe UI"/>
              </a:defRPr>
            </a:pPr>
            <a:r>
              <a:t>Fig 7: Individual Patient Decision Rationales: True Negative vs. True Positive</a:t>
            </a:r>
          </a:p>
          <a:p>
            <a:pPr algn="ctr">
              <a:spcBef>
                <a:spcPts val="200"/>
              </a:spcBef>
              <a:defRPr sz="900">
                <a:solidFill>
                  <a:srgbClr val="334155"/>
                </a:solidFill>
                <a:latin typeface="Segoe UI"/>
              </a:defRPr>
            </a:pPr>
            <a:r>
              <a:t>Subject OAS1_0002 (Control, P=0.05) vs. Subject OAS1_0003 (Dementia, P=0.84) demonstrate intuitive, patient-specific risk factor attribution.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474720" cy="256032"/>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50" b="1">
                <a:solidFill>
                  <a:srgbClr val="0F766E"/>
                </a:solidFill>
                <a:latin typeface="Segoe UI"/>
              </a:defRPr>
            </a:pPr>
            <a:r>
              <a:t>RESEARCH IMPACT &amp; REFERENCES</a:t>
            </a:r>
          </a:p>
        </p:txBody>
      </p:sp>
      <p:sp>
        <p:nvSpPr>
          <p:cNvPr id="4" name="TextBox 3"/>
          <p:cNvSpPr txBox="1"/>
          <p:nvPr/>
        </p:nvSpPr>
        <p:spPr>
          <a:xfrm>
            <a:off x="731520" y="676656"/>
            <a:ext cx="10728655" cy="548640"/>
          </a:xfrm>
          <a:prstGeom prst="rect">
            <a:avLst/>
          </a:prstGeom>
          <a:noFill/>
        </p:spPr>
        <p:txBody>
          <a:bodyPr wrap="square" lIns="0" rIns="0" tIns="0" bIns="0">
            <a:spAutoFit/>
          </a:bodyPr>
          <a:lstStyle/>
          <a:p>
            <a:pPr>
              <a:defRPr sz="2100" b="1">
                <a:solidFill>
                  <a:srgbClr val="172B45"/>
                </a:solidFill>
                <a:latin typeface="Segoe UI"/>
              </a:defRPr>
            </a:pPr>
            <a:r>
              <a:t>Conclusion, Future Horizons &amp; Key References</a:t>
            </a:r>
          </a:p>
        </p:txBody>
      </p:sp>
      <p:sp>
        <p:nvSpPr>
          <p:cNvPr id="5" name="Rectangle 4"/>
          <p:cNvSpPr/>
          <p:nvPr/>
        </p:nvSpPr>
        <p:spPr>
          <a:xfrm>
            <a:off x="731520" y="12618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7772400" cy="274320"/>
          </a:xfrm>
          <a:prstGeom prst="rect">
            <a:avLst/>
          </a:prstGeom>
          <a:noFill/>
        </p:spPr>
        <p:txBody>
          <a:bodyPr wrap="none" lIns="0" rIns="0" tIns="0" bIns="0">
            <a:spAutoFit/>
          </a:bodyPr>
          <a:lstStyle/>
          <a:p>
            <a:pPr>
              <a:defRPr sz="900">
                <a:solidFill>
                  <a:srgbClr val="64748B"/>
                </a:solidFill>
                <a:latin typeface="Segoe UI"/>
              </a:defRPr>
            </a:pPr>
            <a:r>
              <a:t>Symbiosis Institute of Technology, Nagpur • B.Tech CSE (CA3 Evaluation) • Explainable Multimodal ML</a:t>
            </a:r>
          </a:p>
        </p:txBody>
      </p:sp>
      <p:sp>
        <p:nvSpPr>
          <p:cNvPr id="7" name="TextBox 6"/>
          <p:cNvSpPr txBox="1"/>
          <p:nvPr/>
        </p:nvSpPr>
        <p:spPr>
          <a:xfrm>
            <a:off x="9601200" y="6510528"/>
            <a:ext cx="1858975" cy="274320"/>
          </a:xfrm>
          <a:prstGeom prst="rect">
            <a:avLst/>
          </a:prstGeom>
          <a:noFill/>
        </p:spPr>
        <p:txBody>
          <a:bodyPr wrap="none" lIns="0" rIns="0" tIns="0" bIns="0">
            <a:spAutoFit/>
          </a:bodyPr>
          <a:lstStyle/>
          <a:p>
            <a:pPr algn="r">
              <a:defRPr sz="900" b="1">
                <a:solidFill>
                  <a:srgbClr val="168C8C"/>
                </a:solidFill>
                <a:latin typeface="Segoe UI"/>
              </a:defRPr>
            </a:pPr>
            <a:r>
              <a:t>Slide 14 / 15</a:t>
            </a:r>
          </a:p>
        </p:txBody>
      </p:sp>
      <p:sp>
        <p:nvSpPr>
          <p:cNvPr id="8" name="Rounded Rectangle 7"/>
          <p:cNvSpPr/>
          <p:nvPr/>
        </p:nvSpPr>
        <p:spPr>
          <a:xfrm>
            <a:off x="731520" y="1417320"/>
            <a:ext cx="5257800" cy="4892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00200"/>
            <a:ext cx="4800600" cy="4526280"/>
          </a:xfrm>
          <a:prstGeom prst="rect">
            <a:avLst/>
          </a:prstGeom>
          <a:noFill/>
        </p:spPr>
        <p:txBody>
          <a:bodyPr wrap="square">
            <a:spAutoFit/>
          </a:bodyPr>
          <a:lstStyle/>
          <a:p>
            <a:pPr>
              <a:defRPr sz="1600" b="1">
                <a:solidFill>
                  <a:srgbClr val="172B45"/>
                </a:solidFill>
                <a:latin typeface="Segoe UI"/>
              </a:defRPr>
            </a:pPr>
            <a:r>
              <a:t>Summary of Scientific Contributions</a:t>
            </a:r>
          </a:p>
          <a:p>
            <a:pPr>
              <a:spcBef>
                <a:spcPts val="700"/>
              </a:spcBef>
              <a:defRPr sz="1100" b="1">
                <a:solidFill>
                  <a:srgbClr val="0F766E"/>
                </a:solidFill>
                <a:latin typeface="Segoe UI"/>
              </a:defRPr>
            </a:pPr>
            <a:r>
              <a:t>Methodological Rigor</a:t>
            </a:r>
          </a:p>
          <a:p>
            <a:pPr>
              <a:spcBef>
                <a:spcPts val="100"/>
              </a:spcBef>
              <a:defRPr sz="1000">
                <a:solidFill>
                  <a:srgbClr val="334155"/>
                </a:solidFill>
                <a:latin typeface="Segoe UI"/>
              </a:defRPr>
            </a:pPr>
            <a:r>
              <a:t>Enforced zero data leakage via strict participant-level holdout (N=188 train, N=47 test) and scikit-learn pipeline encapsulation.</a:t>
            </a:r>
          </a:p>
          <a:p>
            <a:pPr>
              <a:spcBef>
                <a:spcPts val="700"/>
              </a:spcBef>
              <a:defRPr sz="1100" b="1">
                <a:solidFill>
                  <a:srgbClr val="0F766E"/>
                </a:solidFill>
                <a:latin typeface="Segoe UI"/>
              </a:defRPr>
            </a:pPr>
            <a:r>
              <a:t>Multimodal Superiority</a:t>
            </a:r>
          </a:p>
          <a:p>
            <a:pPr>
              <a:spcBef>
                <a:spcPts val="100"/>
              </a:spcBef>
              <a:defRPr sz="1000">
                <a:solidFill>
                  <a:srgbClr val="334155"/>
                </a:solidFill>
                <a:latin typeface="Segoe UI"/>
              </a:defRPr>
            </a:pPr>
            <a:r>
              <a:t>Fusing structural MRI volumetrics with clinical data boosted ROC-AUC from 0.9000 to 0.9370 (+0.037 gain over clinical alone; +0.137 over MRI alone).</a:t>
            </a:r>
          </a:p>
          <a:p>
            <a:pPr>
              <a:spcBef>
                <a:spcPts val="700"/>
              </a:spcBef>
              <a:defRPr sz="1100" b="1">
                <a:solidFill>
                  <a:srgbClr val="0F766E"/>
                </a:solidFill>
                <a:latin typeface="Segoe UI"/>
              </a:defRPr>
            </a:pPr>
            <a:r>
              <a:t>Discriminative Performance</a:t>
            </a:r>
          </a:p>
          <a:p>
            <a:pPr>
              <a:spcBef>
                <a:spcPts val="100"/>
              </a:spcBef>
              <a:defRPr sz="1000">
                <a:solidFill>
                  <a:srgbClr val="334155"/>
                </a:solidFill>
                <a:latin typeface="Segoe UI"/>
              </a:defRPr>
            </a:pPr>
            <a:r>
              <a:t>Random Forest delivered top discrimination: 0.9370 ROC-AUC, 0.9277 PR-AUC, 80.85% accuracy, and 88.89% clinical specificity.</a:t>
            </a:r>
          </a:p>
          <a:p>
            <a:pPr>
              <a:spcBef>
                <a:spcPts val="700"/>
              </a:spcBef>
              <a:defRPr sz="1100" b="1">
                <a:solidFill>
                  <a:srgbClr val="0F766E"/>
                </a:solidFill>
                <a:latin typeface="Segoe UI"/>
              </a:defRPr>
            </a:pPr>
            <a:r>
              <a:t>Game-Theoretic Transparency</a:t>
            </a:r>
          </a:p>
          <a:p>
            <a:pPr>
              <a:spcBef>
                <a:spcPts val="100"/>
              </a:spcBef>
              <a:defRPr sz="1000">
                <a:solidFill>
                  <a:srgbClr val="334155"/>
                </a:solidFill>
                <a:latin typeface="Segoe UI"/>
              </a:defRPr>
            </a:pPr>
            <a:r>
              <a:t>TreeSHAP established MMSE and Brain Atrophy Index as dominant biological drivers, providing actionable clinician trust and transparency.</a:t>
            </a:r>
          </a:p>
          <a:p>
            <a:pPr>
              <a:spcBef>
                <a:spcPts val="700"/>
              </a:spcBef>
              <a:defRPr sz="1100" b="1">
                <a:solidFill>
                  <a:srgbClr val="0F766E"/>
                </a:solidFill>
                <a:latin typeface="Segoe UI"/>
              </a:defRPr>
            </a:pPr>
            <a:r>
              <a:t>Future Research Horizons</a:t>
            </a:r>
          </a:p>
          <a:p>
            <a:pPr>
              <a:spcBef>
                <a:spcPts val="100"/>
              </a:spcBef>
              <a:defRPr sz="1000">
                <a:solidFill>
                  <a:srgbClr val="334155"/>
                </a:solidFill>
                <a:latin typeface="Segoe UI"/>
              </a:defRPr>
            </a:pPr>
            <a:r>
              <a:t>Extend to longitudinal tracking (OASIS-2/3) and integrate regional hippocampal/entorhinal cortex sub-segmentation volumetry.</a:t>
            </a:r>
          </a:p>
        </p:txBody>
      </p:sp>
      <p:sp>
        <p:nvSpPr>
          <p:cNvPr id="10" name="Rounded Rectangle 9"/>
          <p:cNvSpPr/>
          <p:nvPr/>
        </p:nvSpPr>
        <p:spPr>
          <a:xfrm>
            <a:off x="6202375" y="1417320"/>
            <a:ext cx="5257800" cy="4892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0975" y="1600200"/>
            <a:ext cx="4800600" cy="4526280"/>
          </a:xfrm>
          <a:prstGeom prst="rect">
            <a:avLst/>
          </a:prstGeom>
          <a:noFill/>
        </p:spPr>
        <p:txBody>
          <a:bodyPr wrap="square">
            <a:spAutoFit/>
          </a:bodyPr>
          <a:lstStyle/>
          <a:p>
            <a:pPr>
              <a:defRPr sz="1600" b="1">
                <a:solidFill>
                  <a:srgbClr val="172B45"/>
                </a:solidFill>
                <a:latin typeface="Segoe UI"/>
              </a:defRPr>
            </a:pPr>
            <a:r>
              <a:t>Selected Peer-Reviewed References</a:t>
            </a:r>
          </a:p>
          <a:p>
            <a:pPr>
              <a:spcBef>
                <a:spcPts val="500"/>
              </a:spcBef>
              <a:defRPr sz="950">
                <a:solidFill>
                  <a:srgbClr val="334155"/>
                </a:solidFill>
                <a:latin typeface="Segoe UI"/>
              </a:defRPr>
            </a:pPr>
            <a:r>
              <a:t>[1] Marcus et al., 'OASIS: Cross-sectional MRI Data...', J. Cogn. Neurosci., 2007.</a:t>
            </a:r>
          </a:p>
          <a:p>
            <a:pPr>
              <a:spcBef>
                <a:spcPts val="500"/>
              </a:spcBef>
              <a:defRPr sz="950">
                <a:solidFill>
                  <a:srgbClr val="334155"/>
                </a:solidFill>
                <a:latin typeface="Segoe UI"/>
              </a:defRPr>
            </a:pPr>
            <a:r>
              <a:t>[2] Lundberg &amp; Lee, 'A Unified Approach to Interpreting Model Predictions', NeurIPS, 2017.</a:t>
            </a:r>
          </a:p>
          <a:p>
            <a:pPr>
              <a:spcBef>
                <a:spcPts val="500"/>
              </a:spcBef>
              <a:defRPr sz="950">
                <a:solidFill>
                  <a:srgbClr val="334155"/>
                </a:solidFill>
                <a:latin typeface="Segoe UI"/>
              </a:defRPr>
            </a:pPr>
            <a:r>
              <a:t>[3] Yi et al., 'XGBoost-SHAP-based Interpretable Diagnostic Framework...', BMC Med. Inform., 2023.</a:t>
            </a:r>
          </a:p>
          <a:p>
            <a:pPr>
              <a:spcBef>
                <a:spcPts val="500"/>
              </a:spcBef>
              <a:defRPr sz="950">
                <a:solidFill>
                  <a:srgbClr val="334155"/>
                </a:solidFill>
                <a:latin typeface="Segoe UI"/>
              </a:defRPr>
            </a:pPr>
            <a:r>
              <a:t>[4] Wen et al., 'Convolutional Neural Networks for AD: Overview and Evaluation', Med. Image Anal., 2020.</a:t>
            </a:r>
          </a:p>
          <a:p>
            <a:pPr>
              <a:spcBef>
                <a:spcPts val="500"/>
              </a:spcBef>
              <a:defRPr sz="950">
                <a:solidFill>
                  <a:srgbClr val="334155"/>
                </a:solidFill>
                <a:latin typeface="Segoe UI"/>
              </a:defRPr>
            </a:pPr>
            <a:r>
              <a:t>[5] Bogdanovic et al., 'Explainable AI in Alzheimer's Disease: A Systematic Review', Alz. Res. Ther., 2022.</a:t>
            </a:r>
          </a:p>
          <a:p>
            <a:pPr>
              <a:spcBef>
                <a:spcPts val="500"/>
              </a:spcBef>
              <a:defRPr sz="950">
                <a:solidFill>
                  <a:srgbClr val="334155"/>
                </a:solidFill>
                <a:latin typeface="Segoe UI"/>
              </a:defRPr>
            </a:pPr>
            <a:r>
              <a:t>[6] Venugopalan et al., 'Multimodal Deep Learning Models for Early Detection...', Sci. Rep., 2021.</a:t>
            </a:r>
          </a:p>
          <a:p>
            <a:pPr>
              <a:spcBef>
                <a:spcPts val="500"/>
              </a:spcBef>
              <a:defRPr sz="950">
                <a:solidFill>
                  <a:srgbClr val="334155"/>
                </a:solidFill>
                <a:latin typeface="Segoe UI"/>
              </a:defRPr>
            </a:pPr>
            <a:r>
              <a:t>[7] Ren et al., 'Utilizing Multimodal Models to Forecast AD Progression...', Health Inf. Sci., 2026.</a:t>
            </a:r>
          </a:p>
          <a:p>
            <a:pPr>
              <a:spcBef>
                <a:spcPts val="500"/>
              </a:spcBef>
              <a:defRPr sz="950">
                <a:solidFill>
                  <a:srgbClr val="334155"/>
                </a:solidFill>
                <a:latin typeface="Segoe UI"/>
              </a:defRPr>
            </a:pPr>
            <a:r>
              <a:t>[8] Alam et al., 'Ensemble Machine Learning for Alzheimer's Detection...', Diagnostics, 2022.</a:t>
            </a:r>
          </a:p>
        </p:txBody>
      </p:sp>
      <p:sp>
        <p:nvSpPr>
          <p:cNvPr id="12" name="Rounded Rectangle 11"/>
          <p:cNvSpPr/>
          <p:nvPr/>
        </p:nvSpPr>
        <p:spPr>
          <a:xfrm>
            <a:off x="6385255" y="5577840"/>
            <a:ext cx="489204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6695" y="5623560"/>
            <a:ext cx="4709160" cy="457200"/>
          </a:xfrm>
          <a:prstGeom prst="rect">
            <a:avLst/>
          </a:prstGeom>
          <a:noFill/>
        </p:spPr>
        <p:txBody>
          <a:bodyPr wrap="none">
            <a:spAutoFit/>
          </a:bodyPr>
          <a:lstStyle/>
          <a:p>
            <a:pPr algn="ctr">
              <a:defRPr sz="1100" b="1">
                <a:solidFill>
                  <a:srgbClr val="0F766E"/>
                </a:solidFill>
                <a:latin typeface="Segoe UI"/>
              </a:defRPr>
            </a:pPr>
            <a:r>
              <a:t>Thank you! We welcome questions from the evaluation committee.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474720" cy="256032"/>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50" b="1">
                <a:solidFill>
                  <a:srgbClr val="0F766E"/>
                </a:solidFill>
                <a:latin typeface="Segoe UI"/>
              </a:defRPr>
            </a:pPr>
            <a:r>
              <a:t>APPENDIX &amp; BIBLIOGRAPHY</a:t>
            </a:r>
          </a:p>
        </p:txBody>
      </p:sp>
      <p:sp>
        <p:nvSpPr>
          <p:cNvPr id="4" name="TextBox 3"/>
          <p:cNvSpPr txBox="1"/>
          <p:nvPr/>
        </p:nvSpPr>
        <p:spPr>
          <a:xfrm>
            <a:off x="731520" y="676656"/>
            <a:ext cx="10728655" cy="548640"/>
          </a:xfrm>
          <a:prstGeom prst="rect">
            <a:avLst/>
          </a:prstGeom>
          <a:noFill/>
        </p:spPr>
        <p:txBody>
          <a:bodyPr wrap="square" lIns="0" rIns="0" tIns="0" bIns="0">
            <a:spAutoFit/>
          </a:bodyPr>
          <a:lstStyle/>
          <a:p>
            <a:pPr>
              <a:defRPr sz="2100" b="1">
                <a:solidFill>
                  <a:srgbClr val="172B45"/>
                </a:solidFill>
                <a:latin typeface="Segoe UI"/>
              </a:defRPr>
            </a:pPr>
            <a:r>
              <a:t>Peer-Reviewed Academic Citations &amp; Reproducibility Audit</a:t>
            </a:r>
          </a:p>
        </p:txBody>
      </p:sp>
      <p:sp>
        <p:nvSpPr>
          <p:cNvPr id="5" name="Rectangle 4"/>
          <p:cNvSpPr/>
          <p:nvPr/>
        </p:nvSpPr>
        <p:spPr>
          <a:xfrm>
            <a:off x="731520" y="12618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7772400" cy="274320"/>
          </a:xfrm>
          <a:prstGeom prst="rect">
            <a:avLst/>
          </a:prstGeom>
          <a:noFill/>
        </p:spPr>
        <p:txBody>
          <a:bodyPr wrap="none" lIns="0" rIns="0" tIns="0" bIns="0">
            <a:spAutoFit/>
          </a:bodyPr>
          <a:lstStyle/>
          <a:p>
            <a:pPr>
              <a:defRPr sz="900">
                <a:solidFill>
                  <a:srgbClr val="64748B"/>
                </a:solidFill>
                <a:latin typeface="Segoe UI"/>
              </a:defRPr>
            </a:pPr>
            <a:r>
              <a:t>Symbiosis Institute of Technology, Nagpur • B.Tech CSE (CA3 Evaluation) • Explainable Multimodal ML</a:t>
            </a:r>
          </a:p>
        </p:txBody>
      </p:sp>
      <p:sp>
        <p:nvSpPr>
          <p:cNvPr id="7" name="TextBox 6"/>
          <p:cNvSpPr txBox="1"/>
          <p:nvPr/>
        </p:nvSpPr>
        <p:spPr>
          <a:xfrm>
            <a:off x="9601200" y="6510528"/>
            <a:ext cx="1858975" cy="274320"/>
          </a:xfrm>
          <a:prstGeom prst="rect">
            <a:avLst/>
          </a:prstGeom>
          <a:noFill/>
        </p:spPr>
        <p:txBody>
          <a:bodyPr wrap="none" lIns="0" rIns="0" tIns="0" bIns="0">
            <a:spAutoFit/>
          </a:bodyPr>
          <a:lstStyle/>
          <a:p>
            <a:pPr algn="r">
              <a:defRPr sz="900" b="1">
                <a:solidFill>
                  <a:srgbClr val="168C8C"/>
                </a:solidFill>
                <a:latin typeface="Segoe UI"/>
              </a:defRPr>
            </a:pPr>
            <a:r>
              <a:t>Slide 15 / 15</a:t>
            </a:r>
          </a:p>
        </p:txBody>
      </p:sp>
      <p:sp>
        <p:nvSpPr>
          <p:cNvPr id="8" name="Rounded Rectangle 7"/>
          <p:cNvSpPr/>
          <p:nvPr/>
        </p:nvSpPr>
        <p:spPr>
          <a:xfrm>
            <a:off x="731520" y="1417320"/>
            <a:ext cx="5257800" cy="4892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00200"/>
            <a:ext cx="4800600" cy="4526280"/>
          </a:xfrm>
          <a:prstGeom prst="rect">
            <a:avLst/>
          </a:prstGeom>
          <a:noFill/>
        </p:spPr>
        <p:txBody>
          <a:bodyPr wrap="square">
            <a:spAutoFit/>
          </a:bodyPr>
          <a:lstStyle/>
          <a:p>
            <a:pPr>
              <a:defRPr sz="1600" b="1">
                <a:solidFill>
                  <a:srgbClr val="172B45"/>
                </a:solidFill>
                <a:latin typeface="Segoe UI"/>
              </a:defRPr>
            </a:pPr>
            <a:r>
              <a:t>Full Academic Bibliography</a:t>
            </a:r>
          </a:p>
          <a:p>
            <a:pPr>
              <a:spcBef>
                <a:spcPts val="600"/>
              </a:spcBef>
              <a:defRPr sz="1000" b="1">
                <a:solidFill>
                  <a:srgbClr val="0F766E"/>
                </a:solidFill>
                <a:latin typeface="Segoe UI"/>
              </a:defRPr>
            </a:pPr>
            <a:r>
              <a:t>Marcus, D. S., et al. (2007)</a:t>
            </a:r>
          </a:p>
          <a:p>
            <a:pPr>
              <a:spcBef>
                <a:spcPts val="100"/>
              </a:spcBef>
              <a:defRPr sz="900">
                <a:solidFill>
                  <a:srgbClr val="334155"/>
                </a:solidFill>
                <a:latin typeface="Segoe UI"/>
              </a:defRPr>
            </a:pPr>
            <a:r>
              <a:t>"Open Access Series of Imaging Studies (OASIS): Cross-sectional MRI Data in Young, Middle Aged, Nondemented, and Demented Older Adults." Journal of Cognitive Neuroscience, 19(9), 1498–1507. https://doi.org/10.1162/jocn.2007.19.9.1498</a:t>
            </a:r>
          </a:p>
          <a:p>
            <a:pPr>
              <a:spcBef>
                <a:spcPts val="600"/>
              </a:spcBef>
              <a:defRPr sz="1000" b="1">
                <a:solidFill>
                  <a:srgbClr val="0F766E"/>
                </a:solidFill>
                <a:latin typeface="Segoe UI"/>
              </a:defRPr>
            </a:pPr>
            <a:r>
              <a:t>Wen, J., et al. (2020)</a:t>
            </a:r>
          </a:p>
          <a:p>
            <a:pPr>
              <a:spcBef>
                <a:spcPts val="100"/>
              </a:spcBef>
              <a:defRPr sz="900">
                <a:solidFill>
                  <a:srgbClr val="334155"/>
                </a:solidFill>
                <a:latin typeface="Segoe UI"/>
              </a:defRPr>
            </a:pPr>
            <a:r>
              <a:t>"Convolutional Neural Networks for Classification of Alzheimer's Disease: Overview and Reproducibility." Medical Image Analysis, 63, 101694. https://doi.org/10.1016/j.media.2020.101694</a:t>
            </a:r>
          </a:p>
          <a:p>
            <a:pPr>
              <a:spcBef>
                <a:spcPts val="600"/>
              </a:spcBef>
              <a:defRPr sz="1000" b="1">
                <a:solidFill>
                  <a:srgbClr val="0F766E"/>
                </a:solidFill>
                <a:latin typeface="Segoe UI"/>
              </a:defRPr>
            </a:pPr>
            <a:r>
              <a:t>Lundberg, S. M., &amp; Lee, S.-I. (2017)</a:t>
            </a:r>
          </a:p>
          <a:p>
            <a:pPr>
              <a:spcBef>
                <a:spcPts val="100"/>
              </a:spcBef>
              <a:defRPr sz="900">
                <a:solidFill>
                  <a:srgbClr val="334155"/>
                </a:solidFill>
                <a:latin typeface="Segoe UI"/>
              </a:defRPr>
            </a:pPr>
            <a:r>
              <a:t>"A Unified Approach to Interpreting Model Predictions." Advances in Neural Information Processing Systems (NeurIPS 2017), 30, 4765–4774.</a:t>
            </a:r>
          </a:p>
          <a:p>
            <a:pPr>
              <a:spcBef>
                <a:spcPts val="600"/>
              </a:spcBef>
              <a:defRPr sz="1000" b="1">
                <a:solidFill>
                  <a:srgbClr val="0F766E"/>
                </a:solidFill>
                <a:latin typeface="Segoe UI"/>
              </a:defRPr>
            </a:pPr>
            <a:r>
              <a:t>Alam, S., et al. (2022)</a:t>
            </a:r>
          </a:p>
          <a:p>
            <a:pPr>
              <a:spcBef>
                <a:spcPts val="100"/>
              </a:spcBef>
              <a:defRPr sz="900">
                <a:solidFill>
                  <a:srgbClr val="334155"/>
                </a:solidFill>
                <a:latin typeface="Segoe UI"/>
              </a:defRPr>
            </a:pPr>
            <a:r>
              <a:t>"Ensemble Machine Learning Approaches for Early Detection of Alzheimer's Disease Using OASIS Cross-Sectional Data." Diagnostics, 12(8), 1835. https://doi.org/10.3390/diagnostics12081835</a:t>
            </a:r>
          </a:p>
          <a:p>
            <a:pPr>
              <a:spcBef>
                <a:spcPts val="600"/>
              </a:spcBef>
              <a:defRPr sz="1000" b="1">
                <a:solidFill>
                  <a:srgbClr val="0F766E"/>
                </a:solidFill>
                <a:latin typeface="Segoe UI"/>
              </a:defRPr>
            </a:pPr>
            <a:r>
              <a:t>Stammler, C., et al. (2024)</a:t>
            </a:r>
          </a:p>
          <a:p>
            <a:pPr>
              <a:spcBef>
                <a:spcPts val="100"/>
              </a:spcBef>
              <a:defRPr sz="900">
                <a:solidFill>
                  <a:srgbClr val="334155"/>
                </a:solidFill>
                <a:latin typeface="Segoe UI"/>
              </a:defRPr>
            </a:pPr>
            <a:r>
              <a:t>"Methodological Pitfalls in Machine Learning for Neuroimaging: Recommendations for Robust Benchmarking." NeuroImage, 285, 120489. https://doi.org/10.1016/j.neuroimage.2024.120489</a:t>
            </a:r>
          </a:p>
        </p:txBody>
      </p:sp>
      <p:sp>
        <p:nvSpPr>
          <p:cNvPr id="10" name="Rounded Rectangle 9"/>
          <p:cNvSpPr/>
          <p:nvPr/>
        </p:nvSpPr>
        <p:spPr>
          <a:xfrm>
            <a:off x="6202375" y="1417320"/>
            <a:ext cx="5257800" cy="4892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0975" y="1600200"/>
            <a:ext cx="4800600" cy="4526280"/>
          </a:xfrm>
          <a:prstGeom prst="rect">
            <a:avLst/>
          </a:prstGeom>
          <a:noFill/>
        </p:spPr>
        <p:txBody>
          <a:bodyPr wrap="square">
            <a:spAutoFit/>
          </a:bodyPr>
          <a:lstStyle/>
          <a:p>
            <a:pPr>
              <a:defRPr sz="1600" b="1">
                <a:solidFill>
                  <a:srgbClr val="172B45"/>
                </a:solidFill>
                <a:latin typeface="Segoe UI"/>
              </a:defRPr>
            </a:pPr>
            <a:r>
              <a:t>Data Governance &amp; Open Science</a:t>
            </a:r>
          </a:p>
          <a:p>
            <a:pPr>
              <a:spcBef>
                <a:spcPts val="800"/>
              </a:spcBef>
              <a:defRPr sz="1100" b="1">
                <a:solidFill>
                  <a:srgbClr val="2563EB"/>
                </a:solidFill>
                <a:latin typeface="Segoe UI"/>
              </a:defRPr>
            </a:pPr>
            <a:r>
              <a:t>OASIS-1 Data Compliance</a:t>
            </a:r>
          </a:p>
          <a:p>
            <a:pPr>
              <a:spcBef>
                <a:spcPts val="100"/>
              </a:spcBef>
              <a:defRPr sz="950">
                <a:solidFill>
                  <a:srgbClr val="334155"/>
                </a:solidFill>
                <a:latin typeface="Segoe UI"/>
              </a:defRPr>
            </a:pPr>
            <a:r>
              <a:t>Data utilized under the Open Access Series of Imaging Studies (OASIS) Data Use Agreement. All human subject scans were acquired in accordance with Washington University Human Studies Committee guidelines and HIPAA privacy standards.</a:t>
            </a:r>
          </a:p>
          <a:p>
            <a:pPr>
              <a:spcBef>
                <a:spcPts val="800"/>
              </a:spcBef>
              <a:defRPr sz="1100" b="1">
                <a:solidFill>
                  <a:srgbClr val="2563EB"/>
                </a:solidFill>
                <a:latin typeface="Segoe UI"/>
              </a:defRPr>
            </a:pPr>
            <a:r>
              <a:t>Subject De-Identification</a:t>
            </a:r>
          </a:p>
          <a:p>
            <a:pPr>
              <a:spcBef>
                <a:spcPts val="100"/>
              </a:spcBef>
              <a:defRPr sz="950">
                <a:solidFill>
                  <a:srgbClr val="334155"/>
                </a:solidFill>
                <a:latin typeface="Segoe UI"/>
              </a:defRPr>
            </a:pPr>
            <a:r>
              <a:t>All participant records are strictly anonymized with pseudo-random IDs (e.g. OAS1_0001). No protected health information (PHI) is present or accessible.</a:t>
            </a:r>
          </a:p>
          <a:p>
            <a:pPr>
              <a:spcBef>
                <a:spcPts val="800"/>
              </a:spcBef>
              <a:defRPr sz="1100" b="1">
                <a:solidFill>
                  <a:srgbClr val="2563EB"/>
                </a:solidFill>
                <a:latin typeface="Segoe UI"/>
              </a:defRPr>
            </a:pPr>
            <a:r>
              <a:t>Code &amp; Artifact Availability</a:t>
            </a:r>
          </a:p>
          <a:p>
            <a:pPr>
              <a:spcBef>
                <a:spcPts val="100"/>
              </a:spcBef>
              <a:defRPr sz="950">
                <a:solidFill>
                  <a:srgbClr val="334155"/>
                </a:solidFill>
                <a:latin typeface="Segoe UI"/>
              </a:defRPr>
            </a:pPr>
            <a:r>
              <a:t>Complete preprocessing pipelines, trained model checkpoints, and evaluation notebooks are version-controlled and publicly accessible at:</a:t>
            </a:r>
            <a:br/>
            <a:r>
              <a:t>https://github.com/devansh16125/Health-Care-mini-project</a:t>
            </a:r>
          </a:p>
          <a:p>
            <a:pPr>
              <a:spcBef>
                <a:spcPts val="800"/>
              </a:spcBef>
              <a:defRPr sz="1100" b="1">
                <a:solidFill>
                  <a:srgbClr val="2563EB"/>
                </a:solidFill>
                <a:latin typeface="Segoe UI"/>
              </a:defRPr>
            </a:pPr>
            <a:r>
              <a:t>Scientific Rigor Checklist</a:t>
            </a:r>
          </a:p>
          <a:p>
            <a:pPr>
              <a:spcBef>
                <a:spcPts val="100"/>
              </a:spcBef>
              <a:defRPr sz="950">
                <a:solidFill>
                  <a:srgbClr val="334155"/>
                </a:solidFill>
                <a:latin typeface="Segoe UI"/>
              </a:defRPr>
            </a:pPr>
            <a:r>
              <a:t>• Deterministic Random Seeds (42)</a:t>
            </a:r>
            <a:br/>
            <a:r>
              <a:t>• Leak-free ColumnTransformer encapsulation</a:t>
            </a:r>
            <a:br/>
            <a:r>
              <a:t>• Exact Scikit-learn &amp; SHAP dependency specifications</a:t>
            </a:r>
            <a:br/>
            <a:r>
              <a:t>• Comprehensive viva presentation documentation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