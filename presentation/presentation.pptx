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faculty members and evaluation committee. Today, Devansh Gawali and I, Jay Thakare, present our B.Tech CA3 research mini-project entitled: 'Explainable Machine Learning for Alzheimer's Disease Classification Using Structural MRI and Clinical Features'. In this work, we address two primary challenges in computational neuroscience: the prevalence of data leakage in published literature and the black-box opacity of automated classifiers. By combining psychometric screening with quantitative structural MRI morphometrics under a strict subject-level validation protocol, we achieve 85.11% accuracy and 0.9426 ROC-AUC, with post-hoc SHAP providing transparent biological decision support for clinicians.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establishes the real-world healthcare motivation. Dementia currently affects over 55 million people worldwide, and macroscopic brain atrophy develops silently up to 15 years before overt functional impairment. Currently, clinicians rely on cognitive screening like the MMSE and structural MRI scans. However, MMSE is prone to educational biases, while MRI volumetry suffers from radiologist bottlenecks. While automated machine learning is promising, black-box deep models cannot be deployed safely in neurology without interpretable justifications. Clinicians require transparent, biologically valid explanations.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3, we map the three core problems in Alzheimer's machine learning literature to our explicit project objectives. First, to combat black-box opacity, we integrate SHAP explainability. Second, to prevent the ubiquitous data leakage documented by Yagis et al., we enforce a strict participant-level 80/20 split where no subject appears in both sets, and transformers are fitted only on training folds. Third, instead of multi-hour GPU-dependent deep nets, we prove that classical tree ensembles on multimodal features execute in seconds on standard hardware while delivering 0.943 ROC-AUC.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reviews five verified peer-reviewed studies published between 2021 and 2025. Jahan et al. proved that multimodal fusion is superior to MRI alone, while Yagis et al. in Scientific Reports proved that data leakage across subjects inflates metrics by up to 25%. Shah et al. in Computers in Biology and Medicine showed that tree-based SHAP explanations are much more stable and consistent than deep learning saliency maps. Our work addresses the identified gap: we implement a leak-free participant-level multimodal pipeline with game-theoretic SHAP interpretability that requires zero GPU computing.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details the OASIS-1 dataset audit. The repository has 436 subjects, but 201 are young normal controls under age 60 who were not clinically evaluated (CDR = NaN). Including them creates an artificial age-shortcut where models simply learn age rather than neurodegeneration. Thus, we isolate the 235 clinically evaluated subjects (ages 33 to 96). Within this cohort, 135 are healthy controls (57.5%) and 100 have dementia symptoms (42.5%), predominantly very mild (CDR 0.5, 70 subjects). Missing SES values are strictly imputed on the training split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presents our re-engineered vector architecture. The pipeline flows from left to right: from OASIS-1 raw data to cohort filtering, participant-level 80/20 holdout split, training-only ColumnTransformer fitting, 5-fold cross-validation across 6 model configurations, held-out evaluation on the 47 test subjects, and SHAP TreeExplainer interpretation. Every step strictly preserves zero leakage, ensuring un-inflated, publishable results.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cleanly segments our data preparation into three distinct pillars. In Section 1, we show our participant-level split (188 train, 47 test) guaranteeing zero subject overlap. In Section 2, we describe our scikit-learn ColumnTransformer which fits median imputation and standard scaling solely on training samples. In Section 3, we detail our 8 multimodal features: 5 clinical/demographic and 3 structural MRI morphometrics, notably MMSE for cognitive screening and nWBV for whole-brain parenchymal atrophy.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illustrates our evaluated models. We benchmark five diverse learning paradigms: Dummy baseline, Logistic Regression, Random Forest, RBF Support Vector Machine, and Gradient Boosting. We also build a Soft-Voting Ensemble that weights the predictions of our top three algorithms: Logistic Regression with weight 1, Random Forest with weight 2, and Gradient Boosting with weight 2. This balances linear margins with non-linear tree partitions, reducing individual model variance.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outlines our explainability framework. We employ SHAP (SHapley Additive exPlanations), grounded in cooperative game theory. SHAP satisfies four critical mathematical axioms: efficiency, symmetry, dummy player, and additivity. It operates at two levels: Globally, it ranks biomarker influence across the entire test cohort via mean absolute SHAP values. Locally, it generates patient-level waterfall charts that decompose an individual prediction from the population base rate to their final diagnosis, clearly detailing the exact biological features responsible.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demonstrates our focus on scientific reproducibility. The entire experimental suite runs on standard commodity hardware—an Intel Core i5 CPU with 16 GB RAM—requiring no expensive GPU infrastructure. Full training, 5-fold cross-validation, held-out testing, and SHAP generation execute in under 15 seconds. Seed 42 is locked across all estimators, and 7 automated pytest unit tests verify data loading, zero-leakage splits, and metric calculation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presents our primary empirical findings on the held-out test cohort of 47 subjects. Gradient Boosting attained the highest overall performance across accuracy (85.11%), sensitivity (80.00%), F1-score (82.05%), and ROC-AUC (0.9426), successfully identifying 16 out of 20 dementia patients. The Soft-Voting Ensemble tied Gradient Boosting for top ROC-AUC at 0.9426, with an outstanding specificity of 88.89%, misclassifying only 3 of 27 healthy controls. Every trained machine learning model achieved an ROC-AUC greater than 0.90, confirming robust discriminative capability without data leakage.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12, we examine the ROC curves and our modality ablation experiment. On the left, Gradient Boosting and the Soft-Voting Ensemble push closest to the top-left corner, reaching an outstanding 0.943 AUC. On the right, our ablation study provides definitive evidence of multimodal superiority: combining clinical and structural MRI features in Random Forest yields 82.98% accuracy and 0.9296 AUC, outperforming MRI-only (70.21% Acc, 0.7759 AUC) by +12.77% accuracy and +0.1537 AUC, and outperforming clinical-only (80.85% Acc, 0.9037 AUC) by +2.13% accuracy. Both modalities are essential.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reveals our SHAP explainability findings. On the left, the beeswarm plot confirms that the Mini-Mental State Examination (MMSE) and normalized Whole Brain Volume (nWBV) are the top two diagnostic drivers. Low MMSE scores (blue points) and reduced whole-brain volume (cerebral atrophy, blue points) strongly increase dementia log-odds. On the right, our local patient waterfall explains a real test subject: the model started at base value -0.32, but low MMSE (+1.82) and severe parenchymal atrophy (+0.95) pushed the log-odds to +3.21, yielding a 96.1% dementia prediction. This gives clinicians transparent, auditable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our research proves that transparent, explainable machine learning combining cognitive screening and structural MRI morphometrics delivers high-accuracy dementia classification without expensive deep learning or data leakage. Gradient Boosting attained 85.11% accuracy and 0.9426 ROC-AUC, with SHAP confirming biological validity. Our entire codebase, IEEE paper, and presentation are publicly published on GitHub. Thank you very much for your time and attention. We now welcome questions and technical feedback.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 15 lists the first 8 peer-reviewed publications from 2023 to 2026 cited in our research paper, including exact DOIs and journal venues (PLOS ONE, IEEE Access, Frontiers in Aging Neuroscience, Biomedical Signal Processing and Control, Computers in Biology and Medicine, PeerJ Computer Science, and Scientific Reports).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 16 completes our bibliography with 8 foundational and methodological references, including Marcus et al. (2007) which established the OASIS-1 dataset benchmark, Yagis et al. (2021) on MRI data leakage, and surveys by Tanveer et al. (2021) and El-Sappagh et al. (2021).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777240"/>
            <a:ext cx="3931920" cy="347472"/>
          </a:xfrm>
          <a:prstGeom prst="roundRect">
            <a:avLst/>
          </a:prstGeom>
          <a:solidFill>
            <a:srgbClr val="F0F9F9"/>
          </a:solidFill>
          <a:ln w="12700">
            <a:solidFill>
              <a:srgbClr val="168C8C"/>
            </a:solidFill>
          </a:ln>
        </p:spPr>
        <p:style>
          <a:lnRef idx="1">
            <a:schemeClr val="accent1"/>
          </a:lnRef>
          <a:fillRef idx="3">
            <a:schemeClr val="accent1"/>
          </a:fillRef>
          <a:effectRef idx="2">
            <a:schemeClr val="accent1"/>
          </a:effectRef>
          <a:fontRef idx="minor">
            <a:schemeClr val="lt1"/>
          </a:fontRef>
        </p:style>
        <p:txBody>
          <a:bodyPr rtlCol="0" anchor="ctr" tIns="0" bIns="0" lIns="0" rIns="0"/>
          <a:lstStyle/>
          <a:p>
            <a:pPr algn="ctr">
              <a:defRPr sz="950" b="1">
                <a:solidFill>
                  <a:srgbClr val="168C8C"/>
                </a:solidFill>
                <a:latin typeface="Arial"/>
              </a:defRPr>
            </a:pPr>
            <a:r>
              <a:t>RESEARCH PRESENTATION • B.TECH CA3 EVALUATION</a:t>
            </a:r>
          </a:p>
        </p:txBody>
      </p:sp>
      <p:sp>
        <p:nvSpPr>
          <p:cNvPr id="5" name="TextBox 4"/>
          <p:cNvSpPr txBox="1"/>
          <p:nvPr/>
        </p:nvSpPr>
        <p:spPr>
          <a:xfrm>
            <a:off x="822960" y="1280160"/>
            <a:ext cx="10515600" cy="2103120"/>
          </a:xfrm>
          <a:prstGeom prst="rect">
            <a:avLst/>
          </a:prstGeom>
          <a:noFill/>
        </p:spPr>
        <p:txBody>
          <a:bodyPr wrap="square" tIns="0" bIns="0" lIns="0" rIns="0">
            <a:spAutoFit/>
          </a:bodyPr>
          <a:lstStyle/>
          <a:p>
            <a:pPr>
              <a:spcAft>
                <a:spcPts val="400"/>
              </a:spcAft>
              <a:defRPr sz="3600" b="1">
                <a:solidFill>
                  <a:srgbClr val="172B45"/>
                </a:solidFill>
                <a:latin typeface="Arial"/>
              </a:defRPr>
            </a:pPr>
            <a:r>
              <a:t>Explainable Machine Learning</a:t>
            </a:r>
          </a:p>
          <a:p>
            <a:pPr>
              <a:spcAft>
                <a:spcPts val="800"/>
              </a:spcAft>
              <a:defRPr sz="2100" b="1">
                <a:solidFill>
                  <a:srgbClr val="5685C4"/>
                </a:solidFill>
                <a:latin typeface="Arial"/>
              </a:defRPr>
            </a:pPr>
            <a:r>
              <a:t>for Alzheimer’s Disease Classification Using Structural MRI and Clinical Features</a:t>
            </a:r>
          </a:p>
          <a:p>
            <a:pPr>
              <a:defRPr sz="1200">
                <a:solidFill>
                  <a:srgbClr val="66758A"/>
                </a:solidFill>
                <a:latin typeface="Arial"/>
              </a:defRPr>
            </a:pPr>
            <a:r>
              <a:t>A Participant-Level Leakage-Free Diagnostic Architecture on the OASIS-1 Cross-Sectional Cohort with SHAP Decision Support</a:t>
            </a:r>
          </a:p>
        </p:txBody>
      </p:sp>
      <p:sp>
        <p:nvSpPr>
          <p:cNvPr id="6" name="Rounded Rectangle 5"/>
          <p:cNvSpPr/>
          <p:nvPr/>
        </p:nvSpPr>
        <p:spPr>
          <a:xfrm>
            <a:off x="822960" y="3566160"/>
            <a:ext cx="6217920" cy="246888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3566160"/>
            <a:ext cx="621792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3712464"/>
            <a:ext cx="5779008" cy="502920"/>
          </a:xfrm>
          <a:prstGeom prst="rect">
            <a:avLst/>
          </a:prstGeom>
          <a:noFill/>
        </p:spPr>
        <p:txBody>
          <a:bodyPr wrap="square" tIns="0" bIns="0" lIns="0" rIns="0">
            <a:spAutoFit/>
          </a:bodyPr>
          <a:lstStyle/>
          <a:p>
            <a:pPr>
              <a:defRPr sz="850" b="1">
                <a:solidFill>
                  <a:srgbClr val="168C8C"/>
                </a:solidFill>
                <a:latin typeface="Arial"/>
              </a:defRPr>
            </a:pPr>
            <a:r>
              <a:t>RESEARCH TEAM</a:t>
            </a:r>
          </a:p>
          <a:p>
            <a:pPr>
              <a:defRPr sz="1250" b="1">
                <a:solidFill>
                  <a:srgbClr val="172B45"/>
                </a:solidFill>
                <a:latin typeface="Arial"/>
              </a:defRPr>
            </a:pPr>
            <a:r>
              <a:t>Investigators &amp; Institutional Affiliation</a:t>
            </a:r>
          </a:p>
        </p:txBody>
      </p:sp>
      <p:sp>
        <p:nvSpPr>
          <p:cNvPr id="9" name="TextBox 8"/>
          <p:cNvSpPr txBox="1"/>
          <p:nvPr/>
        </p:nvSpPr>
        <p:spPr>
          <a:xfrm>
            <a:off x="1051560" y="4160520"/>
            <a:ext cx="5760720" cy="1737360"/>
          </a:xfrm>
          <a:prstGeom prst="rect">
            <a:avLst/>
          </a:prstGeom>
          <a:noFill/>
        </p:spPr>
        <p:txBody>
          <a:bodyPr wrap="square" tIns="0" bIns="0" lIns="0" rIns="0">
            <a:spAutoFit/>
          </a:bodyPr>
          <a:lstStyle/>
          <a:p>
            <a:pPr>
              <a:defRPr sz="1050" b="1">
                <a:solidFill>
                  <a:srgbClr val="172B45"/>
                </a:solidFill>
                <a:latin typeface="Arial"/>
              </a:defRPr>
            </a:pPr>
            <a:r>
              <a:t>Project Team Members (Investigators):</a:t>
            </a:r>
          </a:p>
          <a:p>
            <a:pPr>
              <a:spcBef>
                <a:spcPts val="200"/>
              </a:spcBef>
              <a:spcAft>
                <a:spcPts val="600"/>
              </a:spcAft>
              <a:defRPr sz="1150" b="1">
                <a:solidFill>
                  <a:srgbClr val="168C8C"/>
                </a:solidFill>
                <a:latin typeface="Arial"/>
              </a:defRPr>
            </a:pPr>
            <a:r>
              <a:t>• Jay Thakare  —  PRN: 23070521233  (B.Tech CSE)</a:t>
            </a:r>
            <a:br/>
            <a:r>
              <a:t>• Devansh Gawali  —  PRN: 23070521237  (B.Tech CSE)</a:t>
            </a:r>
          </a:p>
          <a:p>
            <a:pPr>
              <a:defRPr sz="1000">
                <a:solidFill>
                  <a:srgbClr val="66758A"/>
                </a:solidFill>
                <a:latin typeface="Arial"/>
              </a:defRPr>
            </a:pPr>
            <a:r>
              <a:t>Department of Computer Science &amp; Engineering</a:t>
            </a:r>
            <a:br/>
            <a:r>
              <a:t>Symbiosis Institute of Technology (SIT), Nagpur</a:t>
            </a:r>
            <a:br/>
            <a:r>
              <a:t>Symbiosis International (Deemed University), Pune, India</a:t>
            </a:r>
          </a:p>
        </p:txBody>
      </p:sp>
      <p:sp>
        <p:nvSpPr>
          <p:cNvPr id="10" name="Rounded Rectangle 9"/>
          <p:cNvSpPr/>
          <p:nvPr/>
        </p:nvSpPr>
        <p:spPr>
          <a:xfrm>
            <a:off x="7223760" y="3566160"/>
            <a:ext cx="4114800" cy="2468880"/>
          </a:xfrm>
          <a:prstGeom prst="roundRect">
            <a:avLst/>
          </a:prstGeom>
          <a:solidFill>
            <a:srgbClr val="F6F8FA"/>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223760" y="3566160"/>
            <a:ext cx="4114800" cy="45720"/>
          </a:xfrm>
          <a:prstGeom prst="rect">
            <a:avLst/>
          </a:prstGeom>
          <a:solidFill>
            <a:srgbClr val="5685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43216" y="3712464"/>
            <a:ext cx="3675888" cy="502920"/>
          </a:xfrm>
          <a:prstGeom prst="rect">
            <a:avLst/>
          </a:prstGeom>
          <a:noFill/>
        </p:spPr>
        <p:txBody>
          <a:bodyPr wrap="square" tIns="0" bIns="0" lIns="0" rIns="0">
            <a:spAutoFit/>
          </a:bodyPr>
          <a:lstStyle/>
          <a:p>
            <a:pPr>
              <a:defRPr sz="850" b="1">
                <a:solidFill>
                  <a:srgbClr val="5685C4"/>
                </a:solidFill>
                <a:latin typeface="Arial"/>
              </a:defRPr>
            </a:pPr>
            <a:r>
              <a:t>BENCHMARK OVERVIEW</a:t>
            </a:r>
          </a:p>
          <a:p>
            <a:pPr>
              <a:defRPr sz="1250" b="1">
                <a:solidFill>
                  <a:srgbClr val="172B45"/>
                </a:solidFill>
                <a:latin typeface="Arial"/>
              </a:defRPr>
            </a:pPr>
            <a:r>
              <a:t>Experimental Highlights</a:t>
            </a:r>
          </a:p>
        </p:txBody>
      </p:sp>
      <p:sp>
        <p:nvSpPr>
          <p:cNvPr id="13" name="TextBox 12"/>
          <p:cNvSpPr txBox="1"/>
          <p:nvPr/>
        </p:nvSpPr>
        <p:spPr>
          <a:xfrm>
            <a:off x="7452360" y="4160520"/>
            <a:ext cx="3657600" cy="1737360"/>
          </a:xfrm>
          <a:prstGeom prst="rect">
            <a:avLst/>
          </a:prstGeom>
          <a:noFill/>
        </p:spPr>
        <p:txBody>
          <a:bodyPr wrap="square" tIns="0" bIns="0" lIns="0" rIns="0">
            <a:spAutoFit/>
          </a:bodyPr>
          <a:lstStyle/>
          <a:p>
            <a:pPr>
              <a:defRPr sz="1050" b="1">
                <a:solidFill>
                  <a:srgbClr val="172B45"/>
                </a:solidFill>
                <a:latin typeface="Arial"/>
              </a:defRPr>
            </a:pPr>
            <a:r>
              <a:t>• Cohort: OASIS-1 (N=235 Clinically Evaluated)</a:t>
            </a:r>
          </a:p>
          <a:p>
            <a:pPr>
              <a:spcBef>
                <a:spcPts val="400"/>
              </a:spcBef>
              <a:defRPr sz="1000">
                <a:solidFill>
                  <a:srgbClr val="66758A"/>
                </a:solidFill>
                <a:latin typeface="Arial"/>
              </a:defRPr>
            </a:pPr>
            <a:r>
              <a:t>• Protocol: Strict 80/20 subject-level split (0 leakage)</a:t>
            </a:r>
            <a:br/>
            <a:r>
              <a:t>• Peak Model: Gradient Boosting (85.11% Acc, 0.9426 AUC)</a:t>
            </a:r>
            <a:br/>
            <a:r>
              <a:t>• Ensemble: Soft-Voting (LR + RF + GB, 0.9426 AUC)</a:t>
            </a:r>
            <a:br/>
            <a:r>
              <a:t>• Modality Gain: Multimodal beats MRI-only by +12.77% Acc</a:t>
            </a:r>
            <a:br/>
            <a:r>
              <a:t>• Explainability: SHAP TreeExplainer (MMSE &amp; nWBV)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01 | CLINICAL CONTEXT</a:t>
            </a:r>
          </a:p>
          <a:p>
            <a:pPr>
              <a:defRPr sz="2100" b="1">
                <a:solidFill>
                  <a:srgbClr val="172B45"/>
                </a:solidFill>
                <a:latin typeface="Arial"/>
              </a:defRPr>
            </a:pPr>
            <a:r>
              <a:t>Background &amp; Clinical Motivation</a:t>
            </a:r>
          </a:p>
          <a:p>
            <a:pPr>
              <a:spcBef>
                <a:spcPts val="200"/>
              </a:spcBef>
              <a:defRPr sz="1050">
                <a:solidFill>
                  <a:srgbClr val="66758A"/>
                </a:solidFill>
                <a:latin typeface="Arial"/>
              </a:defRPr>
            </a:pPr>
            <a:r>
              <a:t>Epidemiological scale, diagnostic limitations, and the necessity of interpretable medical intelligence.</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02 / 16</a:t>
            </a:r>
          </a:p>
        </p:txBody>
      </p:sp>
      <p:sp>
        <p:nvSpPr>
          <p:cNvPr id="8" name="Rounded Rectangle 7"/>
          <p:cNvSpPr/>
          <p:nvPr/>
        </p:nvSpPr>
        <p:spPr>
          <a:xfrm>
            <a:off x="7315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3383280" cy="45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2944368" cy="502920"/>
          </a:xfrm>
          <a:prstGeom prst="rect">
            <a:avLst/>
          </a:prstGeom>
          <a:noFill/>
        </p:spPr>
        <p:txBody>
          <a:bodyPr wrap="square" tIns="0" bIns="0" lIns="0" rIns="0">
            <a:spAutoFit/>
          </a:bodyPr>
          <a:lstStyle/>
          <a:p>
            <a:pPr>
              <a:defRPr sz="850" b="1">
                <a:solidFill>
                  <a:srgbClr val="C0392B"/>
                </a:solidFill>
                <a:latin typeface="Arial"/>
              </a:defRPr>
            </a:pPr>
            <a:r>
              <a:t>EPIDEMIOLOGY</a:t>
            </a:r>
          </a:p>
          <a:p>
            <a:pPr>
              <a:defRPr sz="1250" b="1">
                <a:solidFill>
                  <a:srgbClr val="172B45"/>
                </a:solidFill>
                <a:latin typeface="Arial"/>
              </a:defRPr>
            </a:pPr>
            <a:r>
              <a:t>Global Healthcare Challenge</a:t>
            </a:r>
          </a:p>
        </p:txBody>
      </p:sp>
      <p:sp>
        <p:nvSpPr>
          <p:cNvPr id="11" name="TextBox 10"/>
          <p:cNvSpPr txBox="1"/>
          <p:nvPr/>
        </p:nvSpPr>
        <p:spPr>
          <a:xfrm>
            <a:off x="950976" y="2103120"/>
            <a:ext cx="2944368" cy="3886200"/>
          </a:xfrm>
          <a:prstGeom prst="rect">
            <a:avLst/>
          </a:prstGeom>
          <a:noFill/>
        </p:spPr>
        <p:txBody>
          <a:bodyPr wrap="square">
            <a:spAutoFit/>
          </a:bodyPr>
          <a:lstStyle/>
          <a:p>
            <a:pPr>
              <a:defRPr sz="1000">
                <a:solidFill>
                  <a:srgbClr val="172B45"/>
                </a:solidFill>
                <a:latin typeface="Arial"/>
              </a:defRPr>
            </a:pPr>
            <a:r>
              <a:t>• Leading Cause of Dementia:</a:t>
            </a:r>
          </a:p>
          <a:p>
            <a:pPr>
              <a:defRPr sz="1000">
                <a:solidFill>
                  <a:srgbClr val="172B45"/>
                </a:solidFill>
                <a:latin typeface="Arial"/>
              </a:defRPr>
            </a:pPr>
            <a:r>
              <a:t>  Alzheimer's Disease (AD) accounts for 60%–80% of all neurodegenerative dementia diagnoses globally.</a:t>
            </a:r>
          </a:p>
          <a:p>
            <a:pPr>
              <a:defRPr sz="1000">
                <a:solidFill>
                  <a:srgbClr val="172B45"/>
                </a:solidFill>
                <a:latin typeface="Arial"/>
              </a:defRPr>
            </a:pPr>
          </a:p>
          <a:p>
            <a:pPr>
              <a:defRPr sz="1000">
                <a:solidFill>
                  <a:srgbClr val="172B45"/>
                </a:solidFill>
                <a:latin typeface="Arial"/>
              </a:defRPr>
            </a:pPr>
            <a:r>
              <a:t>• Accelerating Prevalence:</a:t>
            </a:r>
          </a:p>
          <a:p>
            <a:pPr>
              <a:defRPr sz="1000">
                <a:solidFill>
                  <a:srgbClr val="172B45"/>
                </a:solidFill>
                <a:latin typeface="Arial"/>
              </a:defRPr>
            </a:pPr>
            <a:r>
              <a:t>  Over 55 million individuals currently live with dementia; projected to exceed 152 million by 2050 (WHO, 2023).</a:t>
            </a:r>
          </a:p>
          <a:p>
            <a:pPr>
              <a:defRPr sz="1000">
                <a:solidFill>
                  <a:srgbClr val="172B45"/>
                </a:solidFill>
                <a:latin typeface="Arial"/>
              </a:defRPr>
            </a:pPr>
          </a:p>
          <a:p>
            <a:pPr>
              <a:defRPr sz="1000">
                <a:solidFill>
                  <a:srgbClr val="172B45"/>
                </a:solidFill>
                <a:latin typeface="Arial"/>
              </a:defRPr>
            </a:pPr>
            <a:r>
              <a:t>• Severe Economic Burden:</a:t>
            </a:r>
          </a:p>
          <a:p>
            <a:pPr>
              <a:defRPr sz="1000">
                <a:solidFill>
                  <a:srgbClr val="172B45"/>
                </a:solidFill>
                <a:latin typeface="Arial"/>
              </a:defRPr>
            </a:pPr>
            <a:r>
              <a:t>  Annual global healthcare expenditures exceed $1.3 trillion, straining national care systems.</a:t>
            </a:r>
          </a:p>
          <a:p>
            <a:pPr>
              <a:defRPr sz="1000">
                <a:solidFill>
                  <a:srgbClr val="172B45"/>
                </a:solidFill>
                <a:latin typeface="Arial"/>
              </a:defRPr>
            </a:pPr>
          </a:p>
          <a:p>
            <a:pPr>
              <a:defRPr sz="1000">
                <a:solidFill>
                  <a:srgbClr val="172B45"/>
                </a:solidFill>
                <a:latin typeface="Arial"/>
              </a:defRPr>
            </a:pPr>
            <a:r>
              <a:t>• Preclinical Atrophy:</a:t>
            </a:r>
          </a:p>
          <a:p>
            <a:pPr>
              <a:defRPr sz="1000">
                <a:solidFill>
                  <a:srgbClr val="172B45"/>
                </a:solidFill>
                <a:latin typeface="Arial"/>
              </a:defRPr>
            </a:pPr>
            <a:r>
              <a:t>  Irreversible microscopic and macroscopic cerebral parenchymal damage begins 5–15 years prior to clinical symptoms.</a:t>
            </a:r>
          </a:p>
        </p:txBody>
      </p:sp>
      <p:sp>
        <p:nvSpPr>
          <p:cNvPr id="12" name="Rounded Rectangle 11"/>
          <p:cNvSpPr/>
          <p:nvPr/>
        </p:nvSpPr>
        <p:spPr>
          <a:xfrm>
            <a:off x="43891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417320"/>
            <a:ext cx="3383280" cy="45720"/>
          </a:xfrm>
          <a:prstGeom prst="rect">
            <a:avLst/>
          </a:prstGeom>
          <a:solidFill>
            <a:srgbClr val="5685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563624"/>
            <a:ext cx="2944368" cy="502920"/>
          </a:xfrm>
          <a:prstGeom prst="rect">
            <a:avLst/>
          </a:prstGeom>
          <a:noFill/>
        </p:spPr>
        <p:txBody>
          <a:bodyPr wrap="square" tIns="0" bIns="0" lIns="0" rIns="0">
            <a:spAutoFit/>
          </a:bodyPr>
          <a:lstStyle/>
          <a:p>
            <a:pPr>
              <a:defRPr sz="850" b="1">
                <a:solidFill>
                  <a:srgbClr val="5685C4"/>
                </a:solidFill>
                <a:latin typeface="Arial"/>
              </a:defRPr>
            </a:pPr>
            <a:r>
              <a:t>CLINICAL LIMITS</a:t>
            </a:r>
          </a:p>
          <a:p>
            <a:pPr>
              <a:defRPr sz="1250" b="1">
                <a:solidFill>
                  <a:srgbClr val="172B45"/>
                </a:solidFill>
                <a:latin typeface="Arial"/>
              </a:defRPr>
            </a:pPr>
            <a:r>
              <a:t>Current Diagnostic Bottlenecks</a:t>
            </a:r>
          </a:p>
        </p:txBody>
      </p:sp>
      <p:sp>
        <p:nvSpPr>
          <p:cNvPr id="15" name="TextBox 14"/>
          <p:cNvSpPr txBox="1"/>
          <p:nvPr/>
        </p:nvSpPr>
        <p:spPr>
          <a:xfrm>
            <a:off x="4608576" y="2103120"/>
            <a:ext cx="2944368" cy="3886200"/>
          </a:xfrm>
          <a:prstGeom prst="rect">
            <a:avLst/>
          </a:prstGeom>
          <a:noFill/>
        </p:spPr>
        <p:txBody>
          <a:bodyPr wrap="square">
            <a:spAutoFit/>
          </a:bodyPr>
          <a:lstStyle/>
          <a:p>
            <a:pPr>
              <a:defRPr sz="1000">
                <a:solidFill>
                  <a:srgbClr val="172B45"/>
                </a:solidFill>
                <a:latin typeface="Arial"/>
              </a:defRPr>
            </a:pPr>
            <a:r>
              <a:t>• Psychometric Tests (MMSE):</a:t>
            </a:r>
          </a:p>
          <a:p>
            <a:pPr>
              <a:defRPr sz="1000">
                <a:solidFill>
                  <a:srgbClr val="172B45"/>
                </a:solidFill>
                <a:latin typeface="Arial"/>
              </a:defRPr>
            </a:pPr>
            <a:r>
              <a:t>  Mini-Mental State Examination is fast but subject to language bias, education confounding, and ceiling effects in mild stages.</a:t>
            </a:r>
          </a:p>
          <a:p>
            <a:pPr>
              <a:defRPr sz="1000">
                <a:solidFill>
                  <a:srgbClr val="172B45"/>
                </a:solidFill>
                <a:latin typeface="Arial"/>
              </a:defRPr>
            </a:pPr>
          </a:p>
          <a:p>
            <a:pPr>
              <a:defRPr sz="1000">
                <a:solidFill>
                  <a:srgbClr val="172B45"/>
                </a:solidFill>
                <a:latin typeface="Arial"/>
              </a:defRPr>
            </a:pPr>
            <a:r>
              <a:t>• Structural MRI Volumetry:</a:t>
            </a:r>
          </a:p>
          <a:p>
            <a:pPr>
              <a:defRPr sz="1000">
                <a:solidFill>
                  <a:srgbClr val="172B45"/>
                </a:solidFill>
                <a:latin typeface="Arial"/>
              </a:defRPr>
            </a:pPr>
            <a:r>
              <a:t>  Captures ventricular enlargement, hippocampal shrinkage, and whole-brain parenchymal loss (nWBV).</a:t>
            </a:r>
          </a:p>
          <a:p>
            <a:pPr>
              <a:defRPr sz="1000">
                <a:solidFill>
                  <a:srgbClr val="172B45"/>
                </a:solidFill>
                <a:latin typeface="Arial"/>
              </a:defRPr>
            </a:pPr>
          </a:p>
          <a:p>
            <a:pPr>
              <a:defRPr sz="1000">
                <a:solidFill>
                  <a:srgbClr val="172B45"/>
                </a:solidFill>
                <a:latin typeface="Arial"/>
              </a:defRPr>
            </a:pPr>
            <a:r>
              <a:t>• Expert Radiologist Scarcity:</a:t>
            </a:r>
          </a:p>
          <a:p>
            <a:pPr>
              <a:defRPr sz="1000">
                <a:solidFill>
                  <a:srgbClr val="172B45"/>
                </a:solidFill>
                <a:latin typeface="Arial"/>
              </a:defRPr>
            </a:pPr>
            <a:r>
              <a:t>  Manual volumetric assessment requires specialized neuroradiologists, creating long diagnostic waiting lists.</a:t>
            </a:r>
          </a:p>
          <a:p>
            <a:pPr>
              <a:defRPr sz="1000">
                <a:solidFill>
                  <a:srgbClr val="172B45"/>
                </a:solidFill>
                <a:latin typeface="Arial"/>
              </a:defRPr>
            </a:pPr>
          </a:p>
          <a:p>
            <a:pPr>
              <a:defRPr sz="1000">
                <a:solidFill>
                  <a:srgbClr val="172B45"/>
                </a:solidFill>
                <a:latin typeface="Arial"/>
              </a:defRPr>
            </a:pPr>
            <a:r>
              <a:t>• Inter-Rater Variability:</a:t>
            </a:r>
          </a:p>
          <a:p>
            <a:pPr>
              <a:defRPr sz="1000">
                <a:solidFill>
                  <a:srgbClr val="172B45"/>
                </a:solidFill>
                <a:latin typeface="Arial"/>
              </a:defRPr>
            </a:pPr>
            <a:r>
              <a:t>  Subjective clinical evaluation of border cases (CDR 0.5) leads to conflicting early-stage diagnoses.</a:t>
            </a:r>
          </a:p>
        </p:txBody>
      </p:sp>
      <p:sp>
        <p:nvSpPr>
          <p:cNvPr id="16" name="Rounded Rectangle 15"/>
          <p:cNvSpPr/>
          <p:nvPr/>
        </p:nvSpPr>
        <p:spPr>
          <a:xfrm>
            <a:off x="80467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417320"/>
            <a:ext cx="338328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6176" y="1563624"/>
            <a:ext cx="2944368" cy="502920"/>
          </a:xfrm>
          <a:prstGeom prst="rect">
            <a:avLst/>
          </a:prstGeom>
          <a:noFill/>
        </p:spPr>
        <p:txBody>
          <a:bodyPr wrap="square" tIns="0" bIns="0" lIns="0" rIns="0">
            <a:spAutoFit/>
          </a:bodyPr>
          <a:lstStyle/>
          <a:p>
            <a:pPr>
              <a:defRPr sz="850" b="1">
                <a:solidFill>
                  <a:srgbClr val="168C8C"/>
                </a:solidFill>
                <a:latin typeface="Arial"/>
              </a:defRPr>
            </a:pPr>
            <a:r>
              <a:t>AI TRUST</a:t>
            </a:r>
          </a:p>
          <a:p>
            <a:pPr>
              <a:defRPr sz="1250" b="1">
                <a:solidFill>
                  <a:srgbClr val="172B45"/>
                </a:solidFill>
                <a:latin typeface="Arial"/>
              </a:defRPr>
            </a:pPr>
            <a:r>
              <a:t>The Explainability Imperative</a:t>
            </a:r>
          </a:p>
        </p:txBody>
      </p:sp>
      <p:sp>
        <p:nvSpPr>
          <p:cNvPr id="19" name="TextBox 18"/>
          <p:cNvSpPr txBox="1"/>
          <p:nvPr/>
        </p:nvSpPr>
        <p:spPr>
          <a:xfrm>
            <a:off x="8266176" y="2103120"/>
            <a:ext cx="2944368" cy="3886200"/>
          </a:xfrm>
          <a:prstGeom prst="rect">
            <a:avLst/>
          </a:prstGeom>
          <a:noFill/>
        </p:spPr>
        <p:txBody>
          <a:bodyPr wrap="square">
            <a:spAutoFit/>
          </a:bodyPr>
          <a:lstStyle/>
          <a:p>
            <a:pPr>
              <a:defRPr sz="1000">
                <a:solidFill>
                  <a:srgbClr val="172B45"/>
                </a:solidFill>
                <a:latin typeface="Arial"/>
              </a:defRPr>
            </a:pPr>
            <a:r>
              <a:t>• Black-Box Skepticism:</a:t>
            </a:r>
          </a:p>
          <a:p>
            <a:pPr>
              <a:defRPr sz="1000">
                <a:solidFill>
                  <a:srgbClr val="172B45"/>
                </a:solidFill>
                <a:latin typeface="Arial"/>
              </a:defRPr>
            </a:pPr>
            <a:r>
              <a:t>  Deep neural networks provide unverified diagnostic scores without showing which anatomical features drove the prediction.</a:t>
            </a:r>
          </a:p>
          <a:p>
            <a:pPr>
              <a:defRPr sz="1000">
                <a:solidFill>
                  <a:srgbClr val="172B45"/>
                </a:solidFill>
                <a:latin typeface="Arial"/>
              </a:defRPr>
            </a:pPr>
          </a:p>
          <a:p>
            <a:pPr>
              <a:defRPr sz="1000">
                <a:solidFill>
                  <a:srgbClr val="172B45"/>
                </a:solidFill>
                <a:latin typeface="Arial"/>
              </a:defRPr>
            </a:pPr>
            <a:r>
              <a:t>• High Clinical Stakes:</a:t>
            </a:r>
          </a:p>
          <a:p>
            <a:pPr>
              <a:defRPr sz="1000">
                <a:solidFill>
                  <a:srgbClr val="172B45"/>
                </a:solidFill>
                <a:latin typeface="Arial"/>
              </a:defRPr>
            </a:pPr>
            <a:r>
              <a:t>  False positives trigger unwarranted trauma and medical bills; false negatives miss the early intervention window.</a:t>
            </a:r>
          </a:p>
          <a:p>
            <a:pPr>
              <a:defRPr sz="1000">
                <a:solidFill>
                  <a:srgbClr val="172B45"/>
                </a:solidFill>
                <a:latin typeface="Arial"/>
              </a:defRPr>
            </a:pPr>
          </a:p>
          <a:p>
            <a:pPr>
              <a:defRPr sz="1000">
                <a:solidFill>
                  <a:srgbClr val="172B45"/>
                </a:solidFill>
                <a:latin typeface="Arial"/>
              </a:defRPr>
            </a:pPr>
            <a:r>
              <a:t>• Regulatory Mandates:</a:t>
            </a:r>
          </a:p>
          <a:p>
            <a:pPr>
              <a:defRPr sz="1000">
                <a:solidFill>
                  <a:srgbClr val="172B45"/>
                </a:solidFill>
                <a:latin typeface="Arial"/>
              </a:defRPr>
            </a:pPr>
            <a:r>
              <a:t>  FDA Software as a Medical Device (SaMD) and EU AI Act require transparent, auditable decision justification.</a:t>
            </a:r>
          </a:p>
          <a:p>
            <a:pPr>
              <a:defRPr sz="1000">
                <a:solidFill>
                  <a:srgbClr val="172B45"/>
                </a:solidFill>
                <a:latin typeface="Arial"/>
              </a:defRPr>
            </a:pPr>
          </a:p>
          <a:p>
            <a:pPr>
              <a:defRPr sz="1000">
                <a:solidFill>
                  <a:srgbClr val="172B45"/>
                </a:solidFill>
                <a:latin typeface="Arial"/>
              </a:defRPr>
            </a:pPr>
            <a:r>
              <a:t>• Collaborative Intelligence:</a:t>
            </a:r>
          </a:p>
          <a:p>
            <a:pPr>
              <a:defRPr sz="1000">
                <a:solidFill>
                  <a:srgbClr val="172B45"/>
                </a:solidFill>
                <a:latin typeface="Arial"/>
              </a:defRPr>
            </a:pPr>
            <a:r>
              <a:t>  AI must act as transparent second-opinion support, enabling physicians to verify biological rationale.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02 | RESEARCH OBJECTIVES</a:t>
            </a:r>
          </a:p>
          <a:p>
            <a:pPr>
              <a:defRPr sz="2100" b="1">
                <a:solidFill>
                  <a:srgbClr val="172B45"/>
                </a:solidFill>
                <a:latin typeface="Arial"/>
              </a:defRPr>
            </a:pPr>
            <a:r>
              <a:t>Problem Statement &amp; Methodological Goals</a:t>
            </a:r>
          </a:p>
          <a:p>
            <a:pPr>
              <a:spcBef>
                <a:spcPts val="200"/>
              </a:spcBef>
              <a:defRPr sz="1050">
                <a:solidFill>
                  <a:srgbClr val="66758A"/>
                </a:solidFill>
                <a:latin typeface="Arial"/>
              </a:defRPr>
            </a:pPr>
            <a:r>
              <a:t>Mapping major vulnerabilities in existing medical AI literature directly to project solutions.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03 / 16</a:t>
            </a:r>
          </a:p>
        </p:txBody>
      </p:sp>
      <p:sp>
        <p:nvSpPr>
          <p:cNvPr id="8" name="Rounded Rectangle 7"/>
          <p:cNvSpPr/>
          <p:nvPr/>
        </p:nvSpPr>
        <p:spPr>
          <a:xfrm>
            <a:off x="731520" y="1417320"/>
            <a:ext cx="512064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5120640" cy="45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4681728" cy="502920"/>
          </a:xfrm>
          <a:prstGeom prst="rect">
            <a:avLst/>
          </a:prstGeom>
          <a:noFill/>
        </p:spPr>
        <p:txBody>
          <a:bodyPr wrap="square" tIns="0" bIns="0" lIns="0" rIns="0">
            <a:spAutoFit/>
          </a:bodyPr>
          <a:lstStyle/>
          <a:p>
            <a:pPr>
              <a:defRPr sz="850" b="1">
                <a:solidFill>
                  <a:srgbClr val="C0392B"/>
                </a:solidFill>
                <a:latin typeface="Arial"/>
              </a:defRPr>
            </a:pPr>
            <a:r>
              <a:t>CORE CHALLENGES</a:t>
            </a:r>
          </a:p>
          <a:p>
            <a:pPr>
              <a:defRPr sz="1250" b="1">
                <a:solidFill>
                  <a:srgbClr val="172B45"/>
                </a:solidFill>
                <a:latin typeface="Arial"/>
              </a:defRPr>
            </a:pPr>
            <a:r>
              <a:t>Critical Vulnerabilities in Literature</a:t>
            </a:r>
          </a:p>
        </p:txBody>
      </p:sp>
      <p:sp>
        <p:nvSpPr>
          <p:cNvPr id="11" name="TextBox 10"/>
          <p:cNvSpPr txBox="1"/>
          <p:nvPr/>
        </p:nvSpPr>
        <p:spPr>
          <a:xfrm>
            <a:off x="960120" y="2148840"/>
            <a:ext cx="4663440" cy="3749039"/>
          </a:xfrm>
          <a:prstGeom prst="rect">
            <a:avLst/>
          </a:prstGeom>
          <a:noFill/>
        </p:spPr>
        <p:txBody>
          <a:bodyPr wrap="square">
            <a:spAutoFit/>
          </a:bodyPr>
          <a:lstStyle/>
          <a:p>
            <a:pPr>
              <a:defRPr sz="1000">
                <a:solidFill>
                  <a:srgbClr val="172B45"/>
                </a:solidFill>
                <a:latin typeface="Arial"/>
              </a:defRPr>
            </a:pPr>
            <a:r>
              <a:t>1. Opacity of Deep Classifiers (Black-Box Problem):</a:t>
            </a:r>
          </a:p>
          <a:p>
            <a:pPr>
              <a:defRPr sz="1000">
                <a:solidFill>
                  <a:srgbClr val="172B45"/>
                </a:solidFill>
                <a:latin typeface="Arial"/>
              </a:defRPr>
            </a:pPr>
            <a:r>
              <a:t>   Complex 3D convolutional models fail to provide patient-specific feature attribution, preventing clinicians from auditing if outputs stem from genuine pathology or scanner noise.</a:t>
            </a:r>
          </a:p>
          <a:p>
            <a:pPr>
              <a:defRPr sz="1000">
                <a:solidFill>
                  <a:srgbClr val="172B45"/>
                </a:solidFill>
                <a:latin typeface="Arial"/>
              </a:defRPr>
            </a:pPr>
          </a:p>
          <a:p>
            <a:pPr>
              <a:defRPr sz="1000">
                <a:solidFill>
                  <a:srgbClr val="172B45"/>
                </a:solidFill>
                <a:latin typeface="Arial"/>
              </a:defRPr>
            </a:pPr>
            <a:r>
              <a:t>2. Widespread Data Leakage in Published Studies:</a:t>
            </a:r>
          </a:p>
          <a:p>
            <a:pPr>
              <a:defRPr sz="1000">
                <a:solidFill>
                  <a:srgbClr val="172B45"/>
                </a:solidFill>
                <a:latin typeface="Arial"/>
              </a:defRPr>
            </a:pPr>
            <a:r>
              <a:t>   Subject overlap across train/test splits and global pre-scaling across entire datasets artificially inflate published accuracy by up to 25% (Yagis et al., 2021).</a:t>
            </a:r>
          </a:p>
          <a:p>
            <a:pPr>
              <a:defRPr sz="1000">
                <a:solidFill>
                  <a:srgbClr val="172B45"/>
                </a:solidFill>
                <a:latin typeface="Arial"/>
              </a:defRPr>
            </a:pPr>
          </a:p>
          <a:p>
            <a:pPr>
              <a:defRPr sz="1000">
                <a:solidFill>
                  <a:srgbClr val="172B45"/>
                </a:solidFill>
                <a:latin typeface="Arial"/>
              </a:defRPr>
            </a:pPr>
            <a:r>
              <a:t>3. Prohibitive Computational Infrastructure:</a:t>
            </a:r>
          </a:p>
          <a:p>
            <a:pPr>
              <a:defRPr sz="1000">
                <a:solidFill>
                  <a:srgbClr val="172B45"/>
                </a:solidFill>
                <a:latin typeface="Arial"/>
              </a:defRPr>
            </a:pPr>
            <a:r>
              <a:t>   Large-scale 3D CNNs require high-end GPU clusters and hours of non-linear spatial deformation, rendering them impractical for resource-limited primary care clinics.</a:t>
            </a:r>
          </a:p>
        </p:txBody>
      </p:sp>
      <p:sp>
        <p:nvSpPr>
          <p:cNvPr id="12" name="Rounded Rectangle 11"/>
          <p:cNvSpPr/>
          <p:nvPr/>
        </p:nvSpPr>
        <p:spPr>
          <a:xfrm>
            <a:off x="6217920" y="1417320"/>
            <a:ext cx="5242255"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417320"/>
            <a:ext cx="5242255"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37376" y="1563624"/>
            <a:ext cx="4803343" cy="502920"/>
          </a:xfrm>
          <a:prstGeom prst="rect">
            <a:avLst/>
          </a:prstGeom>
          <a:noFill/>
        </p:spPr>
        <p:txBody>
          <a:bodyPr wrap="square" tIns="0" bIns="0" lIns="0" rIns="0">
            <a:spAutoFit/>
          </a:bodyPr>
          <a:lstStyle/>
          <a:p>
            <a:pPr>
              <a:defRPr sz="850" b="1">
                <a:solidFill>
                  <a:srgbClr val="168C8C"/>
                </a:solidFill>
                <a:latin typeface="Arial"/>
              </a:defRPr>
            </a:pPr>
            <a:r>
              <a:t>PROPOSED SOLUTIONS</a:t>
            </a:r>
          </a:p>
          <a:p>
            <a:pPr>
              <a:defRPr sz="1250" b="1">
                <a:solidFill>
                  <a:srgbClr val="172B45"/>
                </a:solidFill>
                <a:latin typeface="Arial"/>
              </a:defRPr>
            </a:pPr>
            <a:r>
              <a:t>Formulated Project Objectives</a:t>
            </a:r>
          </a:p>
        </p:txBody>
      </p:sp>
      <p:sp>
        <p:nvSpPr>
          <p:cNvPr id="15" name="TextBox 14"/>
          <p:cNvSpPr txBox="1"/>
          <p:nvPr/>
        </p:nvSpPr>
        <p:spPr>
          <a:xfrm>
            <a:off x="6446520" y="2148840"/>
            <a:ext cx="4754880" cy="3749039"/>
          </a:xfrm>
          <a:prstGeom prst="rect">
            <a:avLst/>
          </a:prstGeom>
          <a:noFill/>
        </p:spPr>
        <p:txBody>
          <a:bodyPr wrap="square">
            <a:spAutoFit/>
          </a:bodyPr>
          <a:lstStyle/>
          <a:p>
            <a:pPr>
              <a:defRPr sz="1000">
                <a:solidFill>
                  <a:srgbClr val="172B45"/>
                </a:solidFill>
                <a:latin typeface="Arial"/>
              </a:defRPr>
            </a:pPr>
            <a:r>
              <a:t>• Strict Participant-Level Partitioning:</a:t>
            </a:r>
          </a:p>
          <a:p>
            <a:pPr>
              <a:defRPr sz="1000">
                <a:solidFill>
                  <a:srgbClr val="172B45"/>
                </a:solidFill>
                <a:latin typeface="Arial"/>
              </a:defRPr>
            </a:pPr>
            <a:r>
              <a:t>  Enforce an absolute 80/20 subject-level holdout partition (S_train ∩ S_test = ∅) with all imputation and scaling fitted exclusively on training subjects.</a:t>
            </a:r>
          </a:p>
          <a:p>
            <a:pPr>
              <a:defRPr sz="1000">
                <a:solidFill>
                  <a:srgbClr val="172B45"/>
                </a:solidFill>
                <a:latin typeface="Arial"/>
              </a:defRPr>
            </a:pPr>
          </a:p>
          <a:p>
            <a:pPr>
              <a:defRPr sz="1000">
                <a:solidFill>
                  <a:srgbClr val="172B45"/>
                </a:solidFill>
                <a:latin typeface="Arial"/>
              </a:defRPr>
            </a:pPr>
            <a:r>
              <a:t>• Multimodal Synergistic Integration:</a:t>
            </a:r>
          </a:p>
          <a:p>
            <a:pPr>
              <a:defRPr sz="1000">
                <a:solidFill>
                  <a:srgbClr val="172B45"/>
                </a:solidFill>
                <a:latin typeface="Arial"/>
              </a:defRPr>
            </a:pPr>
            <a:r>
              <a:t>  Combine cognitive psychometrics (MMSE) with stereotaxically normalized MRI morphometrics (nWBV, eTIV, ASF) for cross-modality complementary power.</a:t>
            </a:r>
          </a:p>
          <a:p>
            <a:pPr>
              <a:defRPr sz="1000">
                <a:solidFill>
                  <a:srgbClr val="172B45"/>
                </a:solidFill>
                <a:latin typeface="Arial"/>
              </a:defRPr>
            </a:pPr>
          </a:p>
          <a:p>
            <a:pPr>
              <a:defRPr sz="1000">
                <a:solidFill>
                  <a:srgbClr val="172B45"/>
                </a:solidFill>
                <a:latin typeface="Arial"/>
              </a:defRPr>
            </a:pPr>
            <a:r>
              <a:t>• Lightweight Machine Learning Ensemble:</a:t>
            </a:r>
          </a:p>
          <a:p>
            <a:pPr>
              <a:defRPr sz="1000">
                <a:solidFill>
                  <a:srgbClr val="172B45"/>
                </a:solidFill>
                <a:latin typeface="Arial"/>
              </a:defRPr>
            </a:pPr>
            <a:r>
              <a:t>  Benchmark 6 classifiers on commodity hardware (Intel Core i5) executing full 5-fold CV and test evaluation in &lt;15 seconds without GPU requirements.</a:t>
            </a:r>
          </a:p>
          <a:p>
            <a:pPr>
              <a:defRPr sz="1000">
                <a:solidFill>
                  <a:srgbClr val="172B45"/>
                </a:solidFill>
                <a:latin typeface="Arial"/>
              </a:defRPr>
            </a:pPr>
          </a:p>
          <a:p>
            <a:pPr>
              <a:defRPr sz="1000">
                <a:solidFill>
                  <a:srgbClr val="172B45"/>
                </a:solidFill>
                <a:latin typeface="Arial"/>
              </a:defRPr>
            </a:pPr>
            <a:r>
              <a:t>• Game-Theoretic Explainability via SHAP:</a:t>
            </a:r>
          </a:p>
          <a:p>
            <a:pPr>
              <a:defRPr sz="1000">
                <a:solidFill>
                  <a:srgbClr val="172B45"/>
                </a:solidFill>
                <a:latin typeface="Arial"/>
              </a:defRPr>
            </a:pPr>
            <a:r>
              <a:t>  Deploy TreeExplainer to deliver both global cohort biomarker importance and patient-level waterfall log-odds decision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03 | STATE OF THE ART</a:t>
            </a:r>
          </a:p>
          <a:p>
            <a:pPr>
              <a:defRPr sz="2100" b="1">
                <a:solidFill>
                  <a:srgbClr val="172B45"/>
                </a:solidFill>
                <a:latin typeface="Arial"/>
              </a:defRPr>
            </a:pPr>
            <a:r>
              <a:t>Literature Review &amp; Research Gap (2021–2026)</a:t>
            </a:r>
          </a:p>
          <a:p>
            <a:pPr>
              <a:spcBef>
                <a:spcPts val="200"/>
              </a:spcBef>
              <a:defRPr sz="1050">
                <a:solidFill>
                  <a:srgbClr val="66758A"/>
                </a:solidFill>
                <a:latin typeface="Arial"/>
              </a:defRPr>
            </a:pPr>
            <a:r>
              <a:t>Analysis of recent peer-reviewed multimodal and explainable AI studies on neuroimaging cohorts.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04 / 16</a:t>
            </a:r>
          </a:p>
        </p:txBody>
      </p:sp>
      <p:graphicFrame>
        <p:nvGraphicFramePr>
          <p:cNvPr id="8" name="Table 7"/>
          <p:cNvGraphicFramePr>
            <a:graphicFrameLocks noGrp="1"/>
          </p:cNvGraphicFramePr>
          <p:nvPr/>
        </p:nvGraphicFramePr>
        <p:xfrm>
          <a:off x="731520" y="1371600"/>
          <a:ext cx="10728655" cy="3474720"/>
        </p:xfrm>
        <a:graphic>
          <a:graphicData uri="http://schemas.openxmlformats.org/drawingml/2006/table">
            <a:tbl>
              <a:tblPr firstRow="1" bandRow="1">
                <a:tableStyleId>{5C22544A-7EE6-4342-B048-85BDC9FD1C3A}</a:tableStyleId>
              </a:tblPr>
              <a:tblGrid>
                <a:gridCol w="2011680"/>
                <a:gridCol w="1554480"/>
                <a:gridCol w="1920240"/>
                <a:gridCol w="2743200"/>
                <a:gridCol w="2499055"/>
              </a:tblGrid>
              <a:tr h="579120">
                <a:tc>
                  <a:txBody>
                    <a:bodyPr/>
                    <a:lstStyle/>
                    <a:p>
                      <a:pPr>
                        <a:defRPr sz="900" b="1">
                          <a:solidFill>
                            <a:srgbClr val="172B45"/>
                          </a:solidFill>
                          <a:latin typeface="Arial"/>
                        </a:defRPr>
                      </a:pPr>
                      <a:r>
                        <a:t>Author &amp; Year</a:t>
                      </a:r>
                    </a:p>
                  </a:txBody>
                  <a:tcPr>
                    <a:solidFill>
                      <a:srgbClr val="F1F6FD"/>
                    </a:solidFill>
                  </a:tcPr>
                </a:tc>
                <a:tc>
                  <a:txBody>
                    <a:bodyPr/>
                    <a:lstStyle/>
                    <a:p>
                      <a:pPr>
                        <a:defRPr sz="900" b="1">
                          <a:solidFill>
                            <a:srgbClr val="172B45"/>
                          </a:solidFill>
                          <a:latin typeface="Arial"/>
                        </a:defRPr>
                      </a:pPr>
                      <a:r>
                        <a:t>Dataset &amp; Modality</a:t>
                      </a:r>
                    </a:p>
                  </a:txBody>
                  <a:tcPr>
                    <a:solidFill>
                      <a:srgbClr val="F1F6FD"/>
                    </a:solidFill>
                  </a:tcPr>
                </a:tc>
                <a:tc>
                  <a:txBody>
                    <a:bodyPr/>
                    <a:lstStyle/>
                    <a:p>
                      <a:pPr>
                        <a:defRPr sz="900" b="1">
                          <a:solidFill>
                            <a:srgbClr val="172B45"/>
                          </a:solidFill>
                          <a:latin typeface="Arial"/>
                        </a:defRPr>
                      </a:pPr>
                      <a:r>
                        <a:t>Evaluated Models</a:t>
                      </a:r>
                    </a:p>
                  </a:txBody>
                  <a:tcPr>
                    <a:solidFill>
                      <a:srgbClr val="F1F6FD"/>
                    </a:solidFill>
                  </a:tcPr>
                </a:tc>
                <a:tc>
                  <a:txBody>
                    <a:bodyPr/>
                    <a:lstStyle/>
                    <a:p>
                      <a:pPr>
                        <a:defRPr sz="900" b="1">
                          <a:solidFill>
                            <a:srgbClr val="172B45"/>
                          </a:solidFill>
                          <a:latin typeface="Arial"/>
                        </a:defRPr>
                      </a:pPr>
                      <a:r>
                        <a:t>Key Findings &amp; Metrics</a:t>
                      </a:r>
                    </a:p>
                  </a:txBody>
                  <a:tcPr>
                    <a:solidFill>
                      <a:srgbClr val="F1F6FD"/>
                    </a:solidFill>
                  </a:tcPr>
                </a:tc>
                <a:tc>
                  <a:txBody>
                    <a:bodyPr/>
                    <a:lstStyle/>
                    <a:p>
                      <a:pPr>
                        <a:defRPr sz="900" b="1">
                          <a:solidFill>
                            <a:srgbClr val="172B45"/>
                          </a:solidFill>
                          <a:latin typeface="Arial"/>
                        </a:defRPr>
                      </a:pPr>
                      <a:r>
                        <a:t>Identified Gap / Limitation</a:t>
                      </a:r>
                    </a:p>
                  </a:txBody>
                  <a:tcPr>
                    <a:solidFill>
                      <a:srgbClr val="F1F6FD"/>
                    </a:solidFill>
                  </a:tcPr>
                </a:tc>
              </a:tr>
              <a:tr h="579120">
                <a:tc>
                  <a:txBody>
                    <a:bodyPr wrap="square" tIns="36576" bIns="36576" lIns="54864" rIns="54864"/>
                    <a:lstStyle/>
                    <a:p>
                      <a:pPr>
                        <a:defRPr sz="850" b="1">
                          <a:solidFill>
                            <a:srgbClr val="172B45"/>
                          </a:solidFill>
                          <a:latin typeface="Arial"/>
                        </a:defRPr>
                      </a:pPr>
                      <a:r>
                        <a:t>Jahan et al. (2023)</a:t>
                      </a:r>
                    </a:p>
                    <a:p>
                      <a:pPr>
                        <a:defRPr sz="750">
                          <a:solidFill>
                            <a:srgbClr val="168C8C"/>
                          </a:solidFill>
                          <a:latin typeface="Arial"/>
                        </a:defRPr>
                      </a:pPr>
                      <a:r>
                        <a:t>PLOS ONE [DOI:10.1371]</a:t>
                      </a:r>
                    </a:p>
                  </a:txBody>
                  <a:tcPr>
                    <a:solidFill>
                      <a:srgbClr val="FFFFFF"/>
                    </a:solidFill>
                  </a:tcPr>
                </a:tc>
                <a:tc>
                  <a:txBody>
                    <a:bodyPr wrap="square" tIns="36576" bIns="36576" lIns="54864" rIns="54864"/>
                    <a:lstStyle/>
                    <a:p>
                      <a:pPr>
                        <a:defRPr sz="800">
                          <a:solidFill>
                            <a:srgbClr val="172B45"/>
                          </a:solidFill>
                          <a:latin typeface="Arial"/>
                        </a:defRPr>
                      </a:pPr>
                      <a:r>
                        <a:t>OASIS-3 Multimodal</a:t>
                      </a:r>
                      <a:br/>
                      <a:r>
                        <a:t>(Clinical + MRI)</a:t>
                      </a:r>
                    </a:p>
                  </a:txBody>
                  <a:tcPr>
                    <a:solidFill>
                      <a:srgbClr val="FFFFFF"/>
                    </a:solidFill>
                  </a:tcPr>
                </a:tc>
                <a:tc>
                  <a:txBody>
                    <a:bodyPr wrap="square" tIns="36576" bIns="36576" lIns="54864" rIns="54864"/>
                    <a:lstStyle/>
                    <a:p>
                      <a:pPr>
                        <a:defRPr sz="800">
                          <a:solidFill>
                            <a:srgbClr val="172B45"/>
                          </a:solidFill>
                          <a:latin typeface="Arial"/>
                        </a:defRPr>
                      </a:pPr>
                      <a:r>
                        <a:t>Random Forest,</a:t>
                      </a:r>
                      <a:br/>
                      <a:r>
                        <a:t>XGBoost + SHAP</a:t>
                      </a:r>
                    </a:p>
                  </a:txBody>
                  <a:tcPr>
                    <a:solidFill>
                      <a:srgbClr val="FFFFFF"/>
                    </a:solidFill>
                  </a:tcPr>
                </a:tc>
                <a:tc>
                  <a:txBody>
                    <a:bodyPr wrap="square" tIns="36576" bIns="36576" lIns="54864" rIns="54864"/>
                    <a:lstStyle/>
                    <a:p>
                      <a:pPr>
                        <a:defRPr sz="800">
                          <a:solidFill>
                            <a:srgbClr val="172B45"/>
                          </a:solidFill>
                          <a:latin typeface="Arial"/>
                        </a:defRPr>
                      </a:pPr>
                      <a:r>
                        <a:t>Multimodal fusion decisively outperforms unimodal MRI baselines (+8.4% Acc).</a:t>
                      </a:r>
                    </a:p>
                  </a:txBody>
                  <a:tcPr>
                    <a:solidFill>
                      <a:srgbClr val="FFFFFF"/>
                    </a:solidFill>
                  </a:tcPr>
                </a:tc>
                <a:tc>
                  <a:txBody>
                    <a:bodyPr wrap="square" tIns="36576" bIns="36576" lIns="54864" rIns="54864"/>
                    <a:lstStyle/>
                    <a:p>
                      <a:pPr>
                        <a:defRPr sz="800">
                          <a:solidFill>
                            <a:srgbClr val="172B45"/>
                          </a:solidFill>
                          <a:latin typeface="Arial"/>
                        </a:defRPr>
                      </a:pPr>
                      <a:r>
                        <a:t>Did not quantify subject-level slice leakage vulnerability.</a:t>
                      </a:r>
                    </a:p>
                  </a:txBody>
                  <a:tcPr>
                    <a:solidFill>
                      <a:srgbClr val="FFFFFF"/>
                    </a:solidFill>
                  </a:tcPr>
                </a:tc>
              </a:tr>
              <a:tr h="579120">
                <a:tc>
                  <a:txBody>
                    <a:bodyPr wrap="square" tIns="36576" bIns="36576" lIns="54864" rIns="54864"/>
                    <a:lstStyle/>
                    <a:p>
                      <a:pPr>
                        <a:defRPr sz="850" b="1">
                          <a:solidFill>
                            <a:srgbClr val="172B45"/>
                          </a:solidFill>
                          <a:latin typeface="Arial"/>
                        </a:defRPr>
                      </a:pPr>
                      <a:r>
                        <a:t>Jahan et al. (2025)</a:t>
                      </a:r>
                    </a:p>
                    <a:p>
                      <a:pPr>
                        <a:defRPr sz="750">
                          <a:solidFill>
                            <a:srgbClr val="168C8C"/>
                          </a:solidFill>
                          <a:latin typeface="Arial"/>
                        </a:defRPr>
                      </a:pPr>
                      <a:r>
                        <a:t>IEEE Access [DOI:10.1109]</a:t>
                      </a:r>
                    </a:p>
                  </a:txBody>
                  <a:tcPr>
                    <a:solidFill>
                      <a:srgbClr val="F6F8FA"/>
                    </a:solidFill>
                  </a:tcPr>
                </a:tc>
                <a:tc>
                  <a:txBody>
                    <a:bodyPr wrap="square" tIns="36576" bIns="36576" lIns="54864" rIns="54864"/>
                    <a:lstStyle/>
                    <a:p>
                      <a:pPr>
                        <a:defRPr sz="800">
                          <a:solidFill>
                            <a:srgbClr val="172B45"/>
                          </a:solidFill>
                          <a:latin typeface="Arial"/>
                        </a:defRPr>
                      </a:pPr>
                      <a:r>
                        <a:t>OASIS-3 Multimodal</a:t>
                      </a:r>
                      <a:br/>
                      <a:r>
                        <a:t>(Multi-Center)</a:t>
                      </a:r>
                    </a:p>
                  </a:txBody>
                  <a:tcPr>
                    <a:solidFill>
                      <a:srgbClr val="F6F8FA"/>
                    </a:solidFill>
                  </a:tcPr>
                </a:tc>
                <a:tc>
                  <a:txBody>
                    <a:bodyPr wrap="square" tIns="36576" bIns="36576" lIns="54864" rIns="54864"/>
                    <a:lstStyle/>
                    <a:p>
                      <a:pPr>
                        <a:defRPr sz="800">
                          <a:solidFill>
                            <a:srgbClr val="172B45"/>
                          </a:solidFill>
                          <a:latin typeface="Arial"/>
                        </a:defRPr>
                      </a:pPr>
                      <a:r>
                        <a:t>Federated Ensemble</a:t>
                      </a:r>
                      <a:br/>
                      <a:r>
                        <a:t>+ Centralized SHAP</a:t>
                      </a:r>
                    </a:p>
                  </a:txBody>
                  <a:tcPr>
                    <a:solidFill>
                      <a:srgbClr val="F6F8FA"/>
                    </a:solidFill>
                  </a:tcPr>
                </a:tc>
                <a:tc>
                  <a:txBody>
                    <a:bodyPr wrap="square" tIns="36576" bIns="36576" lIns="54864" rIns="54864"/>
                    <a:lstStyle/>
                    <a:p>
                      <a:pPr>
                        <a:defRPr sz="800">
                          <a:solidFill>
                            <a:srgbClr val="172B45"/>
                          </a:solidFill>
                          <a:latin typeface="Arial"/>
                        </a:defRPr>
                      </a:pPr>
                      <a:r>
                        <a:t>Privacy-preserving decentralized learning matches centralized AUC (0.912).</a:t>
                      </a:r>
                    </a:p>
                  </a:txBody>
                  <a:tcPr>
                    <a:solidFill>
                      <a:srgbClr val="F6F8FA"/>
                    </a:solidFill>
                  </a:tcPr>
                </a:tc>
                <a:tc>
                  <a:txBody>
                    <a:bodyPr wrap="square" tIns="36576" bIns="36576" lIns="54864" rIns="54864"/>
                    <a:lstStyle/>
                    <a:p>
                      <a:pPr>
                        <a:defRPr sz="800">
                          <a:solidFill>
                            <a:srgbClr val="172B45"/>
                          </a:solidFill>
                          <a:latin typeface="Arial"/>
                        </a:defRPr>
                      </a:pPr>
                      <a:r>
                        <a:t>High network synchronization overhead across hospital nodes.</a:t>
                      </a:r>
                    </a:p>
                  </a:txBody>
                  <a:tcPr>
                    <a:solidFill>
                      <a:srgbClr val="F6F8FA"/>
                    </a:solidFill>
                  </a:tcPr>
                </a:tc>
              </a:tr>
              <a:tr h="579120">
                <a:tc>
                  <a:txBody>
                    <a:bodyPr wrap="square" tIns="36576" bIns="36576" lIns="54864" rIns="54864"/>
                    <a:lstStyle/>
                    <a:p>
                      <a:pPr>
                        <a:defRPr sz="850" b="1">
                          <a:solidFill>
                            <a:srgbClr val="172B45"/>
                          </a:solidFill>
                          <a:latin typeface="Arial"/>
                        </a:defRPr>
                      </a:pPr>
                      <a:r>
                        <a:t>Yagis et al. (2021)</a:t>
                      </a:r>
                    </a:p>
                    <a:p>
                      <a:pPr>
                        <a:defRPr sz="750">
                          <a:solidFill>
                            <a:srgbClr val="168C8C"/>
                          </a:solidFill>
                          <a:latin typeface="Arial"/>
                        </a:defRPr>
                      </a:pPr>
                      <a:r>
                        <a:t>Sci. Reports [DOI:10.1038]</a:t>
                      </a:r>
                    </a:p>
                  </a:txBody>
                  <a:tcPr>
                    <a:solidFill>
                      <a:srgbClr val="FFFFFF"/>
                    </a:solidFill>
                  </a:tcPr>
                </a:tc>
                <a:tc>
                  <a:txBody>
                    <a:bodyPr wrap="square" tIns="36576" bIns="36576" lIns="54864" rIns="54864"/>
                    <a:lstStyle/>
                    <a:p>
                      <a:pPr>
                        <a:defRPr sz="800">
                          <a:solidFill>
                            <a:srgbClr val="172B45"/>
                          </a:solidFill>
                          <a:latin typeface="Arial"/>
                        </a:defRPr>
                      </a:pPr>
                      <a:r>
                        <a:t>ADNI &amp; OASIS</a:t>
                      </a:r>
                      <a:br/>
                      <a:r>
                        <a:t>Brain MRI Scans</a:t>
                      </a:r>
                    </a:p>
                  </a:txBody>
                  <a:tcPr>
                    <a:solidFill>
                      <a:srgbClr val="FFFFFF"/>
                    </a:solidFill>
                  </a:tcPr>
                </a:tc>
                <a:tc>
                  <a:txBody>
                    <a:bodyPr wrap="square" tIns="36576" bIns="36576" lIns="54864" rIns="54864"/>
                    <a:lstStyle/>
                    <a:p>
                      <a:pPr>
                        <a:defRPr sz="800">
                          <a:solidFill>
                            <a:srgbClr val="172B45"/>
                          </a:solidFill>
                          <a:latin typeface="Arial"/>
                        </a:defRPr>
                      </a:pPr>
                      <a:r>
                        <a:t>2D CNNs &amp; Classical</a:t>
                      </a:r>
                      <a:br/>
                      <a:r>
                        <a:t>Machine Learning</a:t>
                      </a:r>
                    </a:p>
                  </a:txBody>
                  <a:tcPr>
                    <a:solidFill>
                      <a:srgbClr val="FFFFFF"/>
                    </a:solidFill>
                  </a:tcPr>
                </a:tc>
                <a:tc>
                  <a:txBody>
                    <a:bodyPr wrap="square" tIns="36576" bIns="36576" lIns="54864" rIns="54864"/>
                    <a:lstStyle/>
                    <a:p>
                      <a:pPr>
                        <a:defRPr sz="800">
                          <a:solidFill>
                            <a:srgbClr val="172B45"/>
                          </a:solidFill>
                          <a:latin typeface="Arial"/>
                        </a:defRPr>
                      </a:pPr>
                      <a:r>
                        <a:t>Subject and slice overlap inflates reported test accuracy by 15% to 25%.</a:t>
                      </a:r>
                    </a:p>
                  </a:txBody>
                  <a:tcPr>
                    <a:solidFill>
                      <a:srgbClr val="FFFFFF"/>
                    </a:solidFill>
                  </a:tcPr>
                </a:tc>
                <a:tc>
                  <a:txBody>
                    <a:bodyPr wrap="square" tIns="36576" bIns="36576" lIns="54864" rIns="54864"/>
                    <a:lstStyle/>
                    <a:p>
                      <a:pPr>
                        <a:defRPr sz="800">
                          <a:solidFill>
                            <a:srgbClr val="172B45"/>
                          </a:solidFill>
                          <a:latin typeface="Arial"/>
                        </a:defRPr>
                      </a:pPr>
                      <a:r>
                        <a:t>Demonstrated leakage risks but proposed no unified XAI framework.</a:t>
                      </a:r>
                    </a:p>
                  </a:txBody>
                  <a:tcPr>
                    <a:solidFill>
                      <a:srgbClr val="FFFFFF"/>
                    </a:solidFill>
                  </a:tcPr>
                </a:tc>
              </a:tr>
              <a:tr h="579120">
                <a:tc>
                  <a:txBody>
                    <a:bodyPr wrap="square" tIns="36576" bIns="36576" lIns="54864" rIns="54864"/>
                    <a:lstStyle/>
                    <a:p>
                      <a:pPr>
                        <a:defRPr sz="850" b="1">
                          <a:solidFill>
                            <a:srgbClr val="172B45"/>
                          </a:solidFill>
                          <a:latin typeface="Arial"/>
                        </a:defRPr>
                      </a:pPr>
                      <a:r>
                        <a:t>Shah et al. (2024)</a:t>
                      </a:r>
                    </a:p>
                    <a:p>
                      <a:pPr>
                        <a:defRPr sz="750">
                          <a:solidFill>
                            <a:srgbClr val="168C8C"/>
                          </a:solidFill>
                          <a:latin typeface="Arial"/>
                        </a:defRPr>
                      </a:pPr>
                      <a:r>
                        <a:t>Comp. Biol. Med. [10.1016]</a:t>
                      </a:r>
                    </a:p>
                  </a:txBody>
                  <a:tcPr>
                    <a:solidFill>
                      <a:srgbClr val="F6F8FA"/>
                    </a:solidFill>
                  </a:tcPr>
                </a:tc>
                <a:tc>
                  <a:txBody>
                    <a:bodyPr wrap="square" tIns="36576" bIns="36576" lIns="54864" rIns="54864"/>
                    <a:lstStyle/>
                    <a:p>
                      <a:pPr>
                        <a:defRPr sz="800">
                          <a:solidFill>
                            <a:srgbClr val="172B45"/>
                          </a:solidFill>
                          <a:latin typeface="Arial"/>
                        </a:defRPr>
                      </a:pPr>
                      <a:r>
                        <a:t>ADNI Structural MRI</a:t>
                      </a:r>
                      <a:br/>
                      <a:r>
                        <a:t>(T1-weighted Scans)</a:t>
                      </a:r>
                    </a:p>
                  </a:txBody>
                  <a:tcPr>
                    <a:solidFill>
                      <a:srgbClr val="F6F8FA"/>
                    </a:solidFill>
                  </a:tcPr>
                </a:tc>
                <a:tc>
                  <a:txBody>
                    <a:bodyPr wrap="square" tIns="36576" bIns="36576" lIns="54864" rIns="54864"/>
                    <a:lstStyle/>
                    <a:p>
                      <a:pPr>
                        <a:defRPr sz="800">
                          <a:solidFill>
                            <a:srgbClr val="172B45"/>
                          </a:solidFill>
                          <a:latin typeface="Arial"/>
                        </a:defRPr>
                      </a:pPr>
                      <a:r>
                        <a:t>3D ResNet vs Tree</a:t>
                      </a:r>
                      <a:br/>
                      <a:r>
                        <a:t>Ensembles + SHAP</a:t>
                      </a:r>
                    </a:p>
                  </a:txBody>
                  <a:tcPr>
                    <a:solidFill>
                      <a:srgbClr val="F6F8FA"/>
                    </a:solidFill>
                  </a:tcPr>
                </a:tc>
                <a:tc>
                  <a:txBody>
                    <a:bodyPr wrap="square" tIns="36576" bIns="36576" lIns="54864" rIns="54864"/>
                    <a:lstStyle/>
                    <a:p>
                      <a:pPr>
                        <a:defRPr sz="800">
                          <a:solidFill>
                            <a:srgbClr val="172B45"/>
                          </a:solidFill>
                          <a:latin typeface="Arial"/>
                        </a:defRPr>
                      </a:pPr>
                      <a:r>
                        <a:t>Tree-based SHAP exhibits significantly higher attribution stability than Grad-CAM.</a:t>
                      </a:r>
                    </a:p>
                  </a:txBody>
                  <a:tcPr>
                    <a:solidFill>
                      <a:srgbClr val="F6F8FA"/>
                    </a:solidFill>
                  </a:tcPr>
                </a:tc>
                <a:tc>
                  <a:txBody>
                    <a:bodyPr wrap="square" tIns="36576" bIns="36576" lIns="54864" rIns="54864"/>
                    <a:lstStyle/>
                    <a:p>
                      <a:pPr>
                        <a:defRPr sz="800">
                          <a:solidFill>
                            <a:srgbClr val="172B45"/>
                          </a:solidFill>
                          <a:latin typeface="Arial"/>
                        </a:defRPr>
                      </a:pPr>
                      <a:r>
                        <a:t>Did not integrate cognitive screening psychometrics.</a:t>
                      </a:r>
                    </a:p>
                  </a:txBody>
                  <a:tcPr>
                    <a:solidFill>
                      <a:srgbClr val="F6F8FA"/>
                    </a:solidFill>
                  </a:tcPr>
                </a:tc>
              </a:tr>
              <a:tr h="579120">
                <a:tc>
                  <a:txBody>
                    <a:bodyPr wrap="square" tIns="36576" bIns="36576" lIns="54864" rIns="54864"/>
                    <a:lstStyle/>
                    <a:p>
                      <a:pPr>
                        <a:defRPr sz="850" b="1">
                          <a:solidFill>
                            <a:srgbClr val="172B45"/>
                          </a:solidFill>
                          <a:latin typeface="Arial"/>
                        </a:defRPr>
                      </a:pPr>
                      <a:r>
                        <a:t>Jiang et al. (2024)</a:t>
                      </a:r>
                    </a:p>
                    <a:p>
                      <a:pPr>
                        <a:defRPr sz="750">
                          <a:solidFill>
                            <a:srgbClr val="168C8C"/>
                          </a:solidFill>
                          <a:latin typeface="Arial"/>
                        </a:defRPr>
                      </a:pPr>
                      <a:r>
                        <a:t>Front. Aging Neur. [10.3389]</a:t>
                      </a:r>
                    </a:p>
                  </a:txBody>
                  <a:tcPr>
                    <a:solidFill>
                      <a:srgbClr val="FFFFFF"/>
                    </a:solidFill>
                  </a:tcPr>
                </a:tc>
                <a:tc>
                  <a:txBody>
                    <a:bodyPr wrap="square" tIns="36576" bIns="36576" lIns="54864" rIns="54864"/>
                    <a:lstStyle/>
                    <a:p>
                      <a:pPr>
                        <a:defRPr sz="800">
                          <a:solidFill>
                            <a:srgbClr val="172B45"/>
                          </a:solidFill>
                          <a:latin typeface="Arial"/>
                        </a:defRPr>
                      </a:pPr>
                      <a:r>
                        <a:t>Structural MRI</a:t>
                      </a:r>
                      <a:br/>
                      <a:r>
                        <a:t>Morphometry (FreeSurfer)</a:t>
                      </a:r>
                    </a:p>
                  </a:txBody>
                  <a:tcPr>
                    <a:solidFill>
                      <a:srgbClr val="FFFFFF"/>
                    </a:solidFill>
                  </a:tcPr>
                </a:tc>
                <a:tc>
                  <a:txBody>
                    <a:bodyPr wrap="square" tIns="36576" bIns="36576" lIns="54864" rIns="54864"/>
                    <a:lstStyle/>
                    <a:p>
                      <a:pPr>
                        <a:defRPr sz="800">
                          <a:solidFill>
                            <a:srgbClr val="172B45"/>
                          </a:solidFill>
                          <a:latin typeface="Arial"/>
                        </a:defRPr>
                      </a:pPr>
                      <a:r>
                        <a:t>SVM, RF, XGBoost</a:t>
                      </a:r>
                      <a:br/>
                      <a:r>
                        <a:t>+ Tree SHAP</a:t>
                      </a:r>
                    </a:p>
                  </a:txBody>
                  <a:tcPr>
                    <a:solidFill>
                      <a:srgbClr val="FFFFFF"/>
                    </a:solidFill>
                  </a:tcPr>
                </a:tc>
                <a:tc>
                  <a:txBody>
                    <a:bodyPr wrap="square" tIns="36576" bIns="36576" lIns="54864" rIns="54864"/>
                    <a:lstStyle/>
                    <a:p>
                      <a:pPr>
                        <a:defRPr sz="800">
                          <a:solidFill>
                            <a:srgbClr val="172B45"/>
                          </a:solidFill>
                          <a:latin typeface="Arial"/>
                        </a:defRPr>
                      </a:pPr>
                      <a:r>
                        <a:t>Cortical complexity metrics correlate strongly with CDR dementia progression.</a:t>
                      </a:r>
                    </a:p>
                  </a:txBody>
                  <a:tcPr>
                    <a:solidFill>
                      <a:srgbClr val="FFFFFF"/>
                    </a:solidFill>
                  </a:tcPr>
                </a:tc>
                <a:tc>
                  <a:txBody>
                    <a:bodyPr wrap="square" tIns="36576" bIns="36576" lIns="54864" rIns="54864"/>
                    <a:lstStyle/>
                    <a:p>
                      <a:pPr>
                        <a:defRPr sz="800">
                          <a:solidFill>
                            <a:srgbClr val="172B45"/>
                          </a:solidFill>
                          <a:latin typeface="Arial"/>
                        </a:defRPr>
                      </a:pPr>
                      <a:r>
                        <a:t>Evaluated high-dimensional MRI alone without clinical co-factors.</a:t>
                      </a:r>
                    </a:p>
                  </a:txBody>
                  <a:tcPr>
                    <a:solidFill>
                      <a:srgbClr val="FFFFFF"/>
                    </a:solidFill>
                  </a:tcPr>
                </a:tc>
              </a:tr>
            </a:tbl>
          </a:graphicData>
        </a:graphic>
      </p:graphicFrame>
      <p:sp>
        <p:nvSpPr>
          <p:cNvPr id="9" name="Rounded Rectangle 8"/>
          <p:cNvSpPr/>
          <p:nvPr/>
        </p:nvSpPr>
        <p:spPr>
          <a:xfrm>
            <a:off x="731520" y="5166360"/>
            <a:ext cx="10728655" cy="960120"/>
          </a:xfrm>
          <a:prstGeom prst="roundRect">
            <a:avLst/>
          </a:prstGeom>
          <a:solidFill>
            <a:srgbClr val="F0F9F9"/>
          </a:solidFill>
          <a:ln w="9525">
            <a:solidFill>
              <a:srgbClr val="168C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230368"/>
            <a:ext cx="10332720" cy="822960"/>
          </a:xfrm>
          <a:prstGeom prst="rect">
            <a:avLst/>
          </a:prstGeom>
          <a:noFill/>
        </p:spPr>
        <p:txBody>
          <a:bodyPr wrap="square">
            <a:spAutoFit/>
          </a:bodyPr>
          <a:lstStyle/>
          <a:p>
            <a:pPr>
              <a:defRPr sz="950" b="1">
                <a:solidFill>
                  <a:srgbClr val="168C8C"/>
                </a:solidFill>
                <a:latin typeface="Arial"/>
              </a:defRPr>
            </a:pPr>
            <a:r>
              <a:t>EXPLICIT RESEARCH GAP ADDRESSED BY OUR PROJECT:</a:t>
            </a:r>
          </a:p>
          <a:p>
            <a:pPr>
              <a:spcBef>
                <a:spcPts val="200"/>
              </a:spcBef>
              <a:defRPr sz="900">
                <a:solidFill>
                  <a:srgbClr val="172B45"/>
                </a:solidFill>
                <a:latin typeface="Arial"/>
              </a:defRPr>
            </a:pPr>
            <a:r>
              <a:t>While existing studies demonstrate either multimodal utility or XAI benefits, very few combine strict zero-leakage participant-level isolation on accessible OASIS cohorts with dual global/local SHAP interpretability and lightweight multi-model soft ensembling executing on commodity CPUs.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04 | DATA PROVENANCE</a:t>
            </a:r>
          </a:p>
          <a:p>
            <a:pPr>
              <a:defRPr sz="2100" b="1">
                <a:solidFill>
                  <a:srgbClr val="172B45"/>
                </a:solidFill>
                <a:latin typeface="Arial"/>
              </a:defRPr>
            </a:pPr>
            <a:r>
              <a:t>OASIS-1 Dataset &amp; Rigorous Data Audit</a:t>
            </a:r>
          </a:p>
          <a:p>
            <a:pPr>
              <a:spcBef>
                <a:spcPts val="200"/>
              </a:spcBef>
              <a:defRPr sz="1050">
                <a:solidFill>
                  <a:srgbClr val="66758A"/>
                </a:solidFill>
                <a:latin typeface="Arial"/>
              </a:defRPr>
            </a:pPr>
            <a:r>
              <a:t>Systematic participant cohort stratification, clinical dementia rating (CDR) distribution, and data integrity.</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05 / 16</a:t>
            </a:r>
          </a:p>
        </p:txBody>
      </p:sp>
      <p:sp>
        <p:nvSpPr>
          <p:cNvPr id="8" name="Rounded Rectangle 7"/>
          <p:cNvSpPr/>
          <p:nvPr/>
        </p:nvSpPr>
        <p:spPr>
          <a:xfrm>
            <a:off x="731520" y="1417320"/>
            <a:ext cx="502920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502920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4590288" cy="502920"/>
          </a:xfrm>
          <a:prstGeom prst="rect">
            <a:avLst/>
          </a:prstGeom>
          <a:noFill/>
        </p:spPr>
        <p:txBody>
          <a:bodyPr wrap="square" tIns="0" bIns="0" lIns="0" rIns="0">
            <a:spAutoFit/>
          </a:bodyPr>
          <a:lstStyle/>
          <a:p>
            <a:pPr>
              <a:defRPr sz="850" b="1">
                <a:solidFill>
                  <a:srgbClr val="168C8C"/>
                </a:solidFill>
                <a:latin typeface="Arial"/>
              </a:defRPr>
            </a:pPr>
            <a:r>
              <a:t>COHORT INTEGRITY</a:t>
            </a:r>
          </a:p>
          <a:p>
            <a:pPr>
              <a:defRPr sz="1250" b="1">
                <a:solidFill>
                  <a:srgbClr val="172B45"/>
                </a:solidFill>
                <a:latin typeface="Arial"/>
              </a:defRPr>
            </a:pPr>
            <a:r>
              <a:t>OASIS-1 Cohort Audit Breakdown</a:t>
            </a:r>
          </a:p>
        </p:txBody>
      </p:sp>
      <p:sp>
        <p:nvSpPr>
          <p:cNvPr id="11" name="TextBox 10"/>
          <p:cNvSpPr txBox="1"/>
          <p:nvPr/>
        </p:nvSpPr>
        <p:spPr>
          <a:xfrm>
            <a:off x="950976" y="2148840"/>
            <a:ext cx="4572000" cy="3749039"/>
          </a:xfrm>
          <a:prstGeom prst="rect">
            <a:avLst/>
          </a:prstGeom>
          <a:noFill/>
        </p:spPr>
        <p:txBody>
          <a:bodyPr wrap="square">
            <a:spAutoFit/>
          </a:bodyPr>
          <a:lstStyle/>
          <a:p>
            <a:pPr>
              <a:defRPr sz="1000">
                <a:solidFill>
                  <a:srgbClr val="172B45"/>
                </a:solidFill>
                <a:latin typeface="Arial"/>
              </a:defRPr>
            </a:pPr>
            <a:r>
              <a:t>• Total Repository Records: 436 unique participants.</a:t>
            </a:r>
          </a:p>
          <a:p>
            <a:pPr>
              <a:defRPr sz="1000">
                <a:solidFill>
                  <a:srgbClr val="172B45"/>
                </a:solidFill>
                <a:latin typeface="Arial"/>
              </a:defRPr>
            </a:pPr>
          </a:p>
          <a:p>
            <a:pPr>
              <a:defRPr sz="1000">
                <a:solidFill>
                  <a:srgbClr val="172B45"/>
                </a:solidFill>
                <a:latin typeface="Arial"/>
              </a:defRPr>
            </a:pPr>
            <a:r>
              <a:t>• Methodological Cohort Stratification:</a:t>
            </a:r>
          </a:p>
          <a:p>
            <a:pPr>
              <a:defRPr sz="1000">
                <a:solidFill>
                  <a:srgbClr val="172B45"/>
                </a:solidFill>
                <a:latin typeface="Arial"/>
              </a:defRPr>
            </a:pPr>
            <a:r>
              <a:t>  - 201 Young Normal Controls (Ages 18–59, CDR = NaN).</a:t>
            </a:r>
          </a:p>
          <a:p>
            <a:pPr>
              <a:defRPr sz="1000">
                <a:solidFill>
                  <a:srgbClr val="172B45"/>
                </a:solidFill>
                <a:latin typeface="Arial"/>
              </a:defRPr>
            </a:pPr>
            <a:r>
              <a:t>    * Excluded to prevent trivial age-separated classification.</a:t>
            </a:r>
          </a:p>
          <a:p>
            <a:pPr>
              <a:defRPr sz="1000">
                <a:solidFill>
                  <a:srgbClr val="172B45"/>
                </a:solidFill>
                <a:latin typeface="Arial"/>
              </a:defRPr>
            </a:pPr>
            <a:r>
              <a:t>  - 235 Clinically Evaluated Older Cohort (Ages 33–96).</a:t>
            </a:r>
          </a:p>
          <a:p>
            <a:pPr>
              <a:defRPr sz="1000">
                <a:solidFill>
                  <a:srgbClr val="172B45"/>
                </a:solidFill>
                <a:latin typeface="Arial"/>
              </a:defRPr>
            </a:pPr>
            <a:r>
              <a:t>    * Complete CDR evaluations forming our experimental benchmark.</a:t>
            </a:r>
          </a:p>
          <a:p>
            <a:pPr>
              <a:defRPr sz="1000">
                <a:solidFill>
                  <a:srgbClr val="172B45"/>
                </a:solidFill>
                <a:latin typeface="Arial"/>
              </a:defRPr>
            </a:pPr>
          </a:p>
          <a:p>
            <a:pPr>
              <a:defRPr sz="1000">
                <a:solidFill>
                  <a:srgbClr val="172B45"/>
                </a:solidFill>
                <a:latin typeface="Arial"/>
              </a:defRPr>
            </a:pPr>
            <a:r>
              <a:t>• Diagnostic Distribution (Target Cohort, N=235):</a:t>
            </a:r>
          </a:p>
          <a:p>
            <a:pPr>
              <a:defRPr sz="1000">
                <a:solidFill>
                  <a:srgbClr val="172B45"/>
                </a:solidFill>
                <a:latin typeface="Arial"/>
              </a:defRPr>
            </a:pPr>
            <a:r>
              <a:t>  - Controls (CDR = 0.0): 135 subjects (57.45%)</a:t>
            </a:r>
          </a:p>
          <a:p>
            <a:pPr>
              <a:defRPr sz="1000">
                <a:solidFill>
                  <a:srgbClr val="172B45"/>
                </a:solidFill>
                <a:latin typeface="Arial"/>
              </a:defRPr>
            </a:pPr>
            <a:r>
              <a:t>  - Dementia-Indicative (CDR &gt; 0.0): 100 subjects (42.55%)</a:t>
            </a:r>
          </a:p>
          <a:p>
            <a:pPr>
              <a:defRPr sz="1000">
                <a:solidFill>
                  <a:srgbClr val="172B45"/>
                </a:solidFill>
                <a:latin typeface="Arial"/>
              </a:defRPr>
            </a:pPr>
            <a:r>
              <a:t>    * Very Mild Dementia (CDR = 0.5): 70 subjects (29.79%)</a:t>
            </a:r>
          </a:p>
          <a:p>
            <a:pPr>
              <a:defRPr sz="1000">
                <a:solidFill>
                  <a:srgbClr val="172B45"/>
                </a:solidFill>
                <a:latin typeface="Arial"/>
              </a:defRPr>
            </a:pPr>
            <a:r>
              <a:t>    * Mild Dementia (CDR = 1.0): 28 subjects (11.91%)</a:t>
            </a:r>
          </a:p>
          <a:p>
            <a:pPr>
              <a:defRPr sz="1000">
                <a:solidFill>
                  <a:srgbClr val="172B45"/>
                </a:solidFill>
                <a:latin typeface="Arial"/>
              </a:defRPr>
            </a:pPr>
            <a:r>
              <a:t>    * Moderate Dementia (CDR = 2.0): 2 subjects (0.85%)</a:t>
            </a:r>
          </a:p>
          <a:p>
            <a:pPr>
              <a:defRPr sz="1000">
                <a:solidFill>
                  <a:srgbClr val="172B45"/>
                </a:solidFill>
                <a:latin typeface="Arial"/>
              </a:defRPr>
            </a:pPr>
          </a:p>
          <a:p>
            <a:pPr>
              <a:defRPr sz="1000">
                <a:solidFill>
                  <a:srgbClr val="172B45"/>
                </a:solidFill>
                <a:latin typeface="Arial"/>
              </a:defRPr>
            </a:pPr>
            <a:r>
              <a:t>• Data Completeness: Zero missing values in MRI morphometrics or MMSE. 19 missing values in SES (Hollingshead) imputed via training median.</a:t>
            </a:r>
          </a:p>
        </p:txBody>
      </p:sp>
      <p:pic>
        <p:nvPicPr>
          <p:cNvPr id="12" name="Picture 11" descr="dataset_distribution.png"/>
          <p:cNvPicPr>
            <a:picLocks noChangeAspect="1"/>
          </p:cNvPicPr>
          <p:nvPr/>
        </p:nvPicPr>
        <p:blipFill>
          <a:blip r:embed="rId2"/>
          <a:stretch>
            <a:fillRect/>
          </a:stretch>
        </p:blipFill>
        <p:spPr>
          <a:xfrm>
            <a:off x="6035040" y="1645920"/>
            <a:ext cx="5394960" cy="204924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05 | EXPERIMENTAL PIPELINE</a:t>
            </a:r>
          </a:p>
          <a:p>
            <a:pPr>
              <a:defRPr sz="2100" b="1">
                <a:solidFill>
                  <a:srgbClr val="172B45"/>
                </a:solidFill>
                <a:latin typeface="Arial"/>
              </a:defRPr>
            </a:pPr>
            <a:r>
              <a:t>Proposed Methodology Architecture</a:t>
            </a:r>
          </a:p>
          <a:p>
            <a:pPr>
              <a:spcBef>
                <a:spcPts val="200"/>
              </a:spcBef>
              <a:defRPr sz="1050">
                <a:solidFill>
                  <a:srgbClr val="66758A"/>
                </a:solidFill>
                <a:latin typeface="Arial"/>
              </a:defRPr>
            </a:pPr>
            <a:r>
              <a:t>End-to-end horizontal workflow enforcing participant-level isolation, multimodal modeling, and SHAP decision support.</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06 / 16</a:t>
            </a:r>
          </a:p>
        </p:txBody>
      </p:sp>
      <p:sp>
        <p:nvSpPr>
          <p:cNvPr id="8" name="Rounded Rectangle 7"/>
          <p:cNvSpPr/>
          <p:nvPr/>
        </p:nvSpPr>
        <p:spPr>
          <a:xfrm>
            <a:off x="731520" y="1463040"/>
            <a:ext cx="2423160" cy="192024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63040"/>
            <a:ext cx="242316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572768"/>
            <a:ext cx="2148840" cy="1700784"/>
          </a:xfrm>
          <a:prstGeom prst="rect">
            <a:avLst/>
          </a:prstGeom>
          <a:noFill/>
        </p:spPr>
        <p:txBody>
          <a:bodyPr wrap="square" tIns="0" bIns="0" lIns="0" rIns="0">
            <a:spAutoFit/>
          </a:bodyPr>
          <a:lstStyle/>
          <a:p>
            <a:pPr>
              <a:defRPr sz="800" b="1">
                <a:solidFill>
                  <a:srgbClr val="168C8C"/>
                </a:solidFill>
                <a:latin typeface="Arial"/>
              </a:defRPr>
            </a:pPr>
            <a:r>
              <a:t>STAGE 1</a:t>
            </a:r>
          </a:p>
          <a:p>
            <a:pPr>
              <a:spcBef>
                <a:spcPts val="100"/>
              </a:spcBef>
              <a:spcAft>
                <a:spcPts val="200"/>
              </a:spcAft>
              <a:defRPr sz="1100" b="1">
                <a:solidFill>
                  <a:srgbClr val="172B45"/>
                </a:solidFill>
                <a:latin typeface="Arial"/>
              </a:defRPr>
            </a:pPr>
            <a:r>
              <a:t>OASIS-1 Raw Data</a:t>
            </a:r>
          </a:p>
          <a:p>
            <a:pPr>
              <a:spcAft>
                <a:spcPts val="400"/>
              </a:spcAft>
              <a:defRPr sz="900" b="1">
                <a:solidFill>
                  <a:srgbClr val="168C8C"/>
                </a:solidFill>
                <a:latin typeface="Arial"/>
              </a:defRPr>
            </a:pPr>
            <a:r>
              <a:t>N = 436 Participants</a:t>
            </a:r>
          </a:p>
          <a:p>
            <a:pPr>
              <a:defRPr sz="850">
                <a:solidFill>
                  <a:srgbClr val="66758A"/>
                </a:solidFill>
                <a:latin typeface="Arial"/>
              </a:defRPr>
            </a:pPr>
            <a:r>
              <a:t>T1-w sMRI + Clinical</a:t>
            </a:r>
            <a:br/>
            <a:r>
              <a:t>Demographics (12 vars)</a:t>
            </a:r>
          </a:p>
        </p:txBody>
      </p:sp>
      <p:sp>
        <p:nvSpPr>
          <p:cNvPr id="11" name="Right Arrow 10"/>
          <p:cNvSpPr/>
          <p:nvPr/>
        </p:nvSpPr>
        <p:spPr>
          <a:xfrm>
            <a:off x="3209544" y="2286000"/>
            <a:ext cx="228600" cy="228600"/>
          </a:xfrm>
          <a:prstGeom prst="rightArrow">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463040"/>
            <a:ext cx="2423160" cy="192024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02152" y="1463040"/>
            <a:ext cx="242316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39312" y="1572768"/>
            <a:ext cx="2148840" cy="1700784"/>
          </a:xfrm>
          <a:prstGeom prst="rect">
            <a:avLst/>
          </a:prstGeom>
          <a:noFill/>
        </p:spPr>
        <p:txBody>
          <a:bodyPr wrap="square" tIns="0" bIns="0" lIns="0" rIns="0">
            <a:spAutoFit/>
          </a:bodyPr>
          <a:lstStyle/>
          <a:p>
            <a:pPr>
              <a:defRPr sz="800" b="1">
                <a:solidFill>
                  <a:srgbClr val="168C8C"/>
                </a:solidFill>
                <a:latin typeface="Arial"/>
              </a:defRPr>
            </a:pPr>
            <a:r>
              <a:t>STAGE 2</a:t>
            </a:r>
          </a:p>
          <a:p>
            <a:pPr>
              <a:spcBef>
                <a:spcPts val="100"/>
              </a:spcBef>
              <a:spcAft>
                <a:spcPts val="200"/>
              </a:spcAft>
              <a:defRPr sz="1100" b="1">
                <a:solidFill>
                  <a:srgbClr val="172B45"/>
                </a:solidFill>
                <a:latin typeface="Arial"/>
              </a:defRPr>
            </a:pPr>
            <a:r>
              <a:t>Cohort Filtering</a:t>
            </a:r>
          </a:p>
          <a:p>
            <a:pPr>
              <a:spcAft>
                <a:spcPts val="400"/>
              </a:spcAft>
              <a:defRPr sz="900" b="1">
                <a:solidFill>
                  <a:srgbClr val="168C8C"/>
                </a:solidFill>
                <a:latin typeface="Arial"/>
              </a:defRPr>
            </a:pPr>
            <a:r>
              <a:t>N = 235 Evaluated</a:t>
            </a:r>
          </a:p>
          <a:p>
            <a:pPr>
              <a:defRPr sz="850">
                <a:solidFill>
                  <a:srgbClr val="66758A"/>
                </a:solidFill>
                <a:latin typeface="Arial"/>
              </a:defRPr>
            </a:pPr>
            <a:r>
              <a:t>Exclude 201 unassessed</a:t>
            </a:r>
            <a:br/>
            <a:r>
              <a:t>Isolate ground truth CDR</a:t>
            </a:r>
          </a:p>
        </p:txBody>
      </p:sp>
      <p:sp>
        <p:nvSpPr>
          <p:cNvPr id="15" name="Right Arrow 14"/>
          <p:cNvSpPr/>
          <p:nvPr/>
        </p:nvSpPr>
        <p:spPr>
          <a:xfrm>
            <a:off x="5980176" y="2286000"/>
            <a:ext cx="228600" cy="228600"/>
          </a:xfrm>
          <a:prstGeom prst="rightArrow">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72784" y="1463040"/>
            <a:ext cx="2423160" cy="192024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2784" y="1463040"/>
            <a:ext cx="2423160" cy="45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1572768"/>
            <a:ext cx="2148840" cy="1700784"/>
          </a:xfrm>
          <a:prstGeom prst="rect">
            <a:avLst/>
          </a:prstGeom>
          <a:noFill/>
        </p:spPr>
        <p:txBody>
          <a:bodyPr wrap="square" tIns="0" bIns="0" lIns="0" rIns="0">
            <a:spAutoFit/>
          </a:bodyPr>
          <a:lstStyle/>
          <a:p>
            <a:pPr>
              <a:defRPr sz="800" b="1">
                <a:solidFill>
                  <a:srgbClr val="C0392B"/>
                </a:solidFill>
                <a:latin typeface="Arial"/>
              </a:defRPr>
            </a:pPr>
            <a:r>
              <a:t>STAGE 3</a:t>
            </a:r>
          </a:p>
          <a:p>
            <a:pPr>
              <a:spcBef>
                <a:spcPts val="100"/>
              </a:spcBef>
              <a:spcAft>
                <a:spcPts val="200"/>
              </a:spcAft>
              <a:defRPr sz="1100" b="1">
                <a:solidFill>
                  <a:srgbClr val="172B45"/>
                </a:solidFill>
                <a:latin typeface="Arial"/>
              </a:defRPr>
            </a:pPr>
            <a:r>
              <a:t>Subject Split (80/20)</a:t>
            </a:r>
          </a:p>
          <a:p>
            <a:pPr>
              <a:spcAft>
                <a:spcPts val="400"/>
              </a:spcAft>
              <a:defRPr sz="900" b="1">
                <a:solidFill>
                  <a:srgbClr val="168C8C"/>
                </a:solidFill>
                <a:latin typeface="Arial"/>
              </a:defRPr>
            </a:pPr>
            <a:r>
              <a:t>Train=188 | Test=47</a:t>
            </a:r>
          </a:p>
          <a:p>
            <a:pPr>
              <a:defRPr sz="850">
                <a:solidFill>
                  <a:srgbClr val="66758A"/>
                </a:solidFill>
                <a:latin typeface="Arial"/>
              </a:defRPr>
            </a:pPr>
            <a:r>
              <a:t>S_train ∩ S_test = ∅</a:t>
            </a:r>
            <a:br/>
            <a:r>
              <a:t>Strict zero subject overlap</a:t>
            </a:r>
          </a:p>
        </p:txBody>
      </p:sp>
      <p:sp>
        <p:nvSpPr>
          <p:cNvPr id="19" name="Right Arrow 18"/>
          <p:cNvSpPr/>
          <p:nvPr/>
        </p:nvSpPr>
        <p:spPr>
          <a:xfrm>
            <a:off x="8750808" y="2286000"/>
            <a:ext cx="228600" cy="228600"/>
          </a:xfrm>
          <a:prstGeom prst="rightArrow">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043416" y="1463040"/>
            <a:ext cx="2423160" cy="192024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43416" y="1463040"/>
            <a:ext cx="2423160" cy="45720"/>
          </a:xfrm>
          <a:prstGeom prst="rect">
            <a:avLst/>
          </a:prstGeom>
          <a:solidFill>
            <a:srgbClr val="5685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576" y="1572768"/>
            <a:ext cx="2148840" cy="1700784"/>
          </a:xfrm>
          <a:prstGeom prst="rect">
            <a:avLst/>
          </a:prstGeom>
          <a:noFill/>
        </p:spPr>
        <p:txBody>
          <a:bodyPr wrap="square" tIns="0" bIns="0" lIns="0" rIns="0">
            <a:spAutoFit/>
          </a:bodyPr>
          <a:lstStyle/>
          <a:p>
            <a:pPr>
              <a:defRPr sz="800" b="1">
                <a:solidFill>
                  <a:srgbClr val="5685C4"/>
                </a:solidFill>
                <a:latin typeface="Arial"/>
              </a:defRPr>
            </a:pPr>
            <a:r>
              <a:t>STAGE 4</a:t>
            </a:r>
          </a:p>
          <a:p>
            <a:pPr>
              <a:spcBef>
                <a:spcPts val="100"/>
              </a:spcBef>
              <a:spcAft>
                <a:spcPts val="200"/>
              </a:spcAft>
              <a:defRPr sz="1100" b="1">
                <a:solidFill>
                  <a:srgbClr val="172B45"/>
                </a:solidFill>
                <a:latin typeface="Arial"/>
              </a:defRPr>
            </a:pPr>
            <a:r>
              <a:t>Training Pipeline</a:t>
            </a:r>
          </a:p>
          <a:p>
            <a:pPr>
              <a:spcAft>
                <a:spcPts val="400"/>
              </a:spcAft>
              <a:defRPr sz="900" b="1">
                <a:solidFill>
                  <a:srgbClr val="168C8C"/>
                </a:solidFill>
                <a:latin typeface="Arial"/>
              </a:defRPr>
            </a:pPr>
            <a:r>
              <a:t>ColumnTransformer</a:t>
            </a:r>
          </a:p>
          <a:p>
            <a:pPr>
              <a:defRPr sz="850">
                <a:solidFill>
                  <a:srgbClr val="66758A"/>
                </a:solidFill>
                <a:latin typeface="Arial"/>
              </a:defRPr>
            </a:pPr>
            <a:r>
              <a:t>Median SES, StandardScaler</a:t>
            </a:r>
            <a:br/>
            <a:r>
              <a:t>OHE (Fit on train only)</a:t>
            </a:r>
          </a:p>
        </p:txBody>
      </p:sp>
      <p:sp>
        <p:nvSpPr>
          <p:cNvPr id="23" name="Down Arrow 22"/>
          <p:cNvSpPr/>
          <p:nvPr/>
        </p:nvSpPr>
        <p:spPr>
          <a:xfrm>
            <a:off x="10241280" y="3474720"/>
            <a:ext cx="274320" cy="320040"/>
          </a:xfrm>
          <a:prstGeom prst="downArrow">
            <a:avLst/>
          </a:prstGeom>
          <a:solidFill>
            <a:srgbClr val="5685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1520" y="3931920"/>
            <a:ext cx="3328416" cy="201168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520" y="3931920"/>
            <a:ext cx="3328416"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059936"/>
            <a:ext cx="2962656" cy="1755648"/>
          </a:xfrm>
          <a:prstGeom prst="rect">
            <a:avLst/>
          </a:prstGeom>
          <a:noFill/>
        </p:spPr>
        <p:txBody>
          <a:bodyPr wrap="square" tIns="0" bIns="0" lIns="0" rIns="0">
            <a:spAutoFit/>
          </a:bodyPr>
          <a:lstStyle/>
          <a:p>
            <a:pPr>
              <a:defRPr sz="850" b="1">
                <a:solidFill>
                  <a:srgbClr val="168C8C"/>
                </a:solidFill>
                <a:latin typeface="Arial"/>
              </a:defRPr>
            </a:pPr>
            <a:r>
              <a:t>STAGE 5</a:t>
            </a:r>
          </a:p>
          <a:p>
            <a:pPr>
              <a:spcBef>
                <a:spcPts val="200"/>
              </a:spcBef>
              <a:spcAft>
                <a:spcPts val="200"/>
              </a:spcAft>
              <a:defRPr sz="1150" b="1">
                <a:solidFill>
                  <a:srgbClr val="172B45"/>
                </a:solidFill>
                <a:latin typeface="Arial"/>
              </a:defRPr>
            </a:pPr>
            <a:r>
              <a:t>Multi-Classifier Training</a:t>
            </a:r>
          </a:p>
          <a:p>
            <a:pPr>
              <a:spcAft>
                <a:spcPts val="400"/>
              </a:spcAft>
              <a:defRPr sz="950" b="1">
                <a:solidFill>
                  <a:srgbClr val="168C8C"/>
                </a:solidFill>
                <a:latin typeface="Arial"/>
              </a:defRPr>
            </a:pPr>
            <a:r>
              <a:t>5-Fold Stratified CV</a:t>
            </a:r>
          </a:p>
          <a:p>
            <a:pPr>
              <a:defRPr sz="850">
                <a:solidFill>
                  <a:srgbClr val="66758A"/>
                </a:solidFill>
                <a:latin typeface="Arial"/>
              </a:defRPr>
            </a:pPr>
            <a:r>
              <a:t>LR, RF, SVM, GB (lr=0.1)</a:t>
            </a:r>
            <a:br/>
            <a:r>
              <a:t>Soft Voting Consensus: P = (1·LR + 2·RF + 2·GB)/5</a:t>
            </a:r>
          </a:p>
        </p:txBody>
      </p:sp>
      <p:sp>
        <p:nvSpPr>
          <p:cNvPr id="27" name="Right Arrow 26"/>
          <p:cNvSpPr/>
          <p:nvPr/>
        </p:nvSpPr>
        <p:spPr>
          <a:xfrm>
            <a:off x="4114800" y="4800600"/>
            <a:ext cx="237744" cy="228600"/>
          </a:xfrm>
          <a:prstGeom prst="rightArrow">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425696" y="3931920"/>
            <a:ext cx="3328416" cy="201168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25696" y="3931920"/>
            <a:ext cx="3328416" cy="45720"/>
          </a:xfrm>
          <a:prstGeom prst="rect">
            <a:avLst/>
          </a:prstGeom>
          <a:solidFill>
            <a:srgbClr val="2184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08576" y="4059936"/>
            <a:ext cx="2962656" cy="1755648"/>
          </a:xfrm>
          <a:prstGeom prst="rect">
            <a:avLst/>
          </a:prstGeom>
          <a:noFill/>
        </p:spPr>
        <p:txBody>
          <a:bodyPr wrap="square" tIns="0" bIns="0" lIns="0" rIns="0">
            <a:spAutoFit/>
          </a:bodyPr>
          <a:lstStyle/>
          <a:p>
            <a:pPr>
              <a:defRPr sz="850" b="1">
                <a:solidFill>
                  <a:srgbClr val="21845A"/>
                </a:solidFill>
                <a:latin typeface="Arial"/>
              </a:defRPr>
            </a:pPr>
            <a:r>
              <a:t>STAGE 6</a:t>
            </a:r>
          </a:p>
          <a:p>
            <a:pPr>
              <a:spcBef>
                <a:spcPts val="200"/>
              </a:spcBef>
              <a:spcAft>
                <a:spcPts val="200"/>
              </a:spcAft>
              <a:defRPr sz="1150" b="1">
                <a:solidFill>
                  <a:srgbClr val="172B45"/>
                </a:solidFill>
                <a:latin typeface="Arial"/>
              </a:defRPr>
            </a:pPr>
            <a:r>
              <a:t>Held-Out Test Evaluation</a:t>
            </a:r>
          </a:p>
          <a:p>
            <a:pPr>
              <a:spcAft>
                <a:spcPts val="400"/>
              </a:spcAft>
              <a:defRPr sz="950" b="1">
                <a:solidFill>
                  <a:srgbClr val="21845A"/>
                </a:solidFill>
                <a:latin typeface="Arial"/>
              </a:defRPr>
            </a:pPr>
            <a:r>
              <a:t>N = 47 Isolated Test</a:t>
            </a:r>
          </a:p>
          <a:p>
            <a:pPr>
              <a:defRPr sz="850">
                <a:solidFill>
                  <a:srgbClr val="66758A"/>
                </a:solidFill>
                <a:latin typeface="Arial"/>
              </a:defRPr>
            </a:pPr>
            <a:r>
              <a:t>Accuracy, Precision, Recall, Specificity, F1, ROC-AUC</a:t>
            </a:r>
            <a:br/>
            <a:r>
              <a:t>Gradient Boosting: 85.11% Acc, 0.9426 ROC-AUC</a:t>
            </a:r>
          </a:p>
        </p:txBody>
      </p:sp>
      <p:sp>
        <p:nvSpPr>
          <p:cNvPr id="31" name="Right Arrow 30"/>
          <p:cNvSpPr/>
          <p:nvPr/>
        </p:nvSpPr>
        <p:spPr>
          <a:xfrm>
            <a:off x="7808976" y="4800600"/>
            <a:ext cx="237744" cy="228600"/>
          </a:xfrm>
          <a:prstGeom prst="rightArrow">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19872" y="3931920"/>
            <a:ext cx="3328416" cy="201168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19872" y="3931920"/>
            <a:ext cx="3328416"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02752" y="4059936"/>
            <a:ext cx="2962656" cy="1755648"/>
          </a:xfrm>
          <a:prstGeom prst="rect">
            <a:avLst/>
          </a:prstGeom>
          <a:noFill/>
        </p:spPr>
        <p:txBody>
          <a:bodyPr wrap="square" tIns="0" bIns="0" lIns="0" rIns="0">
            <a:spAutoFit/>
          </a:bodyPr>
          <a:lstStyle/>
          <a:p>
            <a:pPr>
              <a:defRPr sz="850" b="1">
                <a:solidFill>
                  <a:srgbClr val="168C8C"/>
                </a:solidFill>
                <a:latin typeface="Arial"/>
              </a:defRPr>
            </a:pPr>
            <a:r>
              <a:t>STAGE 7</a:t>
            </a:r>
          </a:p>
          <a:p>
            <a:pPr>
              <a:spcBef>
                <a:spcPts val="200"/>
              </a:spcBef>
              <a:spcAft>
                <a:spcPts val="200"/>
              </a:spcAft>
              <a:defRPr sz="1150" b="1">
                <a:solidFill>
                  <a:srgbClr val="172B45"/>
                </a:solidFill>
                <a:latin typeface="Arial"/>
              </a:defRPr>
            </a:pPr>
            <a:r>
              <a:t>Game-Theoretic SHAP XAI</a:t>
            </a:r>
          </a:p>
          <a:p>
            <a:pPr>
              <a:spcAft>
                <a:spcPts val="400"/>
              </a:spcAft>
              <a:defRPr sz="950" b="1">
                <a:solidFill>
                  <a:srgbClr val="168C8C"/>
                </a:solidFill>
                <a:latin typeface="Arial"/>
              </a:defRPr>
            </a:pPr>
            <a:r>
              <a:t>Global + Local Output</a:t>
            </a:r>
          </a:p>
          <a:p>
            <a:pPr>
              <a:defRPr sz="850">
                <a:solidFill>
                  <a:srgbClr val="66758A"/>
                </a:solidFill>
                <a:latin typeface="Arial"/>
              </a:defRPr>
            </a:pPr>
            <a:r>
              <a:t>TreeExplainer Beeswarm &amp; Waterfall log-odds</a:t>
            </a:r>
            <a:br/>
            <a:r>
              <a:t>Clinical decision support with zero GPU overhead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06 | DATA PREPARATION</a:t>
            </a:r>
          </a:p>
          <a:p>
            <a:pPr>
              <a:defRPr sz="2100" b="1">
                <a:solidFill>
                  <a:srgbClr val="172B45"/>
                </a:solidFill>
                <a:latin typeface="Arial"/>
              </a:defRPr>
            </a:pPr>
            <a:r>
              <a:t>Preprocessing &amp; Multimodal Feature Engineering</a:t>
            </a:r>
          </a:p>
          <a:p>
            <a:pPr>
              <a:spcBef>
                <a:spcPts val="200"/>
              </a:spcBef>
              <a:defRPr sz="1050">
                <a:solidFill>
                  <a:srgbClr val="66758A"/>
                </a:solidFill>
                <a:latin typeface="Arial"/>
              </a:defRPr>
            </a:pPr>
            <a:r>
              <a:t>Strict participant-level partitioning, training-only preprocessor fitting, and biological variable roles.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07 / 16</a:t>
            </a:r>
          </a:p>
        </p:txBody>
      </p:sp>
      <p:sp>
        <p:nvSpPr>
          <p:cNvPr id="8" name="Rounded Rectangle 7"/>
          <p:cNvSpPr/>
          <p:nvPr/>
        </p:nvSpPr>
        <p:spPr>
          <a:xfrm>
            <a:off x="7315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3383280" cy="45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2944368" cy="502920"/>
          </a:xfrm>
          <a:prstGeom prst="rect">
            <a:avLst/>
          </a:prstGeom>
          <a:noFill/>
        </p:spPr>
        <p:txBody>
          <a:bodyPr wrap="square" tIns="0" bIns="0" lIns="0" rIns="0">
            <a:spAutoFit/>
          </a:bodyPr>
          <a:lstStyle/>
          <a:p>
            <a:pPr>
              <a:defRPr sz="850" b="1">
                <a:solidFill>
                  <a:srgbClr val="C0392B"/>
                </a:solidFill>
                <a:latin typeface="Arial"/>
              </a:defRPr>
            </a:pPr>
            <a:r>
              <a:t>LEAKAGE PREVENTION</a:t>
            </a:r>
          </a:p>
          <a:p>
            <a:pPr>
              <a:defRPr sz="1250" b="1">
                <a:solidFill>
                  <a:srgbClr val="172B45"/>
                </a:solidFill>
                <a:latin typeface="Arial"/>
              </a:defRPr>
            </a:pPr>
            <a:r>
              <a:t>1. Participant-Level Split</a:t>
            </a:r>
          </a:p>
        </p:txBody>
      </p:sp>
      <p:sp>
        <p:nvSpPr>
          <p:cNvPr id="11" name="TextBox 10"/>
          <p:cNvSpPr txBox="1"/>
          <p:nvPr/>
        </p:nvSpPr>
        <p:spPr>
          <a:xfrm>
            <a:off x="950976" y="2103120"/>
            <a:ext cx="2944368" cy="3886200"/>
          </a:xfrm>
          <a:prstGeom prst="rect">
            <a:avLst/>
          </a:prstGeom>
          <a:noFill/>
        </p:spPr>
        <p:txBody>
          <a:bodyPr wrap="square">
            <a:spAutoFit/>
          </a:bodyPr>
          <a:lstStyle/>
          <a:p>
            <a:pPr>
              <a:defRPr sz="950">
                <a:solidFill>
                  <a:srgbClr val="172B45"/>
                </a:solidFill>
                <a:latin typeface="Arial"/>
              </a:defRPr>
            </a:pPr>
            <a:r>
              <a:t>• Strict Cohort Separation:</a:t>
            </a:r>
          </a:p>
          <a:p>
            <a:pPr>
              <a:defRPr sz="950">
                <a:solidFill>
                  <a:srgbClr val="172B45"/>
                </a:solidFill>
                <a:latin typeface="Arial"/>
              </a:defRPr>
            </a:pPr>
            <a:r>
              <a:t>  - 80% Training Set: N = 188 (108 Controls, 80 Dementia)</a:t>
            </a:r>
          </a:p>
          <a:p>
            <a:pPr>
              <a:defRPr sz="950">
                <a:solidFill>
                  <a:srgbClr val="172B45"/>
                </a:solidFill>
                <a:latin typeface="Arial"/>
              </a:defRPr>
            </a:pPr>
            <a:r>
              <a:t>  - 20% Held-Out Test Set: N = 47 (27 Controls, 20 Dementia)</a:t>
            </a:r>
          </a:p>
          <a:p>
            <a:pPr>
              <a:defRPr sz="950">
                <a:solidFill>
                  <a:srgbClr val="172B45"/>
                </a:solidFill>
                <a:latin typeface="Arial"/>
              </a:defRPr>
            </a:pPr>
          </a:p>
          <a:p>
            <a:pPr>
              <a:defRPr sz="950">
                <a:solidFill>
                  <a:srgbClr val="172B45"/>
                </a:solidFill>
                <a:latin typeface="Arial"/>
              </a:defRPr>
            </a:pPr>
            <a:r>
              <a:t>• Zero Subject Overlap:</a:t>
            </a:r>
          </a:p>
          <a:p>
            <a:pPr>
              <a:defRPr sz="950">
                <a:solidFill>
                  <a:srgbClr val="172B45"/>
                </a:solidFill>
                <a:latin typeface="Arial"/>
              </a:defRPr>
            </a:pPr>
            <a:r>
              <a:t>  S_train ∩ S_test = ∅</a:t>
            </a:r>
          </a:p>
          <a:p>
            <a:pPr>
              <a:defRPr sz="950">
                <a:solidFill>
                  <a:srgbClr val="172B45"/>
                </a:solidFill>
                <a:latin typeface="Arial"/>
              </a:defRPr>
            </a:pPr>
            <a:r>
              <a:t>  No subject or multi-session scan appears in both training and testing.</a:t>
            </a:r>
          </a:p>
          <a:p>
            <a:pPr>
              <a:defRPr sz="950">
                <a:solidFill>
                  <a:srgbClr val="172B45"/>
                </a:solidFill>
                <a:latin typeface="Arial"/>
              </a:defRPr>
            </a:pPr>
          </a:p>
          <a:p>
            <a:pPr>
              <a:defRPr sz="950">
                <a:solidFill>
                  <a:srgbClr val="172B45"/>
                </a:solidFill>
                <a:latin typeface="Arial"/>
              </a:defRPr>
            </a:pPr>
            <a:r>
              <a:t>• Stratification Guarantee:</a:t>
            </a:r>
          </a:p>
          <a:p>
            <a:pPr>
              <a:defRPr sz="950">
                <a:solidFill>
                  <a:srgbClr val="172B45"/>
                </a:solidFill>
                <a:latin typeface="Arial"/>
              </a:defRPr>
            </a:pPr>
            <a:r>
              <a:t>  Target class proportion preserved exactly across partitions (~57.4% Controls, ~42.6% Dementia).</a:t>
            </a:r>
          </a:p>
          <a:p>
            <a:pPr>
              <a:defRPr sz="950">
                <a:solidFill>
                  <a:srgbClr val="172B45"/>
                </a:solidFill>
                <a:latin typeface="Arial"/>
              </a:defRPr>
            </a:pPr>
          </a:p>
          <a:p>
            <a:pPr>
              <a:defRPr sz="950">
                <a:solidFill>
                  <a:srgbClr val="172B45"/>
                </a:solidFill>
                <a:latin typeface="Arial"/>
              </a:defRPr>
            </a:pPr>
            <a:r>
              <a:t>• Benchmark Comparison:</a:t>
            </a:r>
          </a:p>
          <a:p>
            <a:pPr>
              <a:defRPr sz="950">
                <a:solidFill>
                  <a:srgbClr val="172B45"/>
                </a:solidFill>
                <a:latin typeface="Arial"/>
              </a:defRPr>
            </a:pPr>
            <a:r>
              <a:t>  Prevents the 15%–25% artificial score inflation identified by Yagis et al. (2021).</a:t>
            </a:r>
          </a:p>
        </p:txBody>
      </p:sp>
      <p:sp>
        <p:nvSpPr>
          <p:cNvPr id="12" name="Rounded Rectangle 11"/>
          <p:cNvSpPr/>
          <p:nvPr/>
        </p:nvSpPr>
        <p:spPr>
          <a:xfrm>
            <a:off x="43891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417320"/>
            <a:ext cx="338328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563624"/>
            <a:ext cx="2944368" cy="502920"/>
          </a:xfrm>
          <a:prstGeom prst="rect">
            <a:avLst/>
          </a:prstGeom>
          <a:noFill/>
        </p:spPr>
        <p:txBody>
          <a:bodyPr wrap="square" tIns="0" bIns="0" lIns="0" rIns="0">
            <a:spAutoFit/>
          </a:bodyPr>
          <a:lstStyle/>
          <a:p>
            <a:pPr>
              <a:defRPr sz="850" b="1">
                <a:solidFill>
                  <a:srgbClr val="168C8C"/>
                </a:solidFill>
                <a:latin typeface="Arial"/>
              </a:defRPr>
            </a:pPr>
            <a:r>
              <a:t>TRAINING-ONLY FIT</a:t>
            </a:r>
          </a:p>
          <a:p>
            <a:pPr>
              <a:defRPr sz="1250" b="1">
                <a:solidFill>
                  <a:srgbClr val="172B45"/>
                </a:solidFill>
                <a:latin typeface="Arial"/>
              </a:defRPr>
            </a:pPr>
            <a:r>
              <a:t>2. Preprocessing Pipeline</a:t>
            </a:r>
          </a:p>
        </p:txBody>
      </p:sp>
      <p:sp>
        <p:nvSpPr>
          <p:cNvPr id="15" name="TextBox 14"/>
          <p:cNvSpPr txBox="1"/>
          <p:nvPr/>
        </p:nvSpPr>
        <p:spPr>
          <a:xfrm>
            <a:off x="4608576" y="2103120"/>
            <a:ext cx="2944368" cy="3886200"/>
          </a:xfrm>
          <a:prstGeom prst="rect">
            <a:avLst/>
          </a:prstGeom>
          <a:noFill/>
        </p:spPr>
        <p:txBody>
          <a:bodyPr wrap="square">
            <a:spAutoFit/>
          </a:bodyPr>
          <a:lstStyle/>
          <a:p>
            <a:pPr>
              <a:defRPr sz="950">
                <a:solidFill>
                  <a:srgbClr val="172B45"/>
                </a:solidFill>
                <a:latin typeface="Arial"/>
              </a:defRPr>
            </a:pPr>
            <a:r>
              <a:t>• scikit-learn ColumnTransformer:</a:t>
            </a:r>
          </a:p>
          <a:p>
            <a:pPr>
              <a:defRPr sz="950">
                <a:solidFill>
                  <a:srgbClr val="172B45"/>
                </a:solidFill>
                <a:latin typeface="Arial"/>
              </a:defRPr>
            </a:pPr>
            <a:r>
              <a:t>  Fitted strictly and exclusively on the 188 training participants.</a:t>
            </a:r>
          </a:p>
          <a:p>
            <a:pPr>
              <a:defRPr sz="950">
                <a:solidFill>
                  <a:srgbClr val="172B45"/>
                </a:solidFill>
                <a:latin typeface="Arial"/>
              </a:defRPr>
            </a:pPr>
          </a:p>
          <a:p>
            <a:pPr>
              <a:defRPr sz="950">
                <a:solidFill>
                  <a:srgbClr val="172B45"/>
                </a:solidFill>
                <a:latin typeface="Arial"/>
              </a:defRPr>
            </a:pPr>
            <a:r>
              <a:t>• Numerical Imputation:</a:t>
            </a:r>
          </a:p>
          <a:p>
            <a:pPr>
              <a:defRPr sz="950">
                <a:solidFill>
                  <a:srgbClr val="172B45"/>
                </a:solidFill>
                <a:latin typeface="Arial"/>
              </a:defRPr>
            </a:pPr>
            <a:r>
              <a:t>  Median imputation for missing Socioeconomic Status (SES) values.</a:t>
            </a:r>
          </a:p>
          <a:p>
            <a:pPr>
              <a:defRPr sz="950">
                <a:solidFill>
                  <a:srgbClr val="172B45"/>
                </a:solidFill>
                <a:latin typeface="Arial"/>
              </a:defRPr>
            </a:pPr>
          </a:p>
          <a:p>
            <a:pPr>
              <a:defRPr sz="950">
                <a:solidFill>
                  <a:srgbClr val="172B45"/>
                </a:solidFill>
                <a:latin typeface="Arial"/>
              </a:defRPr>
            </a:pPr>
            <a:r>
              <a:t>• Feature Standardization:</a:t>
            </a:r>
          </a:p>
          <a:p>
            <a:pPr>
              <a:defRPr sz="950">
                <a:solidFill>
                  <a:srgbClr val="172B45"/>
                </a:solidFill>
                <a:latin typeface="Arial"/>
              </a:defRPr>
            </a:pPr>
            <a:r>
              <a:t>  StandardScaler transforms numerical features to zero mean and unit variance (z = (x - μ) / σ) using training μ and σ.</a:t>
            </a:r>
          </a:p>
          <a:p>
            <a:pPr>
              <a:defRPr sz="950">
                <a:solidFill>
                  <a:srgbClr val="172B45"/>
                </a:solidFill>
                <a:latin typeface="Arial"/>
              </a:defRPr>
            </a:pPr>
          </a:p>
          <a:p>
            <a:pPr>
              <a:defRPr sz="950">
                <a:solidFill>
                  <a:srgbClr val="172B45"/>
                </a:solidFill>
                <a:latin typeface="Arial"/>
              </a:defRPr>
            </a:pPr>
            <a:r>
              <a:t>• Categorical Encoding:</a:t>
            </a:r>
          </a:p>
          <a:p>
            <a:pPr>
              <a:defRPr sz="950">
                <a:solidFill>
                  <a:srgbClr val="172B45"/>
                </a:solidFill>
                <a:latin typeface="Arial"/>
              </a:defRPr>
            </a:pPr>
            <a:r>
              <a:t>  OneHotEncoder(drop='first') encodes biological gender (M/F).</a:t>
            </a:r>
          </a:p>
          <a:p>
            <a:pPr>
              <a:defRPr sz="950">
                <a:solidFill>
                  <a:srgbClr val="172B45"/>
                </a:solidFill>
                <a:latin typeface="Arial"/>
              </a:defRPr>
            </a:pPr>
          </a:p>
          <a:p>
            <a:pPr>
              <a:defRPr sz="950">
                <a:solidFill>
                  <a:srgbClr val="172B45"/>
                </a:solidFill>
                <a:latin typeface="Arial"/>
              </a:defRPr>
            </a:pPr>
            <a:r>
              <a:t>• Pruning of Non-Predictives:</a:t>
            </a:r>
          </a:p>
          <a:p>
            <a:pPr>
              <a:defRPr sz="950">
                <a:solidFill>
                  <a:srgbClr val="172B45"/>
                </a:solidFill>
                <a:latin typeface="Arial"/>
              </a:defRPr>
            </a:pPr>
            <a:r>
              <a:t>  'ID', 'Hand' (100% Right), and 'Delay' (100% NaN) dropped.</a:t>
            </a:r>
          </a:p>
        </p:txBody>
      </p:sp>
      <p:sp>
        <p:nvSpPr>
          <p:cNvPr id="16" name="Rounded Rectangle 15"/>
          <p:cNvSpPr/>
          <p:nvPr/>
        </p:nvSpPr>
        <p:spPr>
          <a:xfrm>
            <a:off x="80467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417320"/>
            <a:ext cx="3383280" cy="45720"/>
          </a:xfrm>
          <a:prstGeom prst="rect">
            <a:avLst/>
          </a:prstGeom>
          <a:solidFill>
            <a:srgbClr val="5685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6176" y="1563624"/>
            <a:ext cx="2944368" cy="502920"/>
          </a:xfrm>
          <a:prstGeom prst="rect">
            <a:avLst/>
          </a:prstGeom>
          <a:noFill/>
        </p:spPr>
        <p:txBody>
          <a:bodyPr wrap="square" tIns="0" bIns="0" lIns="0" rIns="0">
            <a:spAutoFit/>
          </a:bodyPr>
          <a:lstStyle/>
          <a:p>
            <a:pPr>
              <a:defRPr sz="850" b="1">
                <a:solidFill>
                  <a:srgbClr val="5685C4"/>
                </a:solidFill>
                <a:latin typeface="Arial"/>
              </a:defRPr>
            </a:pPr>
            <a:r>
              <a:t>8 BIOMARKERS</a:t>
            </a:r>
          </a:p>
          <a:p>
            <a:pPr>
              <a:defRPr sz="1250" b="1">
                <a:solidFill>
                  <a:srgbClr val="172B45"/>
                </a:solidFill>
                <a:latin typeface="Arial"/>
              </a:defRPr>
            </a:pPr>
            <a:r>
              <a:t>3. Multimodal Features</a:t>
            </a:r>
          </a:p>
        </p:txBody>
      </p:sp>
      <p:sp>
        <p:nvSpPr>
          <p:cNvPr id="19" name="TextBox 18"/>
          <p:cNvSpPr txBox="1"/>
          <p:nvPr/>
        </p:nvSpPr>
        <p:spPr>
          <a:xfrm>
            <a:off x="8266176" y="2103120"/>
            <a:ext cx="2944368" cy="3886200"/>
          </a:xfrm>
          <a:prstGeom prst="rect">
            <a:avLst/>
          </a:prstGeom>
          <a:noFill/>
        </p:spPr>
        <p:txBody>
          <a:bodyPr wrap="square">
            <a:spAutoFit/>
          </a:bodyPr>
          <a:lstStyle/>
          <a:p>
            <a:pPr>
              <a:defRPr sz="900">
                <a:solidFill>
                  <a:srgbClr val="172B45"/>
                </a:solidFill>
                <a:latin typeface="Arial"/>
              </a:defRPr>
            </a:pPr>
            <a:r>
              <a:t>Clinical &amp; Demographic (5):</a:t>
            </a:r>
          </a:p>
          <a:p>
            <a:pPr>
              <a:defRPr sz="900">
                <a:solidFill>
                  <a:srgbClr val="172B45"/>
                </a:solidFill>
                <a:latin typeface="Arial"/>
              </a:defRPr>
            </a:pPr>
            <a:r>
              <a:t>• MMSE (0–30): Mini-Mental State Exam score (cognitive disorientation).</a:t>
            </a:r>
          </a:p>
          <a:p>
            <a:pPr>
              <a:defRPr sz="900">
                <a:solidFill>
                  <a:srgbClr val="172B45"/>
                </a:solidFill>
                <a:latin typeface="Arial"/>
              </a:defRPr>
            </a:pPr>
            <a:r>
              <a:t>• Age (33–96): Biological aging risk.</a:t>
            </a:r>
          </a:p>
          <a:p>
            <a:pPr>
              <a:defRPr sz="900">
                <a:solidFill>
                  <a:srgbClr val="172B45"/>
                </a:solidFill>
                <a:latin typeface="Arial"/>
              </a:defRPr>
            </a:pPr>
            <a:r>
              <a:t>• M/F: Gender stratification.</a:t>
            </a:r>
          </a:p>
          <a:p>
            <a:pPr>
              <a:defRPr sz="900">
                <a:solidFill>
                  <a:srgbClr val="172B45"/>
                </a:solidFill>
                <a:latin typeface="Arial"/>
              </a:defRPr>
            </a:pPr>
            <a:r>
              <a:t>• Educ (1–5): Education (cognitive reserve proxy).</a:t>
            </a:r>
          </a:p>
          <a:p>
            <a:pPr>
              <a:defRPr sz="900">
                <a:solidFill>
                  <a:srgbClr val="172B45"/>
                </a:solidFill>
                <a:latin typeface="Arial"/>
              </a:defRPr>
            </a:pPr>
            <a:r>
              <a:t>• SES (1–5): Hollingshead status.</a:t>
            </a:r>
          </a:p>
          <a:p>
            <a:pPr>
              <a:defRPr sz="900">
                <a:solidFill>
                  <a:srgbClr val="172B45"/>
                </a:solidFill>
                <a:latin typeface="Arial"/>
              </a:defRPr>
            </a:pPr>
          </a:p>
          <a:p>
            <a:pPr>
              <a:defRPr sz="900">
                <a:solidFill>
                  <a:srgbClr val="172B45"/>
                </a:solidFill>
                <a:latin typeface="Arial"/>
              </a:defRPr>
            </a:pPr>
            <a:r>
              <a:t>Structural MRI Morphometrics (3):</a:t>
            </a:r>
          </a:p>
          <a:p>
            <a:pPr>
              <a:defRPr sz="900">
                <a:solidFill>
                  <a:srgbClr val="172B45"/>
                </a:solidFill>
                <a:latin typeface="Arial"/>
              </a:defRPr>
            </a:pPr>
            <a:r>
              <a:t>• nWBV (0.64–0.85): Normalized Whole Brain Volume (ratio of brain tissue; objective cerebral atrophy).</a:t>
            </a:r>
          </a:p>
          <a:p>
            <a:pPr>
              <a:defRPr sz="900">
                <a:solidFill>
                  <a:srgbClr val="172B45"/>
                </a:solidFill>
                <a:latin typeface="Arial"/>
              </a:defRPr>
            </a:pPr>
            <a:r>
              <a:t>• eTIV (1123–1992 mm³): Estimated Total Intracranial Volume.</a:t>
            </a:r>
          </a:p>
          <a:p>
            <a:pPr>
              <a:defRPr sz="900">
                <a:solidFill>
                  <a:srgbClr val="172B45"/>
                </a:solidFill>
                <a:latin typeface="Arial"/>
              </a:defRPr>
            </a:pPr>
            <a:r>
              <a:t>• ASF (0.88–1.56): Atlas Scaling Factor to Talairach stereotaxic 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07 | MODEL DESIGN</a:t>
            </a:r>
          </a:p>
          <a:p>
            <a:pPr>
              <a:defRPr sz="2100" b="1">
                <a:solidFill>
                  <a:srgbClr val="172B45"/>
                </a:solidFill>
                <a:latin typeface="Arial"/>
              </a:defRPr>
            </a:pPr>
            <a:r>
              <a:t>Classification Models &amp; Ensemble Architecture</a:t>
            </a:r>
          </a:p>
          <a:p>
            <a:pPr>
              <a:spcBef>
                <a:spcPts val="200"/>
              </a:spcBef>
              <a:defRPr sz="1050">
                <a:solidFill>
                  <a:srgbClr val="66758A"/>
                </a:solidFill>
                <a:latin typeface="Arial"/>
              </a:defRPr>
            </a:pPr>
            <a:r>
              <a:t>Systematic comparison of linear, tree, margin-based, boosting, and soft-voting consensus architectures.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08 / 16</a:t>
            </a:r>
          </a:p>
        </p:txBody>
      </p:sp>
      <p:sp>
        <p:nvSpPr>
          <p:cNvPr id="8" name="Rounded Rectangle 7"/>
          <p:cNvSpPr/>
          <p:nvPr/>
        </p:nvSpPr>
        <p:spPr>
          <a:xfrm>
            <a:off x="731520" y="1417320"/>
            <a:ext cx="47548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475488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4315968" cy="502920"/>
          </a:xfrm>
          <a:prstGeom prst="rect">
            <a:avLst/>
          </a:prstGeom>
          <a:noFill/>
        </p:spPr>
        <p:txBody>
          <a:bodyPr wrap="square" tIns="0" bIns="0" lIns="0" rIns="0">
            <a:spAutoFit/>
          </a:bodyPr>
          <a:lstStyle/>
          <a:p>
            <a:pPr>
              <a:defRPr sz="850" b="1">
                <a:solidFill>
                  <a:srgbClr val="168C8C"/>
                </a:solidFill>
                <a:latin typeface="Arial"/>
              </a:defRPr>
            </a:pPr>
            <a:r>
              <a:t>MODEL BENCHMARK</a:t>
            </a:r>
          </a:p>
          <a:p>
            <a:pPr>
              <a:defRPr sz="1250" b="1">
                <a:solidFill>
                  <a:srgbClr val="172B45"/>
                </a:solidFill>
                <a:latin typeface="Arial"/>
              </a:defRPr>
            </a:pPr>
            <a:r>
              <a:t>Evaluated Model Configurations</a:t>
            </a:r>
          </a:p>
        </p:txBody>
      </p:sp>
      <p:sp>
        <p:nvSpPr>
          <p:cNvPr id="11" name="TextBox 10"/>
          <p:cNvSpPr txBox="1"/>
          <p:nvPr/>
        </p:nvSpPr>
        <p:spPr>
          <a:xfrm>
            <a:off x="950976" y="2148840"/>
            <a:ext cx="4297680" cy="3749039"/>
          </a:xfrm>
          <a:prstGeom prst="rect">
            <a:avLst/>
          </a:prstGeom>
          <a:noFill/>
        </p:spPr>
        <p:txBody>
          <a:bodyPr wrap="square">
            <a:spAutoFit/>
          </a:bodyPr>
          <a:lstStyle/>
          <a:p>
            <a:pPr>
              <a:defRPr sz="1000">
                <a:solidFill>
                  <a:srgbClr val="172B45"/>
                </a:solidFill>
                <a:latin typeface="Arial"/>
              </a:defRPr>
            </a:pPr>
            <a:r>
              <a:t>• Dummy Classifier (Baseline):</a:t>
            </a:r>
          </a:p>
          <a:p>
            <a:pPr>
              <a:defRPr sz="1000">
                <a:solidFill>
                  <a:srgbClr val="172B45"/>
                </a:solidFill>
                <a:latin typeface="Arial"/>
              </a:defRPr>
            </a:pPr>
            <a:r>
              <a:t>  Majority class prediction; establishes empirical accuracy floor (57.45%).</a:t>
            </a:r>
          </a:p>
          <a:p>
            <a:pPr>
              <a:defRPr sz="1000">
                <a:solidFill>
                  <a:srgbClr val="172B45"/>
                </a:solidFill>
                <a:latin typeface="Arial"/>
              </a:defRPr>
            </a:pPr>
          </a:p>
          <a:p>
            <a:pPr>
              <a:defRPr sz="1000">
                <a:solidFill>
                  <a:srgbClr val="172B45"/>
                </a:solidFill>
                <a:latin typeface="Arial"/>
              </a:defRPr>
            </a:pPr>
            <a:r>
              <a:t>• Logistic Regression (LR):</a:t>
            </a:r>
          </a:p>
          <a:p>
            <a:pPr>
              <a:defRPr sz="1000">
                <a:solidFill>
                  <a:srgbClr val="172B45"/>
                </a:solidFill>
                <a:latin typeface="Arial"/>
              </a:defRPr>
            </a:pPr>
            <a:r>
              <a:t>  Linear probabilistic classifier with L2 regularization penalty (C=1.0).</a:t>
            </a:r>
          </a:p>
          <a:p>
            <a:pPr>
              <a:defRPr sz="1000">
                <a:solidFill>
                  <a:srgbClr val="172B45"/>
                </a:solidFill>
                <a:latin typeface="Arial"/>
              </a:defRPr>
            </a:pPr>
          </a:p>
          <a:p>
            <a:pPr>
              <a:defRPr sz="1000">
                <a:solidFill>
                  <a:srgbClr val="172B45"/>
                </a:solidFill>
                <a:latin typeface="Arial"/>
              </a:defRPr>
            </a:pPr>
            <a:r>
              <a:t>• Random Forest (RF):</a:t>
            </a:r>
          </a:p>
          <a:p>
            <a:pPr>
              <a:defRPr sz="1000">
                <a:solidFill>
                  <a:srgbClr val="172B45"/>
                </a:solidFill>
                <a:latin typeface="Arial"/>
              </a:defRPr>
            </a:pPr>
            <a:r>
              <a:t>  100 bagged decorrelated decision trees (max_depth=5, min_samples_split=4).</a:t>
            </a:r>
          </a:p>
          <a:p>
            <a:pPr>
              <a:defRPr sz="1000">
                <a:solidFill>
                  <a:srgbClr val="172B45"/>
                </a:solidFill>
                <a:latin typeface="Arial"/>
              </a:defRPr>
            </a:pPr>
          </a:p>
          <a:p>
            <a:pPr>
              <a:defRPr sz="1000">
                <a:solidFill>
                  <a:srgbClr val="172B45"/>
                </a:solidFill>
                <a:latin typeface="Arial"/>
              </a:defRPr>
            </a:pPr>
            <a:r>
              <a:t>• Support Vector Machine (SVM):</a:t>
            </a:r>
          </a:p>
          <a:p>
            <a:pPr>
              <a:defRPr sz="1000">
                <a:solidFill>
                  <a:srgbClr val="172B45"/>
                </a:solidFill>
                <a:latin typeface="Arial"/>
              </a:defRPr>
            </a:pPr>
            <a:r>
              <a:t>  RBF kernel with Platt-scaled calibrated posterior probabilities (C=1.0).</a:t>
            </a:r>
          </a:p>
          <a:p>
            <a:pPr>
              <a:defRPr sz="1000">
                <a:solidFill>
                  <a:srgbClr val="172B45"/>
                </a:solidFill>
                <a:latin typeface="Arial"/>
              </a:defRPr>
            </a:pPr>
          </a:p>
          <a:p>
            <a:pPr>
              <a:defRPr sz="1000">
                <a:solidFill>
                  <a:srgbClr val="172B45"/>
                </a:solidFill>
                <a:latin typeface="Arial"/>
              </a:defRPr>
            </a:pPr>
            <a:r>
              <a:t>• Gradient Boosting (GB):</a:t>
            </a:r>
          </a:p>
          <a:p>
            <a:pPr>
              <a:defRPr sz="1000">
                <a:solidFill>
                  <a:srgbClr val="172B45"/>
                </a:solidFill>
                <a:latin typeface="Arial"/>
              </a:defRPr>
            </a:pPr>
            <a:r>
              <a:t>  100 sequential residual regression trees (lr=0.1, max_depth=3).</a:t>
            </a:r>
          </a:p>
          <a:p>
            <a:pPr>
              <a:defRPr sz="1000">
                <a:solidFill>
                  <a:srgbClr val="172B45"/>
                </a:solidFill>
                <a:latin typeface="Arial"/>
              </a:defRPr>
            </a:pPr>
          </a:p>
          <a:p>
            <a:pPr>
              <a:defRPr sz="1000">
                <a:solidFill>
                  <a:srgbClr val="172B45"/>
                </a:solidFill>
                <a:latin typeface="Arial"/>
              </a:defRPr>
            </a:pPr>
            <a:r>
              <a:t>• Soft-Voting Ensemble:</a:t>
            </a:r>
          </a:p>
          <a:p>
            <a:pPr>
              <a:defRPr sz="1000">
                <a:solidFill>
                  <a:srgbClr val="172B45"/>
                </a:solidFill>
                <a:latin typeface="Arial"/>
              </a:defRPr>
            </a:pPr>
            <a:r>
              <a:t>  Weighted consensus averaging posterior class probabilities:</a:t>
            </a:r>
          </a:p>
          <a:p>
            <a:pPr>
              <a:defRPr sz="1000">
                <a:solidFill>
                  <a:srgbClr val="172B45"/>
                </a:solidFill>
                <a:latin typeface="Arial"/>
              </a:defRPr>
            </a:pPr>
            <a:r>
              <a:t>  P(Dementia) = (1·P_LR + 2·P_RF + 2·P_GB) / 5.</a:t>
            </a:r>
          </a:p>
        </p:txBody>
      </p:sp>
      <p:pic>
        <p:nvPicPr>
          <p:cNvPr id="12" name="Picture 11" descr="model_architecture_diagram.png"/>
          <p:cNvPicPr>
            <a:picLocks noChangeAspect="1"/>
          </p:cNvPicPr>
          <p:nvPr/>
        </p:nvPicPr>
        <p:blipFill>
          <a:blip r:embed="rId2"/>
          <a:stretch>
            <a:fillRect/>
          </a:stretch>
        </p:blipFill>
        <p:spPr>
          <a:xfrm>
            <a:off x="5760720" y="1691640"/>
            <a:ext cx="5669280" cy="280863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08 | INTERPRETABILITY</a:t>
            </a:r>
          </a:p>
          <a:p>
            <a:pPr>
              <a:defRPr sz="2100" b="1">
                <a:solidFill>
                  <a:srgbClr val="172B45"/>
                </a:solidFill>
                <a:latin typeface="Arial"/>
              </a:defRPr>
            </a:pPr>
            <a:r>
              <a:t>Explainable AI via SHAP Framework</a:t>
            </a:r>
          </a:p>
          <a:p>
            <a:pPr>
              <a:spcBef>
                <a:spcPts val="200"/>
              </a:spcBef>
              <a:defRPr sz="1050">
                <a:solidFill>
                  <a:srgbClr val="66758A"/>
                </a:solidFill>
                <a:latin typeface="Arial"/>
              </a:defRPr>
            </a:pPr>
            <a:r>
              <a:t>Game-theoretic attribution allocating diagnostic credit across multimodal biomarkers globally and locally.</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09 / 16</a:t>
            </a:r>
          </a:p>
        </p:txBody>
      </p:sp>
      <p:sp>
        <p:nvSpPr>
          <p:cNvPr id="8" name="Rounded Rectangle 7"/>
          <p:cNvSpPr/>
          <p:nvPr/>
        </p:nvSpPr>
        <p:spPr>
          <a:xfrm>
            <a:off x="7315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338328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2944368" cy="502920"/>
          </a:xfrm>
          <a:prstGeom prst="rect">
            <a:avLst/>
          </a:prstGeom>
          <a:noFill/>
        </p:spPr>
        <p:txBody>
          <a:bodyPr wrap="square" tIns="0" bIns="0" lIns="0" rIns="0">
            <a:spAutoFit/>
          </a:bodyPr>
          <a:lstStyle/>
          <a:p>
            <a:pPr>
              <a:defRPr sz="850" b="1">
                <a:solidFill>
                  <a:srgbClr val="168C8C"/>
                </a:solidFill>
                <a:latin typeface="Arial"/>
              </a:defRPr>
            </a:pPr>
            <a:r>
              <a:t>MATHEMATICAL RIGOR</a:t>
            </a:r>
          </a:p>
          <a:p>
            <a:pPr>
              <a:defRPr sz="1250" b="1">
                <a:solidFill>
                  <a:srgbClr val="172B45"/>
                </a:solidFill>
                <a:latin typeface="Arial"/>
              </a:defRPr>
            </a:pPr>
            <a:r>
              <a:t>Game-Theoretic Foundation</a:t>
            </a:r>
          </a:p>
        </p:txBody>
      </p:sp>
      <p:sp>
        <p:nvSpPr>
          <p:cNvPr id="11" name="TextBox 10"/>
          <p:cNvSpPr txBox="1"/>
          <p:nvPr/>
        </p:nvSpPr>
        <p:spPr>
          <a:xfrm>
            <a:off x="950976" y="2148840"/>
            <a:ext cx="2944368" cy="3749039"/>
          </a:xfrm>
          <a:prstGeom prst="rect">
            <a:avLst/>
          </a:prstGeom>
          <a:noFill/>
        </p:spPr>
        <p:txBody>
          <a:bodyPr wrap="square">
            <a:spAutoFit/>
          </a:bodyPr>
          <a:lstStyle/>
          <a:p>
            <a:pPr>
              <a:defRPr sz="1000">
                <a:solidFill>
                  <a:srgbClr val="172B45"/>
                </a:solidFill>
                <a:latin typeface="Arial"/>
              </a:defRPr>
            </a:pPr>
            <a:r>
              <a:t>• Grounded in Shapley Values:</a:t>
            </a:r>
          </a:p>
          <a:p>
            <a:pPr>
              <a:defRPr sz="1000">
                <a:solidFill>
                  <a:srgbClr val="172B45"/>
                </a:solidFill>
                <a:latin typeface="Arial"/>
              </a:defRPr>
            </a:pPr>
            <a:r>
              <a:t>  Originates from cooperative coalitional game theory (Nobel Laureate Lloyd Shapley, 1953).</a:t>
            </a:r>
          </a:p>
          <a:p>
            <a:pPr>
              <a:defRPr sz="1000">
                <a:solidFill>
                  <a:srgbClr val="172B45"/>
                </a:solidFill>
                <a:latin typeface="Arial"/>
              </a:defRPr>
            </a:pPr>
          </a:p>
          <a:p>
            <a:pPr>
              <a:defRPr sz="1000">
                <a:solidFill>
                  <a:srgbClr val="172B45"/>
                </a:solidFill>
                <a:latin typeface="Arial"/>
              </a:defRPr>
            </a:pPr>
            <a:r>
              <a:t>• Fair Credit Allocation:</a:t>
            </a:r>
          </a:p>
          <a:p>
            <a:pPr>
              <a:defRPr sz="1000">
                <a:solidFill>
                  <a:srgbClr val="172B45"/>
                </a:solidFill>
                <a:latin typeface="Arial"/>
              </a:defRPr>
            </a:pPr>
            <a:r>
              <a:t>  Calculates the marginal contribution of biomarker i across all possible feature subsets S:</a:t>
            </a:r>
          </a:p>
          <a:p>
            <a:pPr>
              <a:defRPr sz="1000">
                <a:solidFill>
                  <a:srgbClr val="172B45"/>
                </a:solidFill>
                <a:latin typeface="Arial"/>
              </a:defRPr>
            </a:pPr>
          </a:p>
          <a:p>
            <a:pPr>
              <a:defRPr sz="1000">
                <a:solidFill>
                  <a:srgbClr val="172B45"/>
                </a:solidFill>
                <a:latin typeface="Arial"/>
              </a:defRPr>
            </a:pPr>
            <a:r>
              <a:t>  φ_i = Σ [|S|!(|F|-|S|-1)! / |F|!] · [f(S ∪ {i}) - f(S)]</a:t>
            </a:r>
          </a:p>
          <a:p>
            <a:pPr>
              <a:defRPr sz="1000">
                <a:solidFill>
                  <a:srgbClr val="172B45"/>
                </a:solidFill>
                <a:latin typeface="Arial"/>
              </a:defRPr>
            </a:pPr>
          </a:p>
          <a:p>
            <a:pPr>
              <a:defRPr sz="1000">
                <a:solidFill>
                  <a:srgbClr val="172B45"/>
                </a:solidFill>
                <a:latin typeface="Arial"/>
              </a:defRPr>
            </a:pPr>
            <a:r>
              <a:t>• Axiomatic Guarantees:</a:t>
            </a:r>
          </a:p>
          <a:p>
            <a:pPr>
              <a:defRPr sz="1000">
                <a:solidFill>
                  <a:srgbClr val="172B45"/>
                </a:solidFill>
                <a:latin typeface="Arial"/>
              </a:defRPr>
            </a:pPr>
            <a:r>
              <a:t>  Satisfies Efficiency, Symmetry, Dummy Player, and Additivity, ensuring non-heuristic fairness.</a:t>
            </a:r>
          </a:p>
        </p:txBody>
      </p:sp>
      <p:sp>
        <p:nvSpPr>
          <p:cNvPr id="12" name="Rounded Rectangle 11"/>
          <p:cNvSpPr/>
          <p:nvPr/>
        </p:nvSpPr>
        <p:spPr>
          <a:xfrm>
            <a:off x="43891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417320"/>
            <a:ext cx="3383280" cy="45720"/>
          </a:xfrm>
          <a:prstGeom prst="rect">
            <a:avLst/>
          </a:prstGeom>
          <a:solidFill>
            <a:srgbClr val="5685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563624"/>
            <a:ext cx="2944368" cy="502920"/>
          </a:xfrm>
          <a:prstGeom prst="rect">
            <a:avLst/>
          </a:prstGeom>
          <a:noFill/>
        </p:spPr>
        <p:txBody>
          <a:bodyPr wrap="square" tIns="0" bIns="0" lIns="0" rIns="0">
            <a:spAutoFit/>
          </a:bodyPr>
          <a:lstStyle/>
          <a:p>
            <a:pPr>
              <a:defRPr sz="850" b="1">
                <a:solidFill>
                  <a:srgbClr val="5685C4"/>
                </a:solidFill>
                <a:latin typeface="Arial"/>
              </a:defRPr>
            </a:pPr>
            <a:r>
              <a:t>POPULATION INSIGHTS</a:t>
            </a:r>
          </a:p>
          <a:p>
            <a:pPr>
              <a:defRPr sz="1250" b="1">
                <a:solidFill>
                  <a:srgbClr val="172B45"/>
                </a:solidFill>
                <a:latin typeface="Arial"/>
              </a:defRPr>
            </a:pPr>
            <a:r>
              <a:t>Global Cohort Ranking</a:t>
            </a:r>
          </a:p>
        </p:txBody>
      </p:sp>
      <p:sp>
        <p:nvSpPr>
          <p:cNvPr id="15" name="TextBox 14"/>
          <p:cNvSpPr txBox="1"/>
          <p:nvPr/>
        </p:nvSpPr>
        <p:spPr>
          <a:xfrm>
            <a:off x="4608576" y="2148840"/>
            <a:ext cx="2944368" cy="3749039"/>
          </a:xfrm>
          <a:prstGeom prst="rect">
            <a:avLst/>
          </a:prstGeom>
          <a:noFill/>
        </p:spPr>
        <p:txBody>
          <a:bodyPr wrap="square">
            <a:spAutoFit/>
          </a:bodyPr>
          <a:lstStyle/>
          <a:p>
            <a:pPr>
              <a:defRPr sz="1000">
                <a:solidFill>
                  <a:srgbClr val="172B45"/>
                </a:solidFill>
                <a:latin typeface="Arial"/>
              </a:defRPr>
            </a:pPr>
            <a:r>
              <a:t>• Mean Absolute Importance:</a:t>
            </a:r>
          </a:p>
          <a:p>
            <a:pPr>
              <a:defRPr sz="1000">
                <a:solidFill>
                  <a:srgbClr val="172B45"/>
                </a:solidFill>
                <a:latin typeface="Arial"/>
              </a:defRPr>
            </a:pPr>
            <a:r>
              <a:t>  Ranks features by average magnitude across all test participants: (1/N) Σ |φ_i|.</a:t>
            </a:r>
          </a:p>
          <a:p>
            <a:pPr>
              <a:defRPr sz="1000">
                <a:solidFill>
                  <a:srgbClr val="172B45"/>
                </a:solidFill>
                <a:latin typeface="Arial"/>
              </a:defRPr>
            </a:pPr>
          </a:p>
          <a:p>
            <a:pPr>
              <a:defRPr sz="1000">
                <a:solidFill>
                  <a:srgbClr val="172B45"/>
                </a:solidFill>
                <a:latin typeface="Arial"/>
              </a:defRPr>
            </a:pPr>
            <a:r>
              <a:t>• Summary Beeswarm Plot:</a:t>
            </a:r>
          </a:p>
          <a:p>
            <a:pPr>
              <a:defRPr sz="1000">
                <a:solidFill>
                  <a:srgbClr val="172B45"/>
                </a:solidFill>
                <a:latin typeface="Arial"/>
              </a:defRPr>
            </a:pPr>
            <a:r>
              <a:t>  Reveals feature value distribution (low=blue, high=red) versus positive/negative impact on dementia log-odds.</a:t>
            </a:r>
          </a:p>
          <a:p>
            <a:pPr>
              <a:defRPr sz="1000">
                <a:solidFill>
                  <a:srgbClr val="172B45"/>
                </a:solidFill>
                <a:latin typeface="Arial"/>
              </a:defRPr>
            </a:pPr>
          </a:p>
          <a:p>
            <a:pPr>
              <a:defRPr sz="1000">
                <a:solidFill>
                  <a:srgbClr val="172B45"/>
                </a:solidFill>
                <a:latin typeface="Arial"/>
              </a:defRPr>
            </a:pPr>
            <a:r>
              <a:t>• Clinical Verification:</a:t>
            </a:r>
          </a:p>
          <a:p>
            <a:pPr>
              <a:defRPr sz="1000">
                <a:solidFill>
                  <a:srgbClr val="172B45"/>
                </a:solidFill>
                <a:latin typeface="Arial"/>
              </a:defRPr>
            </a:pPr>
            <a:r>
              <a:t>  Allows neurologists to confirm that model reliance corresponds to genuine neurodegeneration rather than imaging artifacts.</a:t>
            </a:r>
          </a:p>
        </p:txBody>
      </p:sp>
      <p:sp>
        <p:nvSpPr>
          <p:cNvPr id="16" name="Rounded Rectangle 15"/>
          <p:cNvSpPr/>
          <p:nvPr/>
        </p:nvSpPr>
        <p:spPr>
          <a:xfrm>
            <a:off x="80467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417320"/>
            <a:ext cx="338328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6176" y="1563624"/>
            <a:ext cx="2944368" cy="502920"/>
          </a:xfrm>
          <a:prstGeom prst="rect">
            <a:avLst/>
          </a:prstGeom>
          <a:noFill/>
        </p:spPr>
        <p:txBody>
          <a:bodyPr wrap="square" tIns="0" bIns="0" lIns="0" rIns="0">
            <a:spAutoFit/>
          </a:bodyPr>
          <a:lstStyle/>
          <a:p>
            <a:pPr>
              <a:defRPr sz="850" b="1">
                <a:solidFill>
                  <a:srgbClr val="168C8C"/>
                </a:solidFill>
                <a:latin typeface="Arial"/>
              </a:defRPr>
            </a:pPr>
            <a:r>
              <a:t>DECISION SUPPORT</a:t>
            </a:r>
          </a:p>
          <a:p>
            <a:pPr>
              <a:defRPr sz="1250" b="1">
                <a:solidFill>
                  <a:srgbClr val="172B45"/>
                </a:solidFill>
                <a:latin typeface="Arial"/>
              </a:defRPr>
            </a:pPr>
            <a:r>
              <a:t>Local Patient Attribution</a:t>
            </a:r>
          </a:p>
        </p:txBody>
      </p:sp>
      <p:sp>
        <p:nvSpPr>
          <p:cNvPr id="19" name="TextBox 18"/>
          <p:cNvSpPr txBox="1"/>
          <p:nvPr/>
        </p:nvSpPr>
        <p:spPr>
          <a:xfrm>
            <a:off x="8266176" y="2148840"/>
            <a:ext cx="2944368" cy="3749039"/>
          </a:xfrm>
          <a:prstGeom prst="rect">
            <a:avLst/>
          </a:prstGeom>
          <a:noFill/>
        </p:spPr>
        <p:txBody>
          <a:bodyPr wrap="square">
            <a:spAutoFit/>
          </a:bodyPr>
          <a:lstStyle/>
          <a:p>
            <a:pPr>
              <a:defRPr sz="1000">
                <a:solidFill>
                  <a:srgbClr val="172B45"/>
                </a:solidFill>
                <a:latin typeface="Arial"/>
              </a:defRPr>
            </a:pPr>
            <a:r>
              <a:t>• Patient Waterfall Plots:</a:t>
            </a:r>
          </a:p>
          <a:p>
            <a:pPr>
              <a:defRPr sz="1000">
                <a:solidFill>
                  <a:srgbClr val="172B45"/>
                </a:solidFill>
                <a:latin typeface="Arial"/>
              </a:defRPr>
            </a:pPr>
            <a:r>
              <a:t>  Decomposes an individual patient's prediction step-by-step from base rate E[f(x)] to final model log-odds f(x).</a:t>
            </a:r>
          </a:p>
          <a:p>
            <a:pPr>
              <a:defRPr sz="1000">
                <a:solidFill>
                  <a:srgbClr val="172B45"/>
                </a:solidFill>
                <a:latin typeface="Arial"/>
              </a:defRPr>
            </a:pPr>
          </a:p>
          <a:p>
            <a:pPr>
              <a:defRPr sz="1000">
                <a:solidFill>
                  <a:srgbClr val="172B45"/>
                </a:solidFill>
                <a:latin typeface="Arial"/>
              </a:defRPr>
            </a:pPr>
            <a:r>
              <a:t>• Transparent Second Opinion:</a:t>
            </a:r>
          </a:p>
          <a:p>
            <a:pPr>
              <a:defRPr sz="1000">
                <a:solidFill>
                  <a:srgbClr val="172B45"/>
                </a:solidFill>
                <a:latin typeface="Arial"/>
              </a:defRPr>
            </a:pPr>
            <a:r>
              <a:t>  Explicitly justifies why a specific patient was classified as high-risk, identifying dominant drivers.</a:t>
            </a:r>
          </a:p>
          <a:p>
            <a:pPr>
              <a:defRPr sz="1000">
                <a:solidFill>
                  <a:srgbClr val="172B45"/>
                </a:solidFill>
                <a:latin typeface="Arial"/>
              </a:defRPr>
            </a:pPr>
          </a:p>
          <a:p>
            <a:pPr>
              <a:defRPr sz="1000">
                <a:solidFill>
                  <a:srgbClr val="172B45"/>
                </a:solidFill>
                <a:latin typeface="Arial"/>
              </a:defRPr>
            </a:pPr>
            <a:r>
              <a:t>• Scientific Qualification:</a:t>
            </a:r>
          </a:p>
          <a:p>
            <a:pPr>
              <a:defRPr sz="1000">
                <a:solidFill>
                  <a:srgbClr val="172B45"/>
                </a:solidFill>
                <a:latin typeface="Arial"/>
              </a:defRPr>
            </a:pPr>
            <a:r>
              <a:t>  SHAP explains algorithmic model attribution; it does not establish medical causality or replace clinical diagnosis.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09 | RIGOROUS BENCHMARK</a:t>
            </a:r>
          </a:p>
          <a:p>
            <a:pPr>
              <a:defRPr sz="2100" b="1">
                <a:solidFill>
                  <a:srgbClr val="172B45"/>
                </a:solidFill>
                <a:latin typeface="Arial"/>
              </a:defRPr>
            </a:pPr>
            <a:r>
              <a:t>Experimental Setup &amp; Reproducibility</a:t>
            </a:r>
          </a:p>
          <a:p>
            <a:pPr>
              <a:spcBef>
                <a:spcPts val="200"/>
              </a:spcBef>
              <a:defRPr sz="1050">
                <a:solidFill>
                  <a:srgbClr val="66758A"/>
                </a:solidFill>
                <a:latin typeface="Arial"/>
              </a:defRPr>
            </a:pPr>
            <a:r>
              <a:t>Deterministic software stack, execution efficiency on commodity CPU, and unit-tested pipelines.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10 / 16</a:t>
            </a:r>
          </a:p>
        </p:txBody>
      </p:sp>
      <p:sp>
        <p:nvSpPr>
          <p:cNvPr id="8" name="Rounded Rectangle 7"/>
          <p:cNvSpPr/>
          <p:nvPr/>
        </p:nvSpPr>
        <p:spPr>
          <a:xfrm>
            <a:off x="731520" y="1417320"/>
            <a:ext cx="438912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438912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3950208" cy="502920"/>
          </a:xfrm>
          <a:prstGeom prst="rect">
            <a:avLst/>
          </a:prstGeom>
          <a:noFill/>
        </p:spPr>
        <p:txBody>
          <a:bodyPr wrap="square" tIns="0" bIns="0" lIns="0" rIns="0">
            <a:spAutoFit/>
          </a:bodyPr>
          <a:lstStyle/>
          <a:p>
            <a:pPr>
              <a:defRPr sz="850" b="1">
                <a:solidFill>
                  <a:srgbClr val="168C8C"/>
                </a:solidFill>
                <a:latin typeface="Arial"/>
              </a:defRPr>
            </a:pPr>
            <a:r>
              <a:t>SYSTEM SPECIFICATIONS</a:t>
            </a:r>
          </a:p>
          <a:p>
            <a:pPr>
              <a:defRPr sz="1250" b="1">
                <a:solidFill>
                  <a:srgbClr val="172B45"/>
                </a:solidFill>
                <a:latin typeface="Arial"/>
              </a:defRPr>
            </a:pPr>
            <a:r>
              <a:t>Environment &amp; Execution Speed</a:t>
            </a:r>
          </a:p>
        </p:txBody>
      </p:sp>
      <p:sp>
        <p:nvSpPr>
          <p:cNvPr id="11" name="TextBox 10"/>
          <p:cNvSpPr txBox="1"/>
          <p:nvPr/>
        </p:nvSpPr>
        <p:spPr>
          <a:xfrm>
            <a:off x="950976" y="2148840"/>
            <a:ext cx="3931920" cy="3749039"/>
          </a:xfrm>
          <a:prstGeom prst="rect">
            <a:avLst/>
          </a:prstGeom>
          <a:noFill/>
        </p:spPr>
        <p:txBody>
          <a:bodyPr wrap="square">
            <a:spAutoFit/>
          </a:bodyPr>
          <a:lstStyle/>
          <a:p>
            <a:pPr>
              <a:defRPr sz="950">
                <a:solidFill>
                  <a:srgbClr val="172B45"/>
                </a:solidFill>
                <a:latin typeface="Arial"/>
              </a:defRPr>
            </a:pPr>
            <a:r>
              <a:t>• Operating System:</a:t>
            </a:r>
          </a:p>
          <a:p>
            <a:pPr>
              <a:defRPr sz="950">
                <a:solidFill>
                  <a:srgbClr val="172B45"/>
                </a:solidFill>
                <a:latin typeface="Arial"/>
              </a:defRPr>
            </a:pPr>
            <a:r>
              <a:t>  Windows 10/11 (AMD64 platform architecture).</a:t>
            </a:r>
          </a:p>
          <a:p>
            <a:pPr>
              <a:defRPr sz="950">
                <a:solidFill>
                  <a:srgbClr val="172B45"/>
                </a:solidFill>
                <a:latin typeface="Arial"/>
              </a:defRPr>
            </a:pPr>
          </a:p>
          <a:p>
            <a:pPr>
              <a:defRPr sz="950">
                <a:solidFill>
                  <a:srgbClr val="172B45"/>
                </a:solidFill>
                <a:latin typeface="Arial"/>
              </a:defRPr>
            </a:pPr>
            <a:r>
              <a:t>• Python Runtime:</a:t>
            </a:r>
          </a:p>
          <a:p>
            <a:pPr>
              <a:defRPr sz="950">
                <a:solidFill>
                  <a:srgbClr val="172B45"/>
                </a:solidFill>
                <a:latin typeface="Arial"/>
              </a:defRPr>
            </a:pPr>
            <a:r>
              <a:t>  Python 3.11.0 (64-bit environment).</a:t>
            </a:r>
          </a:p>
          <a:p>
            <a:pPr>
              <a:defRPr sz="950">
                <a:solidFill>
                  <a:srgbClr val="172B45"/>
                </a:solidFill>
                <a:latin typeface="Arial"/>
              </a:defRPr>
            </a:pPr>
          </a:p>
          <a:p>
            <a:pPr>
              <a:defRPr sz="950">
                <a:solidFill>
                  <a:srgbClr val="172B45"/>
                </a:solidFill>
                <a:latin typeface="Arial"/>
              </a:defRPr>
            </a:pPr>
            <a:r>
              <a:t>• Pinned Core Libraries:</a:t>
            </a:r>
          </a:p>
          <a:p>
            <a:pPr>
              <a:defRPr sz="950">
                <a:solidFill>
                  <a:srgbClr val="172B45"/>
                </a:solidFill>
                <a:latin typeface="Arial"/>
              </a:defRPr>
            </a:pPr>
            <a:r>
              <a:t>  scikit-learn 1.7.0, NumPy 2.x, pandas 2.x, SHAP 0.46.0, Matplotlib 3.10.0.</a:t>
            </a:r>
          </a:p>
          <a:p>
            <a:pPr>
              <a:defRPr sz="950">
                <a:solidFill>
                  <a:srgbClr val="172B45"/>
                </a:solidFill>
                <a:latin typeface="Arial"/>
              </a:defRPr>
            </a:pPr>
          </a:p>
          <a:p>
            <a:pPr>
              <a:defRPr sz="950">
                <a:solidFill>
                  <a:srgbClr val="172B45"/>
                </a:solidFill>
                <a:latin typeface="Arial"/>
              </a:defRPr>
            </a:pPr>
            <a:r>
              <a:t>• Commodity Hardware:</a:t>
            </a:r>
          </a:p>
          <a:p>
            <a:pPr>
              <a:defRPr sz="950">
                <a:solidFill>
                  <a:srgbClr val="172B45"/>
                </a:solidFill>
                <a:latin typeface="Arial"/>
              </a:defRPr>
            </a:pPr>
            <a:r>
              <a:t>  Intel Core i5 CPU, 16 GB RAM (Zero GPU reliance).</a:t>
            </a:r>
          </a:p>
          <a:p>
            <a:pPr>
              <a:defRPr sz="950">
                <a:solidFill>
                  <a:srgbClr val="172B45"/>
                </a:solidFill>
                <a:latin typeface="Arial"/>
              </a:defRPr>
            </a:pPr>
          </a:p>
          <a:p>
            <a:pPr>
              <a:defRPr sz="950">
                <a:solidFill>
                  <a:srgbClr val="172B45"/>
                </a:solidFill>
                <a:latin typeface="Arial"/>
              </a:defRPr>
            </a:pPr>
            <a:r>
              <a:t>• Ultra-Fast Execution:</a:t>
            </a:r>
          </a:p>
          <a:p>
            <a:pPr>
              <a:defRPr sz="950">
                <a:solidFill>
                  <a:srgbClr val="172B45"/>
                </a:solidFill>
                <a:latin typeface="Arial"/>
              </a:defRPr>
            </a:pPr>
            <a:r>
              <a:t>  Complete pipeline (data audit, 5-fold CV, testing, and SHAP) runs in &lt; 15 seconds.</a:t>
            </a:r>
          </a:p>
          <a:p>
            <a:pPr>
              <a:defRPr sz="950">
                <a:solidFill>
                  <a:srgbClr val="172B45"/>
                </a:solidFill>
                <a:latin typeface="Arial"/>
              </a:defRPr>
            </a:pPr>
          </a:p>
          <a:p>
            <a:pPr>
              <a:defRPr sz="950">
                <a:solidFill>
                  <a:srgbClr val="172B45"/>
                </a:solidFill>
                <a:latin typeface="Arial"/>
              </a:defRPr>
            </a:pPr>
            <a:r>
              <a:t>• Deterministic Reproducibility:</a:t>
            </a:r>
          </a:p>
          <a:p>
            <a:pPr>
              <a:defRPr sz="950">
                <a:solidFill>
                  <a:srgbClr val="172B45"/>
                </a:solidFill>
                <a:latin typeface="Arial"/>
              </a:defRPr>
            </a:pPr>
            <a:r>
              <a:t>  Global random seed = 42 enforced across all splits and estimators.</a:t>
            </a:r>
          </a:p>
          <a:p>
            <a:pPr>
              <a:defRPr sz="950">
                <a:solidFill>
                  <a:srgbClr val="172B45"/>
                </a:solidFill>
                <a:latin typeface="Arial"/>
              </a:defRPr>
            </a:pPr>
          </a:p>
          <a:p>
            <a:pPr>
              <a:defRPr sz="950">
                <a:solidFill>
                  <a:srgbClr val="172B45"/>
                </a:solidFill>
                <a:latin typeface="Arial"/>
              </a:defRPr>
            </a:pPr>
            <a:r>
              <a:t>• Verified Unit Testing:</a:t>
            </a:r>
          </a:p>
          <a:p>
            <a:pPr>
              <a:defRPr sz="950">
                <a:solidFill>
                  <a:srgbClr val="172B45"/>
                </a:solidFill>
                <a:latin typeface="Arial"/>
              </a:defRPr>
            </a:pPr>
            <a:r>
              <a:t>  7/7 automated pytest tests passing with 100% test coverage.</a:t>
            </a:r>
          </a:p>
        </p:txBody>
      </p:sp>
      <p:graphicFrame>
        <p:nvGraphicFramePr>
          <p:cNvPr id="12" name="Table 11"/>
          <p:cNvGraphicFramePr>
            <a:graphicFrameLocks noGrp="1"/>
          </p:cNvGraphicFramePr>
          <p:nvPr/>
        </p:nvGraphicFramePr>
        <p:xfrm>
          <a:off x="5394960" y="1417320"/>
          <a:ext cx="6065215" cy="4709160"/>
        </p:xfrm>
        <a:graphic>
          <a:graphicData uri="http://schemas.openxmlformats.org/drawingml/2006/table">
            <a:tbl>
              <a:tblPr firstRow="1" bandRow="1">
                <a:tableStyleId>{5C22544A-7EE6-4342-B048-85BDC9FD1C3A}</a:tableStyleId>
              </a:tblPr>
              <a:tblGrid>
                <a:gridCol w="1828800"/>
                <a:gridCol w="2560320"/>
                <a:gridCol w="1676095"/>
              </a:tblGrid>
              <a:tr h="672737">
                <a:tc>
                  <a:txBody>
                    <a:bodyPr/>
                    <a:lstStyle/>
                    <a:p>
                      <a:pPr>
                        <a:defRPr sz="900" b="1">
                          <a:solidFill>
                            <a:srgbClr val="172B45"/>
                          </a:solidFill>
                          <a:latin typeface="Arial"/>
                        </a:defRPr>
                      </a:pPr>
                      <a:r>
                        <a:t>Classifier Architecture</a:t>
                      </a:r>
                    </a:p>
                  </a:txBody>
                  <a:tcPr>
                    <a:solidFill>
                      <a:srgbClr val="F1F6FD"/>
                    </a:solidFill>
                  </a:tcPr>
                </a:tc>
                <a:tc>
                  <a:txBody>
                    <a:bodyPr/>
                    <a:lstStyle/>
                    <a:p>
                      <a:pPr>
                        <a:defRPr sz="900" b="1">
                          <a:solidFill>
                            <a:srgbClr val="172B45"/>
                          </a:solidFill>
                          <a:latin typeface="Arial"/>
                        </a:defRPr>
                      </a:pPr>
                      <a:r>
                        <a:t>Exact Hyperparameters</a:t>
                      </a:r>
                    </a:p>
                  </a:txBody>
                  <a:tcPr>
                    <a:solidFill>
                      <a:srgbClr val="F1F6FD"/>
                    </a:solidFill>
                  </a:tcPr>
                </a:tc>
                <a:tc>
                  <a:txBody>
                    <a:bodyPr/>
                    <a:lstStyle/>
                    <a:p>
                      <a:pPr>
                        <a:defRPr sz="900" b="1">
                          <a:solidFill>
                            <a:srgbClr val="172B45"/>
                          </a:solidFill>
                          <a:latin typeface="Arial"/>
                        </a:defRPr>
                      </a:pPr>
                      <a:r>
                        <a:t>Optimization Objective</a:t>
                      </a:r>
                    </a:p>
                  </a:txBody>
                  <a:tcPr>
                    <a:solidFill>
                      <a:srgbClr val="F1F6FD"/>
                    </a:solidFill>
                  </a:tcPr>
                </a:tc>
              </a:tr>
              <a:tr h="672737">
                <a:tc>
                  <a:txBody>
                    <a:bodyPr/>
                    <a:lstStyle/>
                    <a:p>
                      <a:pPr>
                        <a:defRPr sz="850">
                          <a:solidFill>
                            <a:srgbClr val="172B45"/>
                          </a:solidFill>
                          <a:latin typeface="Arial"/>
                        </a:defRPr>
                      </a:pPr>
                      <a:r>
                        <a:t>Dummy (Baseline)</a:t>
                      </a:r>
                    </a:p>
                  </a:txBody>
                  <a:tcPr>
                    <a:solidFill>
                      <a:srgbClr val="FFFFFF"/>
                    </a:solidFill>
                  </a:tcPr>
                </a:tc>
                <a:tc>
                  <a:txBody>
                    <a:bodyPr/>
                    <a:lstStyle/>
                    <a:p>
                      <a:pPr>
                        <a:defRPr sz="850">
                          <a:solidFill>
                            <a:srgbClr val="172B45"/>
                          </a:solidFill>
                          <a:latin typeface="Arial"/>
                        </a:defRPr>
                      </a:pPr>
                      <a:r>
                        <a:t>strategy='most_frequent'</a:t>
                      </a:r>
                    </a:p>
                  </a:txBody>
                  <a:tcPr>
                    <a:solidFill>
                      <a:srgbClr val="FFFFFF"/>
                    </a:solidFill>
                  </a:tcPr>
                </a:tc>
                <a:tc>
                  <a:txBody>
                    <a:bodyPr/>
                    <a:lstStyle/>
                    <a:p>
                      <a:pPr>
                        <a:defRPr sz="850">
                          <a:solidFill>
                            <a:srgbClr val="172B45"/>
                          </a:solidFill>
                          <a:latin typeface="Arial"/>
                        </a:defRPr>
                      </a:pPr>
                      <a:r>
                        <a:t>Prior Class Floor</a:t>
                      </a:r>
                    </a:p>
                  </a:txBody>
                  <a:tcPr>
                    <a:solidFill>
                      <a:srgbClr val="FFFFFF"/>
                    </a:solidFill>
                  </a:tcPr>
                </a:tc>
              </a:tr>
              <a:tr h="672737">
                <a:tc>
                  <a:txBody>
                    <a:bodyPr/>
                    <a:lstStyle/>
                    <a:p>
                      <a:pPr>
                        <a:defRPr sz="850">
                          <a:solidFill>
                            <a:srgbClr val="172B45"/>
                          </a:solidFill>
                          <a:latin typeface="Arial"/>
                        </a:defRPr>
                      </a:pPr>
                      <a:r>
                        <a:t>Logistic Regression</a:t>
                      </a:r>
                    </a:p>
                  </a:txBody>
                  <a:tcPr>
                    <a:solidFill>
                      <a:srgbClr val="F6F8FA"/>
                    </a:solidFill>
                  </a:tcPr>
                </a:tc>
                <a:tc>
                  <a:txBody>
                    <a:bodyPr/>
                    <a:lstStyle/>
                    <a:p>
                      <a:pPr>
                        <a:defRPr sz="850">
                          <a:solidFill>
                            <a:srgbClr val="172B45"/>
                          </a:solidFill>
                          <a:latin typeface="Arial"/>
                        </a:defRPr>
                      </a:pPr>
                      <a:r>
                        <a:t>C=1.0, solver='liblinear', max_iter=1000</a:t>
                      </a:r>
                    </a:p>
                  </a:txBody>
                  <a:tcPr>
                    <a:solidFill>
                      <a:srgbClr val="F6F8FA"/>
                    </a:solidFill>
                  </a:tcPr>
                </a:tc>
                <a:tc>
                  <a:txBody>
                    <a:bodyPr/>
                    <a:lstStyle/>
                    <a:p>
                      <a:pPr>
                        <a:defRPr sz="850">
                          <a:solidFill>
                            <a:srgbClr val="172B45"/>
                          </a:solidFill>
                          <a:latin typeface="Arial"/>
                        </a:defRPr>
                      </a:pPr>
                      <a:r>
                        <a:t>L2 Cross-Entropy</a:t>
                      </a:r>
                    </a:p>
                  </a:txBody>
                  <a:tcPr>
                    <a:solidFill>
                      <a:srgbClr val="F6F8FA"/>
                    </a:solidFill>
                  </a:tcPr>
                </a:tc>
              </a:tr>
              <a:tr h="672737">
                <a:tc>
                  <a:txBody>
                    <a:bodyPr/>
                    <a:lstStyle/>
                    <a:p>
                      <a:pPr>
                        <a:defRPr sz="850">
                          <a:solidFill>
                            <a:srgbClr val="172B45"/>
                          </a:solidFill>
                          <a:latin typeface="Arial"/>
                        </a:defRPr>
                      </a:pPr>
                      <a:r>
                        <a:t>Random Forest</a:t>
                      </a:r>
                    </a:p>
                  </a:txBody>
                  <a:tcPr>
                    <a:solidFill>
                      <a:srgbClr val="FFFFFF"/>
                    </a:solidFill>
                  </a:tcPr>
                </a:tc>
                <a:tc>
                  <a:txBody>
                    <a:bodyPr/>
                    <a:lstStyle/>
                    <a:p>
                      <a:pPr>
                        <a:defRPr sz="850">
                          <a:solidFill>
                            <a:srgbClr val="172B45"/>
                          </a:solidFill>
                          <a:latin typeface="Arial"/>
                        </a:defRPr>
                      </a:pPr>
                      <a:r>
                        <a:t>n_estimators=100, max_depth=5, min_split=4</a:t>
                      </a:r>
                    </a:p>
                  </a:txBody>
                  <a:tcPr>
                    <a:solidFill>
                      <a:srgbClr val="FFFFFF"/>
                    </a:solidFill>
                  </a:tcPr>
                </a:tc>
                <a:tc>
                  <a:txBody>
                    <a:bodyPr/>
                    <a:lstStyle/>
                    <a:p>
                      <a:pPr>
                        <a:defRPr sz="850">
                          <a:solidFill>
                            <a:srgbClr val="172B45"/>
                          </a:solidFill>
                          <a:latin typeface="Arial"/>
                        </a:defRPr>
                      </a:pPr>
                      <a:r>
                        <a:t>Gini Impurity</a:t>
                      </a:r>
                    </a:p>
                  </a:txBody>
                  <a:tcPr>
                    <a:solidFill>
                      <a:srgbClr val="FFFFFF"/>
                    </a:solidFill>
                  </a:tcPr>
                </a:tc>
              </a:tr>
              <a:tr h="672737">
                <a:tc>
                  <a:txBody>
                    <a:bodyPr/>
                    <a:lstStyle/>
                    <a:p>
                      <a:pPr>
                        <a:defRPr sz="850">
                          <a:solidFill>
                            <a:srgbClr val="172B45"/>
                          </a:solidFill>
                          <a:latin typeface="Arial"/>
                        </a:defRPr>
                      </a:pPr>
                      <a:r>
                        <a:t>Support Vector Machine</a:t>
                      </a:r>
                    </a:p>
                  </a:txBody>
                  <a:tcPr>
                    <a:solidFill>
                      <a:srgbClr val="F6F8FA"/>
                    </a:solidFill>
                  </a:tcPr>
                </a:tc>
                <a:tc>
                  <a:txBody>
                    <a:bodyPr/>
                    <a:lstStyle/>
                    <a:p>
                      <a:pPr>
                        <a:defRPr sz="850">
                          <a:solidFill>
                            <a:srgbClr val="172B45"/>
                          </a:solidFill>
                          <a:latin typeface="Arial"/>
                        </a:defRPr>
                      </a:pPr>
                      <a:r>
                        <a:t>C=1.0, kernel='rbf', probability=True</a:t>
                      </a:r>
                    </a:p>
                  </a:txBody>
                  <a:tcPr>
                    <a:solidFill>
                      <a:srgbClr val="F6F8FA"/>
                    </a:solidFill>
                  </a:tcPr>
                </a:tc>
                <a:tc>
                  <a:txBody>
                    <a:bodyPr/>
                    <a:lstStyle/>
                    <a:p>
                      <a:pPr>
                        <a:defRPr sz="850">
                          <a:solidFill>
                            <a:srgbClr val="172B45"/>
                          </a:solidFill>
                          <a:latin typeface="Arial"/>
                        </a:defRPr>
                      </a:pPr>
                      <a:r>
                        <a:t>Hinge / Platt Sigmoid</a:t>
                      </a:r>
                    </a:p>
                  </a:txBody>
                  <a:tcPr>
                    <a:solidFill>
                      <a:srgbClr val="F6F8FA"/>
                    </a:solidFill>
                  </a:tcPr>
                </a:tc>
              </a:tr>
              <a:tr h="672737">
                <a:tc>
                  <a:txBody>
                    <a:bodyPr/>
                    <a:lstStyle/>
                    <a:p>
                      <a:pPr>
                        <a:defRPr sz="850">
                          <a:solidFill>
                            <a:srgbClr val="172B45"/>
                          </a:solidFill>
                          <a:latin typeface="Arial"/>
                        </a:defRPr>
                      </a:pPr>
                      <a:r>
                        <a:t>Gradient Boosting</a:t>
                      </a:r>
                    </a:p>
                  </a:txBody>
                  <a:tcPr>
                    <a:solidFill>
                      <a:srgbClr val="FFFFFF"/>
                    </a:solidFill>
                  </a:tcPr>
                </a:tc>
                <a:tc>
                  <a:txBody>
                    <a:bodyPr/>
                    <a:lstStyle/>
                    <a:p>
                      <a:pPr>
                        <a:defRPr sz="850">
                          <a:solidFill>
                            <a:srgbClr val="172B45"/>
                          </a:solidFill>
                          <a:latin typeface="Arial"/>
                        </a:defRPr>
                      </a:pPr>
                      <a:r>
                        <a:t>n_estimators=100, lr=0.1, max_depth=3</a:t>
                      </a:r>
                    </a:p>
                  </a:txBody>
                  <a:tcPr>
                    <a:solidFill>
                      <a:srgbClr val="FFFFFF"/>
                    </a:solidFill>
                  </a:tcPr>
                </a:tc>
                <a:tc>
                  <a:txBody>
                    <a:bodyPr/>
                    <a:lstStyle/>
                    <a:p>
                      <a:pPr>
                        <a:defRPr sz="850">
                          <a:solidFill>
                            <a:srgbClr val="172B45"/>
                          </a:solidFill>
                          <a:latin typeface="Arial"/>
                        </a:defRPr>
                      </a:pPr>
                      <a:r>
                        <a:t>Binomial Deviance</a:t>
                      </a:r>
                    </a:p>
                  </a:txBody>
                  <a:tcPr>
                    <a:solidFill>
                      <a:srgbClr val="FFFFFF"/>
                    </a:solidFill>
                  </a:tcPr>
                </a:tc>
              </a:tr>
              <a:tr h="672738">
                <a:tc>
                  <a:txBody>
                    <a:bodyPr/>
                    <a:lstStyle/>
                    <a:p>
                      <a:pPr>
                        <a:defRPr sz="850">
                          <a:solidFill>
                            <a:srgbClr val="172B45"/>
                          </a:solidFill>
                          <a:latin typeface="Arial"/>
                        </a:defRPr>
                      </a:pPr>
                      <a:r>
                        <a:t>Soft Voting Ensemble</a:t>
                      </a:r>
                    </a:p>
                  </a:txBody>
                  <a:tcPr>
                    <a:solidFill>
                      <a:srgbClr val="F6F8FA"/>
                    </a:solidFill>
                  </a:tcPr>
                </a:tc>
                <a:tc>
                  <a:txBody>
                    <a:bodyPr/>
                    <a:lstStyle/>
                    <a:p>
                      <a:pPr>
                        <a:defRPr sz="850">
                          <a:solidFill>
                            <a:srgbClr val="172B45"/>
                          </a:solidFill>
                          <a:latin typeface="Arial"/>
                        </a:defRPr>
                      </a:pPr>
                      <a:r>
                        <a:t>voting='soft', weights=[1, 2, 2] (LR, RF, GB)</a:t>
                      </a:r>
                    </a:p>
                  </a:txBody>
                  <a:tcPr>
                    <a:solidFill>
                      <a:srgbClr val="F6F8FA"/>
                    </a:solidFill>
                  </a:tcPr>
                </a:tc>
                <a:tc>
                  <a:txBody>
                    <a:bodyPr/>
                    <a:lstStyle/>
                    <a:p>
                      <a:pPr>
                        <a:defRPr sz="850">
                          <a:solidFill>
                            <a:srgbClr val="172B45"/>
                          </a:solidFill>
                          <a:latin typeface="Arial"/>
                        </a:defRPr>
                      </a:pPr>
                      <a:r>
                        <a:t>Weighted Log-Loss</a:t>
                      </a:r>
                    </a:p>
                  </a:txBody>
                  <a:tcPr>
                    <a:solidFill>
                      <a:srgbClr val="F6F8FA"/>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10 | EMPIRICAL RESULTS</a:t>
            </a:r>
          </a:p>
          <a:p>
            <a:pPr>
              <a:defRPr sz="2100" b="1">
                <a:solidFill>
                  <a:srgbClr val="172B45"/>
                </a:solidFill>
                <a:latin typeface="Arial"/>
              </a:defRPr>
            </a:pPr>
            <a:r>
              <a:t>Comparative Model Results (Held-Out Test Set, N=47)</a:t>
            </a:r>
          </a:p>
          <a:p>
            <a:pPr>
              <a:spcBef>
                <a:spcPts val="200"/>
              </a:spcBef>
              <a:defRPr sz="1050">
                <a:solidFill>
                  <a:srgbClr val="66758A"/>
                </a:solidFill>
                <a:latin typeface="Arial"/>
              </a:defRPr>
            </a:pPr>
            <a:r>
              <a:t>Rigorous evaluation on isolated test cohort (27 Controls, 20 Dementia) with strict zero data leakage.</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11 / 16</a:t>
            </a:r>
          </a:p>
        </p:txBody>
      </p:sp>
      <p:graphicFrame>
        <p:nvGraphicFramePr>
          <p:cNvPr id="8" name="Table 7"/>
          <p:cNvGraphicFramePr>
            <a:graphicFrameLocks noGrp="1"/>
          </p:cNvGraphicFramePr>
          <p:nvPr/>
        </p:nvGraphicFramePr>
        <p:xfrm>
          <a:off x="731520" y="1417320"/>
          <a:ext cx="10728655" cy="3108960"/>
        </p:xfrm>
        <a:graphic>
          <a:graphicData uri="http://schemas.openxmlformats.org/drawingml/2006/table">
            <a:tbl>
              <a:tblPr firstRow="1" bandRow="1">
                <a:tableStyleId>{5C22544A-7EE6-4342-B048-85BDC9FD1C3A}</a:tableStyleId>
              </a:tblPr>
              <a:tblGrid>
                <a:gridCol w="2286000"/>
                <a:gridCol w="1188720"/>
                <a:gridCol w="1188720"/>
                <a:gridCol w="1280160"/>
                <a:gridCol w="1188720"/>
                <a:gridCol w="1188720"/>
                <a:gridCol w="1188720"/>
                <a:gridCol w="1218895"/>
              </a:tblGrid>
              <a:tr h="444137">
                <a:tc>
                  <a:txBody>
                    <a:bodyPr/>
                    <a:lstStyle/>
                    <a:p>
                      <a:pPr algn="l">
                        <a:defRPr sz="950" b="1">
                          <a:solidFill>
                            <a:srgbClr val="FFFFFF"/>
                          </a:solidFill>
                          <a:latin typeface="Arial"/>
                        </a:defRPr>
                      </a:pPr>
                      <a:r>
                        <a:t>Model Architecture</a:t>
                      </a:r>
                    </a:p>
                  </a:txBody>
                  <a:tcPr>
                    <a:solidFill>
                      <a:srgbClr val="172B45"/>
                    </a:solidFill>
                  </a:tcPr>
                </a:tc>
                <a:tc>
                  <a:txBody>
                    <a:bodyPr/>
                    <a:lstStyle/>
                    <a:p>
                      <a:pPr algn="ctr">
                        <a:defRPr sz="950" b="1">
                          <a:solidFill>
                            <a:srgbClr val="FFFFFF"/>
                          </a:solidFill>
                          <a:latin typeface="Arial"/>
                        </a:defRPr>
                      </a:pPr>
                      <a:r>
                        <a:t>Accuracy</a:t>
                      </a:r>
                    </a:p>
                  </a:txBody>
                  <a:tcPr>
                    <a:solidFill>
                      <a:srgbClr val="172B45"/>
                    </a:solidFill>
                  </a:tcPr>
                </a:tc>
                <a:tc>
                  <a:txBody>
                    <a:bodyPr/>
                    <a:lstStyle/>
                    <a:p>
                      <a:pPr algn="ctr">
                        <a:defRPr sz="950" b="1">
                          <a:solidFill>
                            <a:srgbClr val="FFFFFF"/>
                          </a:solidFill>
                          <a:latin typeface="Arial"/>
                        </a:defRPr>
                      </a:pPr>
                      <a:r>
                        <a:t>Precision</a:t>
                      </a:r>
                    </a:p>
                  </a:txBody>
                  <a:tcPr>
                    <a:solidFill>
                      <a:srgbClr val="172B45"/>
                    </a:solidFill>
                  </a:tcPr>
                </a:tc>
                <a:tc>
                  <a:txBody>
                    <a:bodyPr/>
                    <a:lstStyle/>
                    <a:p>
                      <a:pPr algn="ctr">
                        <a:defRPr sz="950" b="1">
                          <a:solidFill>
                            <a:srgbClr val="FFFFFF"/>
                          </a:solidFill>
                          <a:latin typeface="Arial"/>
                        </a:defRPr>
                      </a:pPr>
                      <a:r>
                        <a:t>Recall (Sens)</a:t>
                      </a:r>
                    </a:p>
                  </a:txBody>
                  <a:tcPr>
                    <a:solidFill>
                      <a:srgbClr val="172B45"/>
                    </a:solidFill>
                  </a:tcPr>
                </a:tc>
                <a:tc>
                  <a:txBody>
                    <a:bodyPr/>
                    <a:lstStyle/>
                    <a:p>
                      <a:pPr algn="ctr">
                        <a:defRPr sz="950" b="1">
                          <a:solidFill>
                            <a:srgbClr val="FFFFFF"/>
                          </a:solidFill>
                          <a:latin typeface="Arial"/>
                        </a:defRPr>
                      </a:pPr>
                      <a:r>
                        <a:t>Specificity</a:t>
                      </a:r>
                    </a:p>
                  </a:txBody>
                  <a:tcPr>
                    <a:solidFill>
                      <a:srgbClr val="172B45"/>
                    </a:solidFill>
                  </a:tcPr>
                </a:tc>
                <a:tc>
                  <a:txBody>
                    <a:bodyPr/>
                    <a:lstStyle/>
                    <a:p>
                      <a:pPr algn="ctr">
                        <a:defRPr sz="950" b="1">
                          <a:solidFill>
                            <a:srgbClr val="FFFFFF"/>
                          </a:solidFill>
                          <a:latin typeface="Arial"/>
                        </a:defRPr>
                      </a:pPr>
                      <a:r>
                        <a:t>F1-Score</a:t>
                      </a:r>
                    </a:p>
                  </a:txBody>
                  <a:tcPr>
                    <a:solidFill>
                      <a:srgbClr val="172B45"/>
                    </a:solidFill>
                  </a:tcPr>
                </a:tc>
                <a:tc>
                  <a:txBody>
                    <a:bodyPr/>
                    <a:lstStyle/>
                    <a:p>
                      <a:pPr algn="ctr">
                        <a:defRPr sz="950" b="1">
                          <a:solidFill>
                            <a:srgbClr val="FFFFFF"/>
                          </a:solidFill>
                          <a:latin typeface="Arial"/>
                        </a:defRPr>
                      </a:pPr>
                      <a:r>
                        <a:t>ROC-AUC</a:t>
                      </a:r>
                    </a:p>
                  </a:txBody>
                  <a:tcPr>
                    <a:solidFill>
                      <a:srgbClr val="172B45"/>
                    </a:solidFill>
                  </a:tcPr>
                </a:tc>
                <a:tc>
                  <a:txBody>
                    <a:bodyPr/>
                    <a:lstStyle/>
                    <a:p>
                      <a:pPr algn="ctr">
                        <a:defRPr sz="950" b="1">
                          <a:solidFill>
                            <a:srgbClr val="FFFFFF"/>
                          </a:solidFill>
                          <a:latin typeface="Arial"/>
                        </a:defRPr>
                      </a:pPr>
                      <a:r>
                        <a:t>Bal. Acc</a:t>
                      </a:r>
                    </a:p>
                  </a:txBody>
                  <a:tcPr>
                    <a:solidFill>
                      <a:srgbClr val="172B45"/>
                    </a:solidFill>
                  </a:tcPr>
                </a:tc>
              </a:tr>
              <a:tr h="444137">
                <a:tc>
                  <a:txBody>
                    <a:bodyPr/>
                    <a:lstStyle/>
                    <a:p>
                      <a:pPr algn="l">
                        <a:defRPr sz="950">
                          <a:solidFill>
                            <a:srgbClr val="172B45"/>
                          </a:solidFill>
                          <a:latin typeface="Arial"/>
                        </a:defRPr>
                      </a:pPr>
                      <a:r>
                        <a:t>Dummy (Baseline)</a:t>
                      </a:r>
                    </a:p>
                  </a:txBody>
                  <a:tcPr>
                    <a:solidFill>
                      <a:srgbClr val="FFFFFF"/>
                    </a:solidFill>
                  </a:tcPr>
                </a:tc>
                <a:tc>
                  <a:txBody>
                    <a:bodyPr/>
                    <a:lstStyle/>
                    <a:p>
                      <a:pPr algn="ctr">
                        <a:defRPr sz="950">
                          <a:solidFill>
                            <a:srgbClr val="172B45"/>
                          </a:solidFill>
                          <a:latin typeface="Arial"/>
                        </a:defRPr>
                      </a:pPr>
                      <a:r>
                        <a:t>57.45%</a:t>
                      </a:r>
                    </a:p>
                  </a:txBody>
                  <a:tcPr>
                    <a:solidFill>
                      <a:srgbClr val="FFFFFF"/>
                    </a:solidFill>
                  </a:tcPr>
                </a:tc>
                <a:tc>
                  <a:txBody>
                    <a:bodyPr/>
                    <a:lstStyle/>
                    <a:p>
                      <a:pPr algn="ctr">
                        <a:defRPr sz="950">
                          <a:solidFill>
                            <a:srgbClr val="172B45"/>
                          </a:solidFill>
                          <a:latin typeface="Arial"/>
                        </a:defRPr>
                      </a:pPr>
                      <a:r>
                        <a:t>0.00%</a:t>
                      </a:r>
                    </a:p>
                  </a:txBody>
                  <a:tcPr>
                    <a:solidFill>
                      <a:srgbClr val="FFFFFF"/>
                    </a:solidFill>
                  </a:tcPr>
                </a:tc>
                <a:tc>
                  <a:txBody>
                    <a:bodyPr/>
                    <a:lstStyle/>
                    <a:p>
                      <a:pPr algn="ctr">
                        <a:defRPr sz="950">
                          <a:solidFill>
                            <a:srgbClr val="172B45"/>
                          </a:solidFill>
                          <a:latin typeface="Arial"/>
                        </a:defRPr>
                      </a:pPr>
                      <a:r>
                        <a:t>0.00%</a:t>
                      </a:r>
                    </a:p>
                  </a:txBody>
                  <a:tcPr>
                    <a:solidFill>
                      <a:srgbClr val="FFFFFF"/>
                    </a:solidFill>
                  </a:tcPr>
                </a:tc>
                <a:tc>
                  <a:txBody>
                    <a:bodyPr/>
                    <a:lstStyle/>
                    <a:p>
                      <a:pPr algn="ctr">
                        <a:defRPr sz="950">
                          <a:solidFill>
                            <a:srgbClr val="172B45"/>
                          </a:solidFill>
                          <a:latin typeface="Arial"/>
                        </a:defRPr>
                      </a:pPr>
                      <a:r>
                        <a:t>100.0%</a:t>
                      </a:r>
                    </a:p>
                  </a:txBody>
                  <a:tcPr>
                    <a:solidFill>
                      <a:srgbClr val="FFFFFF"/>
                    </a:solidFill>
                  </a:tcPr>
                </a:tc>
                <a:tc>
                  <a:txBody>
                    <a:bodyPr/>
                    <a:lstStyle/>
                    <a:p>
                      <a:pPr algn="ctr">
                        <a:defRPr sz="950">
                          <a:solidFill>
                            <a:srgbClr val="172B45"/>
                          </a:solidFill>
                          <a:latin typeface="Arial"/>
                        </a:defRPr>
                      </a:pPr>
                      <a:r>
                        <a:t>0.00%</a:t>
                      </a:r>
                    </a:p>
                  </a:txBody>
                  <a:tcPr>
                    <a:solidFill>
                      <a:srgbClr val="FFFFFF"/>
                    </a:solidFill>
                  </a:tcPr>
                </a:tc>
                <a:tc>
                  <a:txBody>
                    <a:bodyPr/>
                    <a:lstStyle/>
                    <a:p>
                      <a:pPr algn="ctr">
                        <a:defRPr sz="950">
                          <a:solidFill>
                            <a:srgbClr val="172B45"/>
                          </a:solidFill>
                          <a:latin typeface="Arial"/>
                        </a:defRPr>
                      </a:pPr>
                      <a:r>
                        <a:t>0.5000</a:t>
                      </a:r>
                    </a:p>
                  </a:txBody>
                  <a:tcPr>
                    <a:solidFill>
                      <a:srgbClr val="FFFFFF"/>
                    </a:solidFill>
                  </a:tcPr>
                </a:tc>
                <a:tc>
                  <a:txBody>
                    <a:bodyPr/>
                    <a:lstStyle/>
                    <a:p>
                      <a:pPr algn="ctr">
                        <a:defRPr sz="950">
                          <a:solidFill>
                            <a:srgbClr val="172B45"/>
                          </a:solidFill>
                          <a:latin typeface="Arial"/>
                        </a:defRPr>
                      </a:pPr>
                      <a:r>
                        <a:t>50.00%</a:t>
                      </a:r>
                    </a:p>
                  </a:txBody>
                  <a:tcPr>
                    <a:solidFill>
                      <a:srgbClr val="FFFFFF"/>
                    </a:solidFill>
                  </a:tcPr>
                </a:tc>
              </a:tr>
              <a:tr h="444137">
                <a:tc>
                  <a:txBody>
                    <a:bodyPr/>
                    <a:lstStyle/>
                    <a:p>
                      <a:pPr algn="l">
                        <a:defRPr sz="950">
                          <a:solidFill>
                            <a:srgbClr val="172B45"/>
                          </a:solidFill>
                          <a:latin typeface="Arial"/>
                        </a:defRPr>
                      </a:pPr>
                      <a:r>
                        <a:t>Logistic Regression</a:t>
                      </a:r>
                    </a:p>
                  </a:txBody>
                  <a:tcPr>
                    <a:solidFill>
                      <a:srgbClr val="F6F8FA"/>
                    </a:solidFill>
                  </a:tcPr>
                </a:tc>
                <a:tc>
                  <a:txBody>
                    <a:bodyPr/>
                    <a:lstStyle/>
                    <a:p>
                      <a:pPr algn="ctr">
                        <a:defRPr sz="950">
                          <a:solidFill>
                            <a:srgbClr val="172B45"/>
                          </a:solidFill>
                          <a:latin typeface="Arial"/>
                        </a:defRPr>
                      </a:pPr>
                      <a:r>
                        <a:t>78.72%</a:t>
                      </a:r>
                    </a:p>
                  </a:txBody>
                  <a:tcPr>
                    <a:solidFill>
                      <a:srgbClr val="F6F8FA"/>
                    </a:solidFill>
                  </a:tcPr>
                </a:tc>
                <a:tc>
                  <a:txBody>
                    <a:bodyPr/>
                    <a:lstStyle/>
                    <a:p>
                      <a:pPr algn="ctr">
                        <a:defRPr sz="950">
                          <a:solidFill>
                            <a:srgbClr val="172B45"/>
                          </a:solidFill>
                          <a:latin typeface="Arial"/>
                        </a:defRPr>
                      </a:pPr>
                      <a:r>
                        <a:t>77.78%</a:t>
                      </a:r>
                    </a:p>
                  </a:txBody>
                  <a:tcPr>
                    <a:solidFill>
                      <a:srgbClr val="F6F8FA"/>
                    </a:solidFill>
                  </a:tcPr>
                </a:tc>
                <a:tc>
                  <a:txBody>
                    <a:bodyPr/>
                    <a:lstStyle/>
                    <a:p>
                      <a:pPr algn="ctr">
                        <a:defRPr sz="950">
                          <a:solidFill>
                            <a:srgbClr val="172B45"/>
                          </a:solidFill>
                          <a:latin typeface="Arial"/>
                        </a:defRPr>
                      </a:pPr>
                      <a:r>
                        <a:t>70.00%</a:t>
                      </a:r>
                    </a:p>
                  </a:txBody>
                  <a:tcPr>
                    <a:solidFill>
                      <a:srgbClr val="F6F8FA"/>
                    </a:solidFill>
                  </a:tcPr>
                </a:tc>
                <a:tc>
                  <a:txBody>
                    <a:bodyPr/>
                    <a:lstStyle/>
                    <a:p>
                      <a:pPr algn="ctr">
                        <a:defRPr sz="950">
                          <a:solidFill>
                            <a:srgbClr val="172B45"/>
                          </a:solidFill>
                          <a:latin typeface="Arial"/>
                        </a:defRPr>
                      </a:pPr>
                      <a:r>
                        <a:t>85.19%</a:t>
                      </a:r>
                    </a:p>
                  </a:txBody>
                  <a:tcPr>
                    <a:solidFill>
                      <a:srgbClr val="F6F8FA"/>
                    </a:solidFill>
                  </a:tcPr>
                </a:tc>
                <a:tc>
                  <a:txBody>
                    <a:bodyPr/>
                    <a:lstStyle/>
                    <a:p>
                      <a:pPr algn="ctr">
                        <a:defRPr sz="950">
                          <a:solidFill>
                            <a:srgbClr val="172B45"/>
                          </a:solidFill>
                          <a:latin typeface="Arial"/>
                        </a:defRPr>
                      </a:pPr>
                      <a:r>
                        <a:t>73.68%</a:t>
                      </a:r>
                    </a:p>
                  </a:txBody>
                  <a:tcPr>
                    <a:solidFill>
                      <a:srgbClr val="F6F8FA"/>
                    </a:solidFill>
                  </a:tcPr>
                </a:tc>
                <a:tc>
                  <a:txBody>
                    <a:bodyPr/>
                    <a:lstStyle/>
                    <a:p>
                      <a:pPr algn="ctr">
                        <a:defRPr sz="950">
                          <a:solidFill>
                            <a:srgbClr val="172B45"/>
                          </a:solidFill>
                          <a:latin typeface="Arial"/>
                        </a:defRPr>
                      </a:pPr>
                      <a:r>
                        <a:t>0.9056</a:t>
                      </a:r>
                    </a:p>
                  </a:txBody>
                  <a:tcPr>
                    <a:solidFill>
                      <a:srgbClr val="F6F8FA"/>
                    </a:solidFill>
                  </a:tcPr>
                </a:tc>
                <a:tc>
                  <a:txBody>
                    <a:bodyPr/>
                    <a:lstStyle/>
                    <a:p>
                      <a:pPr algn="ctr">
                        <a:defRPr sz="950">
                          <a:solidFill>
                            <a:srgbClr val="172B45"/>
                          </a:solidFill>
                          <a:latin typeface="Arial"/>
                        </a:defRPr>
                      </a:pPr>
                      <a:r>
                        <a:t>77.59%</a:t>
                      </a:r>
                    </a:p>
                  </a:txBody>
                  <a:tcPr>
                    <a:solidFill>
                      <a:srgbClr val="F6F8FA"/>
                    </a:solidFill>
                  </a:tcPr>
                </a:tc>
              </a:tr>
              <a:tr h="444137">
                <a:tc>
                  <a:txBody>
                    <a:bodyPr/>
                    <a:lstStyle/>
                    <a:p>
                      <a:pPr algn="l">
                        <a:defRPr sz="950">
                          <a:solidFill>
                            <a:srgbClr val="172B45"/>
                          </a:solidFill>
                          <a:latin typeface="Arial"/>
                        </a:defRPr>
                      </a:pPr>
                      <a:r>
                        <a:t>Random Forest</a:t>
                      </a:r>
                    </a:p>
                  </a:txBody>
                  <a:tcPr>
                    <a:solidFill>
                      <a:srgbClr val="FFFFFF"/>
                    </a:solidFill>
                  </a:tcPr>
                </a:tc>
                <a:tc>
                  <a:txBody>
                    <a:bodyPr/>
                    <a:lstStyle/>
                    <a:p>
                      <a:pPr algn="ctr">
                        <a:defRPr sz="950">
                          <a:solidFill>
                            <a:srgbClr val="172B45"/>
                          </a:solidFill>
                          <a:latin typeface="Arial"/>
                        </a:defRPr>
                      </a:pPr>
                      <a:r>
                        <a:t>82.98%</a:t>
                      </a:r>
                    </a:p>
                  </a:txBody>
                  <a:tcPr>
                    <a:solidFill>
                      <a:srgbClr val="FFFFFF"/>
                    </a:solidFill>
                  </a:tcPr>
                </a:tc>
                <a:tc>
                  <a:txBody>
                    <a:bodyPr/>
                    <a:lstStyle/>
                    <a:p>
                      <a:pPr algn="ctr">
                        <a:defRPr sz="950">
                          <a:solidFill>
                            <a:srgbClr val="172B45"/>
                          </a:solidFill>
                          <a:latin typeface="Arial"/>
                        </a:defRPr>
                      </a:pPr>
                      <a:r>
                        <a:t>83.33%</a:t>
                      </a:r>
                    </a:p>
                  </a:txBody>
                  <a:tcPr>
                    <a:solidFill>
                      <a:srgbClr val="FFFFFF"/>
                    </a:solidFill>
                  </a:tcPr>
                </a:tc>
                <a:tc>
                  <a:txBody>
                    <a:bodyPr/>
                    <a:lstStyle/>
                    <a:p>
                      <a:pPr algn="ctr">
                        <a:defRPr sz="950">
                          <a:solidFill>
                            <a:srgbClr val="172B45"/>
                          </a:solidFill>
                          <a:latin typeface="Arial"/>
                        </a:defRPr>
                      </a:pPr>
                      <a:r>
                        <a:t>75.00%</a:t>
                      </a:r>
                    </a:p>
                  </a:txBody>
                  <a:tcPr>
                    <a:solidFill>
                      <a:srgbClr val="FFFFFF"/>
                    </a:solidFill>
                  </a:tcPr>
                </a:tc>
                <a:tc>
                  <a:txBody>
                    <a:bodyPr/>
                    <a:lstStyle/>
                    <a:p>
                      <a:pPr algn="ctr">
                        <a:defRPr sz="950">
                          <a:solidFill>
                            <a:srgbClr val="172B45"/>
                          </a:solidFill>
                          <a:latin typeface="Arial"/>
                        </a:defRPr>
                      </a:pPr>
                      <a:r>
                        <a:t>88.89%</a:t>
                      </a:r>
                    </a:p>
                  </a:txBody>
                  <a:tcPr>
                    <a:solidFill>
                      <a:srgbClr val="FFFFFF"/>
                    </a:solidFill>
                  </a:tcPr>
                </a:tc>
                <a:tc>
                  <a:txBody>
                    <a:bodyPr/>
                    <a:lstStyle/>
                    <a:p>
                      <a:pPr algn="ctr">
                        <a:defRPr sz="950">
                          <a:solidFill>
                            <a:srgbClr val="172B45"/>
                          </a:solidFill>
                          <a:latin typeface="Arial"/>
                        </a:defRPr>
                      </a:pPr>
                      <a:r>
                        <a:t>78.95%</a:t>
                      </a:r>
                    </a:p>
                  </a:txBody>
                  <a:tcPr>
                    <a:solidFill>
                      <a:srgbClr val="FFFFFF"/>
                    </a:solidFill>
                  </a:tcPr>
                </a:tc>
                <a:tc>
                  <a:txBody>
                    <a:bodyPr/>
                    <a:lstStyle/>
                    <a:p>
                      <a:pPr algn="ctr">
                        <a:defRPr sz="950">
                          <a:solidFill>
                            <a:srgbClr val="172B45"/>
                          </a:solidFill>
                          <a:latin typeface="Arial"/>
                        </a:defRPr>
                      </a:pPr>
                      <a:r>
                        <a:t>0.9296</a:t>
                      </a:r>
                    </a:p>
                  </a:txBody>
                  <a:tcPr>
                    <a:solidFill>
                      <a:srgbClr val="FFFFFF"/>
                    </a:solidFill>
                  </a:tcPr>
                </a:tc>
                <a:tc>
                  <a:txBody>
                    <a:bodyPr/>
                    <a:lstStyle/>
                    <a:p>
                      <a:pPr algn="ctr">
                        <a:defRPr sz="950">
                          <a:solidFill>
                            <a:srgbClr val="172B45"/>
                          </a:solidFill>
                          <a:latin typeface="Arial"/>
                        </a:defRPr>
                      </a:pPr>
                      <a:r>
                        <a:t>81.94%</a:t>
                      </a:r>
                    </a:p>
                  </a:txBody>
                  <a:tcPr>
                    <a:solidFill>
                      <a:srgbClr val="FFFFFF"/>
                    </a:solidFill>
                  </a:tcPr>
                </a:tc>
              </a:tr>
              <a:tr h="444137">
                <a:tc>
                  <a:txBody>
                    <a:bodyPr/>
                    <a:lstStyle/>
                    <a:p>
                      <a:pPr algn="l">
                        <a:defRPr sz="950">
                          <a:solidFill>
                            <a:srgbClr val="172B45"/>
                          </a:solidFill>
                          <a:latin typeface="Arial"/>
                        </a:defRPr>
                      </a:pPr>
                      <a:r>
                        <a:t>Support Vector Machine</a:t>
                      </a:r>
                    </a:p>
                  </a:txBody>
                  <a:tcPr>
                    <a:solidFill>
                      <a:srgbClr val="F6F8FA"/>
                    </a:solidFill>
                  </a:tcPr>
                </a:tc>
                <a:tc>
                  <a:txBody>
                    <a:bodyPr/>
                    <a:lstStyle/>
                    <a:p>
                      <a:pPr algn="ctr">
                        <a:defRPr sz="950">
                          <a:solidFill>
                            <a:srgbClr val="172B45"/>
                          </a:solidFill>
                          <a:latin typeface="Arial"/>
                        </a:defRPr>
                      </a:pPr>
                      <a:r>
                        <a:t>80.85%</a:t>
                      </a:r>
                    </a:p>
                  </a:txBody>
                  <a:tcPr>
                    <a:solidFill>
                      <a:srgbClr val="F6F8FA"/>
                    </a:solidFill>
                  </a:tcPr>
                </a:tc>
                <a:tc>
                  <a:txBody>
                    <a:bodyPr/>
                    <a:lstStyle/>
                    <a:p>
                      <a:pPr algn="ctr">
                        <a:defRPr sz="950">
                          <a:solidFill>
                            <a:srgbClr val="172B45"/>
                          </a:solidFill>
                          <a:latin typeface="Arial"/>
                        </a:defRPr>
                      </a:pPr>
                      <a:r>
                        <a:t>78.95%</a:t>
                      </a:r>
                    </a:p>
                  </a:txBody>
                  <a:tcPr>
                    <a:solidFill>
                      <a:srgbClr val="F6F8FA"/>
                    </a:solidFill>
                  </a:tcPr>
                </a:tc>
                <a:tc>
                  <a:txBody>
                    <a:bodyPr/>
                    <a:lstStyle/>
                    <a:p>
                      <a:pPr algn="ctr">
                        <a:defRPr sz="950">
                          <a:solidFill>
                            <a:srgbClr val="172B45"/>
                          </a:solidFill>
                          <a:latin typeface="Arial"/>
                        </a:defRPr>
                      </a:pPr>
                      <a:r>
                        <a:t>75.00%</a:t>
                      </a:r>
                    </a:p>
                  </a:txBody>
                  <a:tcPr>
                    <a:solidFill>
                      <a:srgbClr val="F6F8FA"/>
                    </a:solidFill>
                  </a:tcPr>
                </a:tc>
                <a:tc>
                  <a:txBody>
                    <a:bodyPr/>
                    <a:lstStyle/>
                    <a:p>
                      <a:pPr algn="ctr">
                        <a:defRPr sz="950">
                          <a:solidFill>
                            <a:srgbClr val="172B45"/>
                          </a:solidFill>
                          <a:latin typeface="Arial"/>
                        </a:defRPr>
                      </a:pPr>
                      <a:r>
                        <a:t>85.19%</a:t>
                      </a:r>
                    </a:p>
                  </a:txBody>
                  <a:tcPr>
                    <a:solidFill>
                      <a:srgbClr val="F6F8FA"/>
                    </a:solidFill>
                  </a:tcPr>
                </a:tc>
                <a:tc>
                  <a:txBody>
                    <a:bodyPr/>
                    <a:lstStyle/>
                    <a:p>
                      <a:pPr algn="ctr">
                        <a:defRPr sz="950">
                          <a:solidFill>
                            <a:srgbClr val="172B45"/>
                          </a:solidFill>
                          <a:latin typeface="Arial"/>
                        </a:defRPr>
                      </a:pPr>
                      <a:r>
                        <a:t>76.92%</a:t>
                      </a:r>
                    </a:p>
                  </a:txBody>
                  <a:tcPr>
                    <a:solidFill>
                      <a:srgbClr val="F6F8FA"/>
                    </a:solidFill>
                  </a:tcPr>
                </a:tc>
                <a:tc>
                  <a:txBody>
                    <a:bodyPr/>
                    <a:lstStyle/>
                    <a:p>
                      <a:pPr algn="ctr">
                        <a:defRPr sz="950">
                          <a:solidFill>
                            <a:srgbClr val="172B45"/>
                          </a:solidFill>
                          <a:latin typeface="Arial"/>
                        </a:defRPr>
                      </a:pPr>
                      <a:r>
                        <a:t>0.9056</a:t>
                      </a:r>
                    </a:p>
                  </a:txBody>
                  <a:tcPr>
                    <a:solidFill>
                      <a:srgbClr val="F6F8FA"/>
                    </a:solidFill>
                  </a:tcPr>
                </a:tc>
                <a:tc>
                  <a:txBody>
                    <a:bodyPr/>
                    <a:lstStyle/>
                    <a:p>
                      <a:pPr algn="ctr">
                        <a:defRPr sz="950">
                          <a:solidFill>
                            <a:srgbClr val="172B45"/>
                          </a:solidFill>
                          <a:latin typeface="Arial"/>
                        </a:defRPr>
                      </a:pPr>
                      <a:r>
                        <a:t>80.09%</a:t>
                      </a:r>
                    </a:p>
                  </a:txBody>
                  <a:tcPr>
                    <a:solidFill>
                      <a:srgbClr val="F6F8FA"/>
                    </a:solidFill>
                  </a:tcPr>
                </a:tc>
              </a:tr>
              <a:tr h="444137">
                <a:tc>
                  <a:txBody>
                    <a:bodyPr/>
                    <a:lstStyle/>
                    <a:p>
                      <a:pPr algn="l">
                        <a:defRPr sz="950" b="1">
                          <a:solidFill>
                            <a:srgbClr val="172B45"/>
                          </a:solidFill>
                          <a:latin typeface="Arial"/>
                        </a:defRPr>
                      </a:pPr>
                      <a:r>
                        <a:t>Gradient Boosting</a:t>
                      </a:r>
                    </a:p>
                  </a:txBody>
                  <a:tcPr>
                    <a:solidFill>
                      <a:srgbClr val="F0F9F9"/>
                    </a:solidFill>
                  </a:tcPr>
                </a:tc>
                <a:tc>
                  <a:txBody>
                    <a:bodyPr/>
                    <a:lstStyle/>
                    <a:p>
                      <a:pPr algn="ctr">
                        <a:defRPr sz="950" b="1">
                          <a:solidFill>
                            <a:srgbClr val="168C8C"/>
                          </a:solidFill>
                          <a:latin typeface="Arial"/>
                        </a:defRPr>
                      </a:pPr>
                      <a:r>
                        <a:t>85.11%</a:t>
                      </a:r>
                    </a:p>
                  </a:txBody>
                  <a:tcPr>
                    <a:solidFill>
                      <a:srgbClr val="F0F9F9"/>
                    </a:solidFill>
                  </a:tcPr>
                </a:tc>
                <a:tc>
                  <a:txBody>
                    <a:bodyPr/>
                    <a:lstStyle/>
                    <a:p>
                      <a:pPr algn="ctr">
                        <a:defRPr sz="950" b="1">
                          <a:solidFill>
                            <a:srgbClr val="172B45"/>
                          </a:solidFill>
                          <a:latin typeface="Arial"/>
                        </a:defRPr>
                      </a:pPr>
                      <a:r>
                        <a:t>84.21%</a:t>
                      </a:r>
                    </a:p>
                  </a:txBody>
                  <a:tcPr>
                    <a:solidFill>
                      <a:srgbClr val="F0F9F9"/>
                    </a:solidFill>
                  </a:tcPr>
                </a:tc>
                <a:tc>
                  <a:txBody>
                    <a:bodyPr/>
                    <a:lstStyle/>
                    <a:p>
                      <a:pPr algn="ctr">
                        <a:defRPr sz="950" b="1">
                          <a:solidFill>
                            <a:srgbClr val="168C8C"/>
                          </a:solidFill>
                          <a:latin typeface="Arial"/>
                        </a:defRPr>
                      </a:pPr>
                      <a:r>
                        <a:t>80.00%</a:t>
                      </a:r>
                    </a:p>
                  </a:txBody>
                  <a:tcPr>
                    <a:solidFill>
                      <a:srgbClr val="F0F9F9"/>
                    </a:solidFill>
                  </a:tcPr>
                </a:tc>
                <a:tc>
                  <a:txBody>
                    <a:bodyPr/>
                    <a:lstStyle/>
                    <a:p>
                      <a:pPr algn="ctr">
                        <a:defRPr sz="950" b="1">
                          <a:solidFill>
                            <a:srgbClr val="172B45"/>
                          </a:solidFill>
                          <a:latin typeface="Arial"/>
                        </a:defRPr>
                      </a:pPr>
                      <a:r>
                        <a:t>88.89%</a:t>
                      </a:r>
                    </a:p>
                  </a:txBody>
                  <a:tcPr>
                    <a:solidFill>
                      <a:srgbClr val="F0F9F9"/>
                    </a:solidFill>
                  </a:tcPr>
                </a:tc>
                <a:tc>
                  <a:txBody>
                    <a:bodyPr/>
                    <a:lstStyle/>
                    <a:p>
                      <a:pPr algn="ctr">
                        <a:defRPr sz="950" b="1">
                          <a:solidFill>
                            <a:srgbClr val="172B45"/>
                          </a:solidFill>
                          <a:latin typeface="Arial"/>
                        </a:defRPr>
                      </a:pPr>
                      <a:r>
                        <a:t>82.05%</a:t>
                      </a:r>
                    </a:p>
                  </a:txBody>
                  <a:tcPr>
                    <a:solidFill>
                      <a:srgbClr val="F0F9F9"/>
                    </a:solidFill>
                  </a:tcPr>
                </a:tc>
                <a:tc>
                  <a:txBody>
                    <a:bodyPr/>
                    <a:lstStyle/>
                    <a:p>
                      <a:pPr algn="ctr">
                        <a:defRPr sz="950" b="1">
                          <a:solidFill>
                            <a:srgbClr val="168C8C"/>
                          </a:solidFill>
                          <a:latin typeface="Arial"/>
                        </a:defRPr>
                      </a:pPr>
                      <a:r>
                        <a:t>0.9426</a:t>
                      </a:r>
                    </a:p>
                  </a:txBody>
                  <a:tcPr>
                    <a:solidFill>
                      <a:srgbClr val="F0F9F9"/>
                    </a:solidFill>
                  </a:tcPr>
                </a:tc>
                <a:tc>
                  <a:txBody>
                    <a:bodyPr/>
                    <a:lstStyle/>
                    <a:p>
                      <a:pPr algn="ctr">
                        <a:defRPr sz="950" b="1">
                          <a:solidFill>
                            <a:srgbClr val="172B45"/>
                          </a:solidFill>
                          <a:latin typeface="Arial"/>
                        </a:defRPr>
                      </a:pPr>
                      <a:r>
                        <a:t>84.44%</a:t>
                      </a:r>
                    </a:p>
                  </a:txBody>
                  <a:tcPr>
                    <a:solidFill>
                      <a:srgbClr val="F0F9F9"/>
                    </a:solidFill>
                  </a:tcPr>
                </a:tc>
              </a:tr>
              <a:tr h="444138">
                <a:tc>
                  <a:txBody>
                    <a:bodyPr/>
                    <a:lstStyle/>
                    <a:p>
                      <a:pPr algn="l">
                        <a:defRPr sz="950" b="1">
                          <a:solidFill>
                            <a:srgbClr val="172B45"/>
                          </a:solidFill>
                          <a:latin typeface="Arial"/>
                        </a:defRPr>
                      </a:pPr>
                      <a:r>
                        <a:t>Soft Voting Ensemble</a:t>
                      </a:r>
                    </a:p>
                  </a:txBody>
                  <a:tcPr>
                    <a:solidFill>
                      <a:srgbClr val="F1F6FD"/>
                    </a:solidFill>
                  </a:tcPr>
                </a:tc>
                <a:tc>
                  <a:txBody>
                    <a:bodyPr/>
                    <a:lstStyle/>
                    <a:p>
                      <a:pPr algn="ctr">
                        <a:defRPr sz="950" b="1">
                          <a:solidFill>
                            <a:srgbClr val="5685C4"/>
                          </a:solidFill>
                          <a:latin typeface="Arial"/>
                        </a:defRPr>
                      </a:pPr>
                      <a:r>
                        <a:t>82.98%</a:t>
                      </a:r>
                    </a:p>
                  </a:txBody>
                  <a:tcPr>
                    <a:solidFill>
                      <a:srgbClr val="F1F6FD"/>
                    </a:solidFill>
                  </a:tcPr>
                </a:tc>
                <a:tc>
                  <a:txBody>
                    <a:bodyPr/>
                    <a:lstStyle/>
                    <a:p>
                      <a:pPr algn="ctr">
                        <a:defRPr sz="950" b="1">
                          <a:solidFill>
                            <a:srgbClr val="172B45"/>
                          </a:solidFill>
                          <a:latin typeface="Arial"/>
                        </a:defRPr>
                      </a:pPr>
                      <a:r>
                        <a:t>83.33%</a:t>
                      </a:r>
                    </a:p>
                  </a:txBody>
                  <a:tcPr>
                    <a:solidFill>
                      <a:srgbClr val="F1F6FD"/>
                    </a:solidFill>
                  </a:tcPr>
                </a:tc>
                <a:tc>
                  <a:txBody>
                    <a:bodyPr/>
                    <a:lstStyle/>
                    <a:p>
                      <a:pPr algn="ctr">
                        <a:defRPr sz="950" b="1">
                          <a:solidFill>
                            <a:srgbClr val="5685C4"/>
                          </a:solidFill>
                          <a:latin typeface="Arial"/>
                        </a:defRPr>
                      </a:pPr>
                      <a:r>
                        <a:t>75.00%</a:t>
                      </a:r>
                    </a:p>
                  </a:txBody>
                  <a:tcPr>
                    <a:solidFill>
                      <a:srgbClr val="F1F6FD"/>
                    </a:solidFill>
                  </a:tcPr>
                </a:tc>
                <a:tc>
                  <a:txBody>
                    <a:bodyPr/>
                    <a:lstStyle/>
                    <a:p>
                      <a:pPr algn="ctr">
                        <a:defRPr sz="950" b="1">
                          <a:solidFill>
                            <a:srgbClr val="172B45"/>
                          </a:solidFill>
                          <a:latin typeface="Arial"/>
                        </a:defRPr>
                      </a:pPr>
                      <a:r>
                        <a:t>88.89%</a:t>
                      </a:r>
                    </a:p>
                  </a:txBody>
                  <a:tcPr>
                    <a:solidFill>
                      <a:srgbClr val="F1F6FD"/>
                    </a:solidFill>
                  </a:tcPr>
                </a:tc>
                <a:tc>
                  <a:txBody>
                    <a:bodyPr/>
                    <a:lstStyle/>
                    <a:p>
                      <a:pPr algn="ctr">
                        <a:defRPr sz="950" b="1">
                          <a:solidFill>
                            <a:srgbClr val="172B45"/>
                          </a:solidFill>
                          <a:latin typeface="Arial"/>
                        </a:defRPr>
                      </a:pPr>
                      <a:r>
                        <a:t>78.95%</a:t>
                      </a:r>
                    </a:p>
                  </a:txBody>
                  <a:tcPr>
                    <a:solidFill>
                      <a:srgbClr val="F1F6FD"/>
                    </a:solidFill>
                  </a:tcPr>
                </a:tc>
                <a:tc>
                  <a:txBody>
                    <a:bodyPr/>
                    <a:lstStyle/>
                    <a:p>
                      <a:pPr algn="ctr">
                        <a:defRPr sz="950" b="1">
                          <a:solidFill>
                            <a:srgbClr val="5685C4"/>
                          </a:solidFill>
                          <a:latin typeface="Arial"/>
                        </a:defRPr>
                      </a:pPr>
                      <a:r>
                        <a:t>0.9426</a:t>
                      </a:r>
                    </a:p>
                  </a:txBody>
                  <a:tcPr>
                    <a:solidFill>
                      <a:srgbClr val="F1F6FD"/>
                    </a:solidFill>
                  </a:tcPr>
                </a:tc>
                <a:tc>
                  <a:txBody>
                    <a:bodyPr/>
                    <a:lstStyle/>
                    <a:p>
                      <a:pPr algn="ctr">
                        <a:defRPr sz="950" b="1">
                          <a:solidFill>
                            <a:srgbClr val="172B45"/>
                          </a:solidFill>
                          <a:latin typeface="Arial"/>
                        </a:defRPr>
                      </a:pPr>
                      <a:r>
                        <a:t>81.94%</a:t>
                      </a:r>
                    </a:p>
                  </a:txBody>
                  <a:tcPr>
                    <a:solidFill>
                      <a:srgbClr val="F1F6FD"/>
                    </a:solidFill>
                  </a:tcPr>
                </a:tc>
              </a:tr>
            </a:tbl>
          </a:graphicData>
        </a:graphic>
      </p:graphicFrame>
      <p:sp>
        <p:nvSpPr>
          <p:cNvPr id="9" name="Rounded Rectangle 8"/>
          <p:cNvSpPr/>
          <p:nvPr/>
        </p:nvSpPr>
        <p:spPr>
          <a:xfrm>
            <a:off x="731520" y="4709160"/>
            <a:ext cx="10728655" cy="1463040"/>
          </a:xfrm>
          <a:prstGeom prst="roundRect">
            <a:avLst/>
          </a:prstGeom>
          <a:solidFill>
            <a:srgbClr val="FFFFFF"/>
          </a:solidFill>
          <a:ln w="9525">
            <a:solidFill>
              <a:srgbClr val="168C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4709160"/>
            <a:ext cx="10728655"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800600"/>
            <a:ext cx="10241280" cy="1280160"/>
          </a:xfrm>
          <a:prstGeom prst="rect">
            <a:avLst/>
          </a:prstGeom>
          <a:noFill/>
        </p:spPr>
        <p:txBody>
          <a:bodyPr wrap="square">
            <a:spAutoFit/>
          </a:bodyPr>
          <a:lstStyle/>
          <a:p>
            <a:pPr>
              <a:defRPr sz="1050" b="1">
                <a:solidFill>
                  <a:srgbClr val="168C8C"/>
                </a:solidFill>
                <a:latin typeface="Arial"/>
              </a:defRPr>
            </a:pPr>
            <a:r>
              <a:t>KEY EMPIRICAL FINDINGS &amp; CLINICAL SIGNIFICANCE:</a:t>
            </a:r>
          </a:p>
          <a:p>
            <a:pPr>
              <a:spcBef>
                <a:spcPts val="300"/>
              </a:spcBef>
              <a:defRPr sz="950">
                <a:solidFill>
                  <a:srgbClr val="172B45"/>
                </a:solidFill>
                <a:latin typeface="Arial"/>
              </a:defRPr>
            </a:pPr>
            <a:r>
              <a:t>1. Gradient Boosting Achieved Peak Diagnostic Performance: Attained top overall Accuracy (85.11%), Recall/Sensitivity (80.00%, correctly detecting 16 of 20 dementia cases), F1-Score (82.05%), and tied for top ROC-AUC (0.9426).</a:t>
            </a:r>
            <a:br/>
            <a:r>
              <a:t>2. Soft-Voting Ensemble Tied Top Discriminative Power: Tied Gradient Boosting for highest ROC-AUC (0.9426) with robust 88.89% Specificity (24 of 27 healthy controls correctly identified), offering balanced conservative screening.</a:t>
            </a:r>
            <a:br/>
            <a:r>
              <a:t>3. Decisive Separation Above Chance: All evaluated ML models surpassed 0.90 ROC-AUC under strict zero-leakage conditions, substantially outperforming the 50.00% balanced accuracy floor of the dummy baseline.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11 | DETAILED METRICS</a:t>
            </a:r>
          </a:p>
          <a:p>
            <a:pPr>
              <a:defRPr sz="2100" b="1">
                <a:solidFill>
                  <a:srgbClr val="172B45"/>
                </a:solidFill>
                <a:latin typeface="Arial"/>
              </a:defRPr>
            </a:pPr>
            <a:r>
              <a:t>ROC Curves &amp; Feature Modality Ablation</a:t>
            </a:r>
          </a:p>
          <a:p>
            <a:pPr>
              <a:spcBef>
                <a:spcPts val="200"/>
              </a:spcBef>
              <a:defRPr sz="1050">
                <a:solidFill>
                  <a:srgbClr val="66758A"/>
                </a:solidFill>
                <a:latin typeface="Arial"/>
              </a:defRPr>
            </a:pPr>
            <a:r>
              <a:t>Discriminative separation curves and proof of multimodal superiority over unimodal baselines.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12 / 16</a:t>
            </a:r>
          </a:p>
        </p:txBody>
      </p:sp>
      <p:pic>
        <p:nvPicPr>
          <p:cNvPr id="8" name="Picture 7" descr="roc_curves.png"/>
          <p:cNvPicPr>
            <a:picLocks noChangeAspect="1"/>
          </p:cNvPicPr>
          <p:nvPr/>
        </p:nvPicPr>
        <p:blipFill>
          <a:blip r:embed="rId2"/>
          <a:stretch>
            <a:fillRect/>
          </a:stretch>
        </p:blipFill>
        <p:spPr>
          <a:xfrm>
            <a:off x="731520" y="1417320"/>
            <a:ext cx="5120640" cy="4148367"/>
          </a:xfrm>
          <a:prstGeom prst="rect">
            <a:avLst/>
          </a:prstGeom>
        </p:spPr>
      </p:pic>
      <p:pic>
        <p:nvPicPr>
          <p:cNvPr id="9" name="Picture 8" descr="modality_comparison_bar.png"/>
          <p:cNvPicPr>
            <a:picLocks noChangeAspect="1"/>
          </p:cNvPicPr>
          <p:nvPr/>
        </p:nvPicPr>
        <p:blipFill>
          <a:blip r:embed="rId3"/>
          <a:stretch>
            <a:fillRect/>
          </a:stretch>
        </p:blipFill>
        <p:spPr>
          <a:xfrm>
            <a:off x="6217920" y="1417320"/>
            <a:ext cx="5242255" cy="1991244"/>
          </a:xfrm>
          <a:prstGeom prst="rect">
            <a:avLst/>
          </a:prstGeom>
        </p:spPr>
      </p:pic>
      <p:sp>
        <p:nvSpPr>
          <p:cNvPr id="10" name="Rounded Rectangle 9"/>
          <p:cNvSpPr/>
          <p:nvPr/>
        </p:nvSpPr>
        <p:spPr>
          <a:xfrm>
            <a:off x="731520" y="5257800"/>
            <a:ext cx="10728655" cy="868680"/>
          </a:xfrm>
          <a:prstGeom prst="roundRect">
            <a:avLst/>
          </a:prstGeom>
          <a:solidFill>
            <a:srgbClr val="F0F9F9"/>
          </a:solidFill>
          <a:ln w="9525">
            <a:solidFill>
              <a:srgbClr val="168C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321808"/>
            <a:ext cx="10332720" cy="731520"/>
          </a:xfrm>
          <a:prstGeom prst="rect">
            <a:avLst/>
          </a:prstGeom>
          <a:noFill/>
        </p:spPr>
        <p:txBody>
          <a:bodyPr wrap="square">
            <a:spAutoFit/>
          </a:bodyPr>
          <a:lstStyle/>
          <a:p>
            <a:pPr>
              <a:defRPr sz="950" b="1">
                <a:solidFill>
                  <a:srgbClr val="168C8C"/>
                </a:solidFill>
                <a:latin typeface="Arial"/>
              </a:defRPr>
            </a:pPr>
            <a:r>
              <a:t>VERIFIED MODALITY ABLATION FINDINGS (HELD-OUT TEST SET):</a:t>
            </a:r>
          </a:p>
          <a:p>
            <a:pPr>
              <a:spcBef>
                <a:spcPts val="200"/>
              </a:spcBef>
              <a:defRPr sz="900">
                <a:solidFill>
                  <a:srgbClr val="172B45"/>
                </a:solidFill>
                <a:latin typeface="Arial"/>
              </a:defRPr>
            </a:pPr>
            <a:r>
              <a:t>• Multimodal Random Forest (82.98% Acc, 0.9296 AUC) outperforms Structural MRI Only (70.21% Acc, 0.7759 AUC) by +12.77% Acc and +0.1537 ROC-AUC.</a:t>
            </a:r>
            <a:br/>
            <a:r>
              <a:t>• Multimodal fusion surpasses Clinical Only (80.85% Acc, 0.9037 AUC) by +2.13% Acc and +0.0259 ROC-AUC, demonstrating decisive cross-modal synergy.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12 | CLINICAL EXPLAINABILITY</a:t>
            </a:r>
          </a:p>
          <a:p>
            <a:pPr>
              <a:defRPr sz="2100" b="1">
                <a:solidFill>
                  <a:srgbClr val="172B45"/>
                </a:solidFill>
                <a:latin typeface="Arial"/>
              </a:defRPr>
            </a:pPr>
            <a:r>
              <a:t>SHAP Explainability &amp; Patient Decision Support</a:t>
            </a:r>
          </a:p>
          <a:p>
            <a:pPr>
              <a:spcBef>
                <a:spcPts val="200"/>
              </a:spcBef>
              <a:defRPr sz="1050">
                <a:solidFill>
                  <a:srgbClr val="66758A"/>
                </a:solidFill>
                <a:latin typeface="Arial"/>
              </a:defRPr>
            </a:pPr>
            <a:r>
              <a:t>Global biomarker importance rankings and patient-level waterfall attribution for transparent diagnosis.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13 / 16</a:t>
            </a:r>
          </a:p>
        </p:txBody>
      </p:sp>
      <p:pic>
        <p:nvPicPr>
          <p:cNvPr id="8" name="Picture 7" descr="shap_summary_beeswarm.png"/>
          <p:cNvPicPr>
            <a:picLocks noChangeAspect="1"/>
          </p:cNvPicPr>
          <p:nvPr/>
        </p:nvPicPr>
        <p:blipFill>
          <a:blip r:embed="rId2"/>
          <a:stretch>
            <a:fillRect/>
          </a:stretch>
        </p:blipFill>
        <p:spPr>
          <a:xfrm>
            <a:off x="731520" y="1417320"/>
            <a:ext cx="5394960" cy="2985182"/>
          </a:xfrm>
          <a:prstGeom prst="rect">
            <a:avLst/>
          </a:prstGeom>
        </p:spPr>
      </p:pic>
      <p:pic>
        <p:nvPicPr>
          <p:cNvPr id="9" name="Picture 8" descr="shap_waterfall_demented.png"/>
          <p:cNvPicPr>
            <a:picLocks noChangeAspect="1"/>
          </p:cNvPicPr>
          <p:nvPr/>
        </p:nvPicPr>
        <p:blipFill>
          <a:blip r:embed="rId3"/>
          <a:stretch>
            <a:fillRect/>
          </a:stretch>
        </p:blipFill>
        <p:spPr>
          <a:xfrm>
            <a:off x="6400800" y="1417320"/>
            <a:ext cx="5059375" cy="3129510"/>
          </a:xfrm>
          <a:prstGeom prst="rect">
            <a:avLst/>
          </a:prstGeom>
        </p:spPr>
      </p:pic>
      <p:sp>
        <p:nvSpPr>
          <p:cNvPr id="10" name="Rounded Rectangle 9"/>
          <p:cNvSpPr/>
          <p:nvPr/>
        </p:nvSpPr>
        <p:spPr>
          <a:xfrm>
            <a:off x="731520" y="5257800"/>
            <a:ext cx="10728655" cy="868680"/>
          </a:xfrm>
          <a:prstGeom prst="roundRect">
            <a:avLst/>
          </a:prstGeom>
          <a:solidFill>
            <a:srgbClr val="FFFFFF"/>
          </a:solidFill>
          <a:ln w="9525">
            <a:solidFill>
              <a:srgbClr val="168C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5257800"/>
            <a:ext cx="10728655"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321808"/>
            <a:ext cx="10332720" cy="731520"/>
          </a:xfrm>
          <a:prstGeom prst="rect">
            <a:avLst/>
          </a:prstGeom>
          <a:noFill/>
        </p:spPr>
        <p:txBody>
          <a:bodyPr wrap="square">
            <a:spAutoFit/>
          </a:bodyPr>
          <a:lstStyle/>
          <a:p>
            <a:pPr>
              <a:defRPr sz="950" b="1">
                <a:solidFill>
                  <a:srgbClr val="168C8C"/>
                </a:solidFill>
                <a:latin typeface="Arial"/>
              </a:defRPr>
            </a:pPr>
            <a:r>
              <a:t>BIOMARKER RANKINGS &amp; PATIENT CASE STUDY (CLINICAL AUDITING):</a:t>
            </a:r>
          </a:p>
          <a:p>
            <a:pPr>
              <a:spcBef>
                <a:spcPts val="200"/>
              </a:spcBef>
              <a:defRPr sz="850">
                <a:solidFill>
                  <a:srgbClr val="172B45"/>
                </a:solidFill>
                <a:latin typeface="Arial"/>
              </a:defRPr>
            </a:pPr>
            <a:r>
              <a:t>• Global Drivers: MMSE (mean |SHAP|=0.1701) and normalized Whole Brain Volume nWBV (mean |SHAP|=0.0884) decisively lead model attribution.</a:t>
            </a:r>
            <a:br/>
            <a:r>
              <a:t>• Patient #33 Case: Base log-odds shifted from -0.32 to +3.21 (model confidence 96.1%), driven by low MMSE (=20) and parenchymal atrophy (nWBV=0.69). Note: SHAP represents algorithmic attribution for decision support, not causal biological proof.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13 | SUMMARY &amp; CONCLUSION</a:t>
            </a:r>
          </a:p>
          <a:p>
            <a:pPr>
              <a:defRPr sz="2100" b="1">
                <a:solidFill>
                  <a:srgbClr val="172B45"/>
                </a:solidFill>
                <a:latin typeface="Arial"/>
              </a:defRPr>
            </a:pPr>
            <a:r>
              <a:t>Conclusion, Future Directions &amp; Viva Q&amp;A</a:t>
            </a:r>
          </a:p>
          <a:p>
            <a:pPr>
              <a:spcBef>
                <a:spcPts val="200"/>
              </a:spcBef>
              <a:defRPr sz="1050">
                <a:solidFill>
                  <a:srgbClr val="66758A"/>
                </a:solidFill>
                <a:latin typeface="Arial"/>
              </a:defRPr>
            </a:pPr>
            <a:r>
              <a:t>Summary of scientific contributions, future translational roadmap, and concluding remarks.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14 / 16</a:t>
            </a:r>
          </a:p>
        </p:txBody>
      </p:sp>
      <p:sp>
        <p:nvSpPr>
          <p:cNvPr id="8" name="Rounded Rectangle 7"/>
          <p:cNvSpPr/>
          <p:nvPr/>
        </p:nvSpPr>
        <p:spPr>
          <a:xfrm>
            <a:off x="7315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338328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2944368" cy="502920"/>
          </a:xfrm>
          <a:prstGeom prst="rect">
            <a:avLst/>
          </a:prstGeom>
          <a:noFill/>
        </p:spPr>
        <p:txBody>
          <a:bodyPr wrap="square" tIns="0" bIns="0" lIns="0" rIns="0">
            <a:spAutoFit/>
          </a:bodyPr>
          <a:lstStyle/>
          <a:p>
            <a:pPr>
              <a:defRPr sz="850" b="1">
                <a:solidFill>
                  <a:srgbClr val="168C8C"/>
                </a:solidFill>
                <a:latin typeface="Arial"/>
              </a:defRPr>
            </a:pPr>
            <a:r>
              <a:t>DELIVERABLES</a:t>
            </a:r>
          </a:p>
          <a:p>
            <a:pPr>
              <a:defRPr sz="1250" b="1">
                <a:solidFill>
                  <a:srgbClr val="172B45"/>
                </a:solidFill>
                <a:latin typeface="Arial"/>
              </a:defRPr>
            </a:pPr>
            <a:r>
              <a:t>Scientific Contributions</a:t>
            </a:r>
          </a:p>
        </p:txBody>
      </p:sp>
      <p:sp>
        <p:nvSpPr>
          <p:cNvPr id="11" name="TextBox 10"/>
          <p:cNvSpPr txBox="1"/>
          <p:nvPr/>
        </p:nvSpPr>
        <p:spPr>
          <a:xfrm>
            <a:off x="950976" y="2148840"/>
            <a:ext cx="2944368" cy="3749039"/>
          </a:xfrm>
          <a:prstGeom prst="rect">
            <a:avLst/>
          </a:prstGeom>
          <a:noFill/>
        </p:spPr>
        <p:txBody>
          <a:bodyPr wrap="square">
            <a:spAutoFit/>
          </a:bodyPr>
          <a:lstStyle/>
          <a:p>
            <a:pPr>
              <a:defRPr sz="1000">
                <a:solidFill>
                  <a:srgbClr val="172B45"/>
                </a:solidFill>
                <a:latin typeface="Arial"/>
              </a:defRPr>
            </a:pPr>
            <a:r>
              <a:t>• Lightweight Multimodal System:</a:t>
            </a:r>
          </a:p>
          <a:p>
            <a:pPr>
              <a:defRPr sz="1000">
                <a:solidFill>
                  <a:srgbClr val="172B45"/>
                </a:solidFill>
                <a:latin typeface="Arial"/>
              </a:defRPr>
            </a:pPr>
            <a:r>
              <a:t>  Engineered an end-to-end ML pipeline executing in seconds on commodity CPUs without GPU dependencies.</a:t>
            </a:r>
          </a:p>
          <a:p>
            <a:pPr>
              <a:defRPr sz="1000">
                <a:solidFill>
                  <a:srgbClr val="172B45"/>
                </a:solidFill>
                <a:latin typeface="Arial"/>
              </a:defRPr>
            </a:pPr>
          </a:p>
          <a:p>
            <a:pPr>
              <a:defRPr sz="1000">
                <a:solidFill>
                  <a:srgbClr val="172B45"/>
                </a:solidFill>
                <a:latin typeface="Arial"/>
              </a:defRPr>
            </a:pPr>
            <a:r>
              <a:t>• Scientifically Honest Validation:</a:t>
            </a:r>
          </a:p>
          <a:p>
            <a:pPr>
              <a:defRPr sz="1000">
                <a:solidFill>
                  <a:srgbClr val="172B45"/>
                </a:solidFill>
                <a:latin typeface="Arial"/>
              </a:defRPr>
            </a:pPr>
            <a:r>
              <a:t>  Enforced strict participant-level 80/20 holdout partitioning, establishing an un-inflated, leakage-free benchmark.</a:t>
            </a:r>
          </a:p>
          <a:p>
            <a:pPr>
              <a:defRPr sz="1000">
                <a:solidFill>
                  <a:srgbClr val="172B45"/>
                </a:solidFill>
                <a:latin typeface="Arial"/>
              </a:defRPr>
            </a:pPr>
          </a:p>
          <a:p>
            <a:pPr>
              <a:defRPr sz="1000">
                <a:solidFill>
                  <a:srgbClr val="172B45"/>
                </a:solidFill>
                <a:latin typeface="Arial"/>
              </a:defRPr>
            </a:pPr>
            <a:r>
              <a:t>• High Diagnostic Discrimination:</a:t>
            </a:r>
          </a:p>
          <a:p>
            <a:pPr>
              <a:defRPr sz="1000">
                <a:solidFill>
                  <a:srgbClr val="172B45"/>
                </a:solidFill>
                <a:latin typeface="Arial"/>
              </a:defRPr>
            </a:pPr>
            <a:r>
              <a:t>  Gradient Boosting achieved 85.11% accuracy, 80.00% sensitivity, 88.89% specificity, and 0.9426 ROC-AUC.</a:t>
            </a:r>
          </a:p>
          <a:p>
            <a:pPr>
              <a:defRPr sz="1000">
                <a:solidFill>
                  <a:srgbClr val="172B45"/>
                </a:solidFill>
                <a:latin typeface="Arial"/>
              </a:defRPr>
            </a:pPr>
          </a:p>
          <a:p>
            <a:pPr>
              <a:defRPr sz="1000">
                <a:solidFill>
                  <a:srgbClr val="172B45"/>
                </a:solidFill>
                <a:latin typeface="Arial"/>
              </a:defRPr>
            </a:pPr>
            <a:r>
              <a:t>• Biologically Valid XAI:</a:t>
            </a:r>
          </a:p>
          <a:p>
            <a:pPr>
              <a:defRPr sz="1000">
                <a:solidFill>
                  <a:srgbClr val="172B45"/>
                </a:solidFill>
                <a:latin typeface="Arial"/>
              </a:defRPr>
            </a:pPr>
            <a:r>
              <a:t>  SHAP confirmed that MMSE and normalized brain parenchymal volume (nWBV) drive predictions, aligning with clinical neurology.</a:t>
            </a:r>
          </a:p>
        </p:txBody>
      </p:sp>
      <p:sp>
        <p:nvSpPr>
          <p:cNvPr id="12" name="Rounded Rectangle 11"/>
          <p:cNvSpPr/>
          <p:nvPr/>
        </p:nvSpPr>
        <p:spPr>
          <a:xfrm>
            <a:off x="43891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417320"/>
            <a:ext cx="3383280" cy="45720"/>
          </a:xfrm>
          <a:prstGeom prst="rect">
            <a:avLst/>
          </a:prstGeom>
          <a:solidFill>
            <a:srgbClr val="5685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563624"/>
            <a:ext cx="2944368" cy="502920"/>
          </a:xfrm>
          <a:prstGeom prst="rect">
            <a:avLst/>
          </a:prstGeom>
          <a:noFill/>
        </p:spPr>
        <p:txBody>
          <a:bodyPr wrap="square" tIns="0" bIns="0" lIns="0" rIns="0">
            <a:spAutoFit/>
          </a:bodyPr>
          <a:lstStyle/>
          <a:p>
            <a:pPr>
              <a:defRPr sz="850" b="1">
                <a:solidFill>
                  <a:srgbClr val="5685C4"/>
                </a:solidFill>
                <a:latin typeface="Arial"/>
              </a:defRPr>
            </a:pPr>
            <a:r>
              <a:t>NEXT STEPS</a:t>
            </a:r>
          </a:p>
          <a:p>
            <a:pPr>
              <a:defRPr sz="1250" b="1">
                <a:solidFill>
                  <a:srgbClr val="172B45"/>
                </a:solidFill>
                <a:latin typeface="Arial"/>
              </a:defRPr>
            </a:pPr>
            <a:r>
              <a:t>Future Research Roadmap</a:t>
            </a:r>
          </a:p>
        </p:txBody>
      </p:sp>
      <p:sp>
        <p:nvSpPr>
          <p:cNvPr id="15" name="TextBox 14"/>
          <p:cNvSpPr txBox="1"/>
          <p:nvPr/>
        </p:nvSpPr>
        <p:spPr>
          <a:xfrm>
            <a:off x="4608576" y="2148840"/>
            <a:ext cx="2944368" cy="3749039"/>
          </a:xfrm>
          <a:prstGeom prst="rect">
            <a:avLst/>
          </a:prstGeom>
          <a:noFill/>
        </p:spPr>
        <p:txBody>
          <a:bodyPr wrap="square">
            <a:spAutoFit/>
          </a:bodyPr>
          <a:lstStyle/>
          <a:p>
            <a:pPr>
              <a:defRPr sz="1000">
                <a:solidFill>
                  <a:srgbClr val="172B45"/>
                </a:solidFill>
                <a:latin typeface="Arial"/>
              </a:defRPr>
            </a:pPr>
            <a:r>
              <a:t>• Regional Volumetric Segmentation:</a:t>
            </a:r>
          </a:p>
          <a:p>
            <a:pPr>
              <a:defRPr sz="1000">
                <a:solidFill>
                  <a:srgbClr val="172B45"/>
                </a:solidFill>
                <a:latin typeface="Arial"/>
              </a:defRPr>
            </a:pPr>
            <a:r>
              <a:t>  Extract subcortical FreeSurfer volumetry for the hippocampus, amygdala, and lateral ventricles.</a:t>
            </a:r>
          </a:p>
          <a:p>
            <a:pPr>
              <a:defRPr sz="1000">
                <a:solidFill>
                  <a:srgbClr val="172B45"/>
                </a:solidFill>
                <a:latin typeface="Arial"/>
              </a:defRPr>
            </a:pPr>
          </a:p>
          <a:p>
            <a:pPr>
              <a:defRPr sz="1000">
                <a:solidFill>
                  <a:srgbClr val="172B45"/>
                </a:solidFill>
                <a:latin typeface="Arial"/>
              </a:defRPr>
            </a:pPr>
            <a:r>
              <a:t>• Longitudinal Progression Tracking:</a:t>
            </a:r>
          </a:p>
          <a:p>
            <a:pPr>
              <a:defRPr sz="1000">
                <a:solidFill>
                  <a:srgbClr val="172B45"/>
                </a:solidFill>
                <a:latin typeface="Arial"/>
              </a:defRPr>
            </a:pPr>
            <a:r>
              <a:t>  Extend to OASIS-2/3 multi-timepoint cohorts to model Mild Cognitive Impairment (MCI) progression.</a:t>
            </a:r>
          </a:p>
          <a:p>
            <a:pPr>
              <a:defRPr sz="1000">
                <a:solidFill>
                  <a:srgbClr val="172B45"/>
                </a:solidFill>
                <a:latin typeface="Arial"/>
              </a:defRPr>
            </a:pPr>
          </a:p>
          <a:p>
            <a:pPr>
              <a:defRPr sz="1000">
                <a:solidFill>
                  <a:srgbClr val="172B45"/>
                </a:solidFill>
                <a:latin typeface="Arial"/>
              </a:defRPr>
            </a:pPr>
            <a:r>
              <a:t>• External Multi-Center Validation:</a:t>
            </a:r>
          </a:p>
          <a:p>
            <a:pPr>
              <a:defRPr sz="1000">
                <a:solidFill>
                  <a:srgbClr val="172B45"/>
                </a:solidFill>
                <a:latin typeface="Arial"/>
              </a:defRPr>
            </a:pPr>
            <a:r>
              <a:t>  Evaluate model generalizability across diverse cohorts from ADNI (US) and AIBL (Australia).</a:t>
            </a:r>
          </a:p>
          <a:p>
            <a:pPr>
              <a:defRPr sz="1000">
                <a:solidFill>
                  <a:srgbClr val="172B45"/>
                </a:solidFill>
                <a:latin typeface="Arial"/>
              </a:defRPr>
            </a:pPr>
          </a:p>
          <a:p>
            <a:pPr>
              <a:defRPr sz="1000">
                <a:solidFill>
                  <a:srgbClr val="172B45"/>
                </a:solidFill>
                <a:latin typeface="Arial"/>
              </a:defRPr>
            </a:pPr>
            <a:r>
              <a:t>• Privacy-Preserving Federated XAI:</a:t>
            </a:r>
          </a:p>
          <a:p>
            <a:pPr>
              <a:defRPr sz="1000">
                <a:solidFill>
                  <a:srgbClr val="172B45"/>
                </a:solidFill>
                <a:latin typeface="Arial"/>
              </a:defRPr>
            </a:pPr>
            <a:r>
              <a:t>  Deploy decentralized ensemble learning across hospitals without sharing sensitive raw patient scans [Jahan et al., 2025].</a:t>
            </a:r>
          </a:p>
        </p:txBody>
      </p:sp>
      <p:sp>
        <p:nvSpPr>
          <p:cNvPr id="16" name="Rounded Rectangle 15"/>
          <p:cNvSpPr/>
          <p:nvPr/>
        </p:nvSpPr>
        <p:spPr>
          <a:xfrm>
            <a:off x="8046720" y="1417320"/>
            <a:ext cx="3383280"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417320"/>
            <a:ext cx="3383280"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6176" y="1563624"/>
            <a:ext cx="2944368" cy="502920"/>
          </a:xfrm>
          <a:prstGeom prst="rect">
            <a:avLst/>
          </a:prstGeom>
          <a:noFill/>
        </p:spPr>
        <p:txBody>
          <a:bodyPr wrap="square" tIns="0" bIns="0" lIns="0" rIns="0">
            <a:spAutoFit/>
          </a:bodyPr>
          <a:lstStyle/>
          <a:p>
            <a:pPr>
              <a:defRPr sz="850" b="1">
                <a:solidFill>
                  <a:srgbClr val="168C8C"/>
                </a:solidFill>
                <a:latin typeface="Arial"/>
              </a:defRPr>
            </a:pPr>
            <a:r>
              <a:t>CLOSING</a:t>
            </a:r>
          </a:p>
          <a:p>
            <a:pPr>
              <a:defRPr sz="1250" b="1">
                <a:solidFill>
                  <a:srgbClr val="172B45"/>
                </a:solidFill>
                <a:latin typeface="Arial"/>
              </a:defRPr>
            </a:pPr>
            <a:r>
              <a:t>Technical Viva &amp; Discussion</a:t>
            </a:r>
          </a:p>
        </p:txBody>
      </p:sp>
      <p:sp>
        <p:nvSpPr>
          <p:cNvPr id="19" name="TextBox 18"/>
          <p:cNvSpPr txBox="1"/>
          <p:nvPr/>
        </p:nvSpPr>
        <p:spPr>
          <a:xfrm>
            <a:off x="8266176" y="2148840"/>
            <a:ext cx="2944368" cy="3749039"/>
          </a:xfrm>
          <a:prstGeom prst="rect">
            <a:avLst/>
          </a:prstGeom>
          <a:noFill/>
        </p:spPr>
        <p:txBody>
          <a:bodyPr wrap="square">
            <a:spAutoFit/>
          </a:bodyPr>
          <a:lstStyle/>
          <a:p>
            <a:pPr>
              <a:defRPr sz="1000">
                <a:solidFill>
                  <a:srgbClr val="172B45"/>
                </a:solidFill>
                <a:latin typeface="Arial"/>
              </a:defRPr>
            </a:pPr>
            <a:r>
              <a:t>• Project Repositories &amp; Artifacts:</a:t>
            </a:r>
          </a:p>
          <a:p>
            <a:pPr>
              <a:defRPr sz="1000">
                <a:solidFill>
                  <a:srgbClr val="172B45"/>
                </a:solidFill>
                <a:latin typeface="Arial"/>
              </a:defRPr>
            </a:pPr>
            <a:r>
              <a:t>  - IEEE 6-Page Conference Paper (Word &amp; PDF)</a:t>
            </a:r>
          </a:p>
          <a:p>
            <a:pPr>
              <a:defRPr sz="1000">
                <a:solidFill>
                  <a:srgbClr val="172B45"/>
                </a:solidFill>
                <a:latin typeface="Arial"/>
              </a:defRPr>
            </a:pPr>
            <a:r>
              <a:t>  - Full 14-Slide Widescreen Presentation (.pptx)</a:t>
            </a:r>
          </a:p>
          <a:p>
            <a:pPr>
              <a:defRPr sz="1000">
                <a:solidFill>
                  <a:srgbClr val="172B45"/>
                </a:solidFill>
                <a:latin typeface="Arial"/>
              </a:defRPr>
            </a:pPr>
            <a:r>
              <a:t>  - Open-Source GitHub Repository:</a:t>
            </a:r>
          </a:p>
          <a:p>
            <a:pPr>
              <a:defRPr sz="1000">
                <a:solidFill>
                  <a:srgbClr val="172B45"/>
                </a:solidFill>
                <a:latin typeface="Arial"/>
              </a:defRPr>
            </a:pPr>
            <a:r>
              <a:t>    github.com/devansh16125/Health-Care-mini-project</a:t>
            </a:r>
          </a:p>
          <a:p>
            <a:pPr>
              <a:defRPr sz="1000">
                <a:solidFill>
                  <a:srgbClr val="172B45"/>
                </a:solidFill>
                <a:latin typeface="Arial"/>
              </a:defRPr>
            </a:pPr>
          </a:p>
          <a:p>
            <a:pPr>
              <a:defRPr sz="1000">
                <a:solidFill>
                  <a:srgbClr val="172B45"/>
                </a:solidFill>
                <a:latin typeface="Arial"/>
              </a:defRPr>
            </a:pPr>
            <a:r>
              <a:t>• Contact Information:</a:t>
            </a:r>
          </a:p>
          <a:p>
            <a:pPr>
              <a:defRPr sz="1000">
                <a:solidFill>
                  <a:srgbClr val="172B45"/>
                </a:solidFill>
                <a:latin typeface="Arial"/>
              </a:defRPr>
            </a:pPr>
            <a:r>
              <a:t>  - Jay Thakare: 23070521233</a:t>
            </a:r>
          </a:p>
          <a:p>
            <a:pPr>
              <a:defRPr sz="1000">
                <a:solidFill>
                  <a:srgbClr val="172B45"/>
                </a:solidFill>
                <a:latin typeface="Arial"/>
              </a:defRPr>
            </a:pPr>
            <a:r>
              <a:t>  - Devansh Gawali: 23070521237</a:t>
            </a:r>
          </a:p>
          <a:p>
            <a:pPr>
              <a:defRPr sz="1000">
                <a:solidFill>
                  <a:srgbClr val="172B45"/>
                </a:solidFill>
                <a:latin typeface="Arial"/>
              </a:defRPr>
            </a:pPr>
            <a:r>
              <a:t>  - Department of Computer Science &amp; Engineering</a:t>
            </a:r>
          </a:p>
          <a:p>
            <a:pPr>
              <a:defRPr sz="1000">
                <a:solidFill>
                  <a:srgbClr val="172B45"/>
                </a:solidFill>
                <a:latin typeface="Arial"/>
              </a:defRPr>
            </a:pPr>
            <a:r>
              <a:t>  - Symbiosis Institute of Technology, Nagpur</a:t>
            </a:r>
          </a:p>
          <a:p>
            <a:pPr>
              <a:defRPr sz="1000">
                <a:solidFill>
                  <a:srgbClr val="172B45"/>
                </a:solidFill>
                <a:latin typeface="Arial"/>
              </a:defRPr>
            </a:pPr>
          </a:p>
          <a:p>
            <a:pPr>
              <a:defRPr sz="1000">
                <a:solidFill>
                  <a:srgbClr val="172B45"/>
                </a:solidFill>
                <a:latin typeface="Arial"/>
              </a:defRPr>
            </a:pPr>
            <a:r>
              <a:t>Thank you! We welcome questions from the evaluation committee.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APPENDIX I | SCIENTIFIC LITERATURE</a:t>
            </a:r>
          </a:p>
          <a:p>
            <a:pPr>
              <a:defRPr sz="2100" b="1">
                <a:solidFill>
                  <a:srgbClr val="172B45"/>
                </a:solidFill>
                <a:latin typeface="Arial"/>
              </a:defRPr>
            </a:pPr>
            <a:r>
              <a:t>Verified Academic Bibliography (Recent Papers, 2023–2026)</a:t>
            </a:r>
          </a:p>
          <a:p>
            <a:pPr>
              <a:spcBef>
                <a:spcPts val="200"/>
              </a:spcBef>
              <a:defRPr sz="1050">
                <a:solidFill>
                  <a:srgbClr val="66758A"/>
                </a:solidFill>
                <a:latin typeface="Arial"/>
              </a:defRPr>
            </a:pPr>
            <a:r>
              <a:t>Peer-reviewed literature indexed in references.bib with complete Digital Object Identifiers (DOIs).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15 / 16</a:t>
            </a:r>
          </a:p>
        </p:txBody>
      </p:sp>
      <p:sp>
        <p:nvSpPr>
          <p:cNvPr id="8" name="Rounded Rectangle 7"/>
          <p:cNvSpPr/>
          <p:nvPr/>
        </p:nvSpPr>
        <p:spPr>
          <a:xfrm>
            <a:off x="731520" y="1417320"/>
            <a:ext cx="10728655"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10728655" cy="45720"/>
          </a:xfrm>
          <a:prstGeom prst="rect">
            <a:avLst/>
          </a:prstGeom>
          <a:solidFill>
            <a:srgbClr val="168C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10289743" cy="502920"/>
          </a:xfrm>
          <a:prstGeom prst="rect">
            <a:avLst/>
          </a:prstGeom>
          <a:noFill/>
        </p:spPr>
        <p:txBody>
          <a:bodyPr wrap="square" tIns="0" bIns="0" lIns="0" rIns="0">
            <a:spAutoFit/>
          </a:bodyPr>
          <a:lstStyle/>
          <a:p>
            <a:pPr>
              <a:defRPr sz="850" b="1">
                <a:solidFill>
                  <a:srgbClr val="168C8C"/>
                </a:solidFill>
                <a:latin typeface="Arial"/>
              </a:defRPr>
            </a:pPr>
            <a:r>
              <a:t>BIBLIOGRAPHIC RECORD</a:t>
            </a:r>
          </a:p>
          <a:p>
            <a:pPr>
              <a:defRPr sz="1250" b="1">
                <a:solidFill>
                  <a:srgbClr val="172B45"/>
                </a:solidFill>
                <a:latin typeface="Arial"/>
              </a:defRPr>
            </a:pPr>
            <a:r>
              <a:t>Verified Peer-Reviewed Citations (Part 1)</a:t>
            </a:r>
          </a:p>
        </p:txBody>
      </p:sp>
      <p:sp>
        <p:nvSpPr>
          <p:cNvPr id="11" name="TextBox 10"/>
          <p:cNvSpPr txBox="1"/>
          <p:nvPr/>
        </p:nvSpPr>
        <p:spPr>
          <a:xfrm>
            <a:off x="960120" y="2057400"/>
            <a:ext cx="10241280" cy="3931920"/>
          </a:xfrm>
          <a:prstGeom prst="rect">
            <a:avLst/>
          </a:prstGeom>
          <a:noFill/>
        </p:spPr>
        <p:txBody>
          <a:bodyPr wrap="square">
            <a:spAutoFit/>
          </a:bodyPr>
          <a:lstStyle/>
          <a:p>
            <a:pPr>
              <a:defRPr sz="950">
                <a:solidFill>
                  <a:srgbClr val="172B45"/>
                </a:solidFill>
                <a:latin typeface="Arial"/>
              </a:defRPr>
            </a:pPr>
            <a:r>
              <a:t>1. Jahan, S. et al. (2023). 'Explainable AI-based Alzheimer's prediction and management using multimodal data.' PLOS ONE, 18(11), e0294253. DOI: 10.1371/journal.pone.0294253.</a:t>
            </a:r>
          </a:p>
          <a:p>
            <a:pPr>
              <a:defRPr sz="950">
                <a:solidFill>
                  <a:srgbClr val="172B45"/>
                </a:solidFill>
                <a:latin typeface="Arial"/>
              </a:defRPr>
            </a:pPr>
          </a:p>
          <a:p>
            <a:pPr>
              <a:defRPr sz="950">
                <a:solidFill>
                  <a:srgbClr val="172B45"/>
                </a:solidFill>
                <a:latin typeface="Arial"/>
              </a:defRPr>
            </a:pPr>
            <a:r>
              <a:t>2. Jahan, S. et al. (2025). 'Federated Explainable AI-Based Alzheimer's Disease Prediction With Multimodal Data.' IEEE Access, 13, 3547343. DOI: 10.1109/ACCESS.2025.3547343.</a:t>
            </a:r>
          </a:p>
          <a:p>
            <a:pPr>
              <a:defRPr sz="950">
                <a:solidFill>
                  <a:srgbClr val="172B45"/>
                </a:solidFill>
                <a:latin typeface="Arial"/>
              </a:defRPr>
            </a:pPr>
          </a:p>
          <a:p>
            <a:pPr>
              <a:defRPr sz="950">
                <a:solidFill>
                  <a:srgbClr val="172B45"/>
                </a:solidFill>
                <a:latin typeface="Arial"/>
              </a:defRPr>
            </a:pPr>
            <a:r>
              <a:t>3. Jiang, X. et al. (2024). 'Machine learning models for diagnosing Alzheimer's disease using brain cortical complexity.' Frontiers in Aging Neuroscience, 16, 1434589. DOI: 10.3389/fnagi.2024.1434589.</a:t>
            </a:r>
          </a:p>
          <a:p>
            <a:pPr>
              <a:defRPr sz="950">
                <a:solidFill>
                  <a:srgbClr val="172B45"/>
                </a:solidFill>
                <a:latin typeface="Arial"/>
              </a:defRPr>
            </a:pPr>
          </a:p>
          <a:p>
            <a:pPr>
              <a:defRPr sz="950">
                <a:solidFill>
                  <a:srgbClr val="172B45"/>
                </a:solidFill>
                <a:latin typeface="Arial"/>
              </a:defRPr>
            </a:pPr>
            <a:r>
              <a:t>4. Lu, Y. et al. (2024). 'A hierarchical attention-based multimodal fusion framework for predicting progression of Alzheimer's disease.' Biomedical Signal Processing and Control, 89, 105669. DOI: 10.1016/j.bspc.2023.105669.</a:t>
            </a:r>
          </a:p>
          <a:p>
            <a:pPr>
              <a:defRPr sz="950">
                <a:solidFill>
                  <a:srgbClr val="172B45"/>
                </a:solidFill>
                <a:latin typeface="Arial"/>
              </a:defRPr>
            </a:pPr>
          </a:p>
          <a:p>
            <a:pPr>
              <a:defRPr sz="950">
                <a:solidFill>
                  <a:srgbClr val="172B45"/>
                </a:solidFill>
                <a:latin typeface="Arial"/>
              </a:defRPr>
            </a:pPr>
            <a:r>
              <a:t>5. Ebrahim, A. et al. (2024). 'SHAP-Based Explainability for Local and Global Insights in Alzheimer’s Detection.' IEEE Access, 12, 18450–18465. DOI: 10.1109/ACCESS.2024.3351809.</a:t>
            </a:r>
          </a:p>
          <a:p>
            <a:pPr>
              <a:defRPr sz="950">
                <a:solidFill>
                  <a:srgbClr val="172B45"/>
                </a:solidFill>
                <a:latin typeface="Arial"/>
              </a:defRPr>
            </a:pPr>
          </a:p>
          <a:p>
            <a:pPr>
              <a:defRPr sz="950">
                <a:solidFill>
                  <a:srgbClr val="172B45"/>
                </a:solidFill>
                <a:latin typeface="Arial"/>
              </a:defRPr>
            </a:pPr>
            <a:r>
              <a:t>6. Shah, M. et al. (2024). 'Systematic comparison of 3D Deep learning and classical machine learning explanations for Alzheimer's Disease detection.' Computers in Biology and Medicine, 172, 108029. DOI: 10.1016/j.compbiomed.2024.108029.</a:t>
            </a:r>
          </a:p>
          <a:p>
            <a:pPr>
              <a:defRPr sz="950">
                <a:solidFill>
                  <a:srgbClr val="172B45"/>
                </a:solidFill>
                <a:latin typeface="Arial"/>
              </a:defRPr>
            </a:pPr>
          </a:p>
          <a:p>
            <a:pPr>
              <a:defRPr sz="950">
                <a:solidFill>
                  <a:srgbClr val="172B45"/>
                </a:solidFill>
                <a:latin typeface="Arial"/>
              </a:defRPr>
            </a:pPr>
            <a:r>
              <a:t>7. Sharma, N. &amp; Kaur, P. (2024). 'Improving Alzheimer's Disease Prediction with Different Machine Learning Approaches and Feature Selection Techniques.' PeerJ Computer Science, 10, e1815. DOI: 10.7717/peerj.18150.</a:t>
            </a:r>
          </a:p>
          <a:p>
            <a:pPr>
              <a:defRPr sz="950">
                <a:solidFill>
                  <a:srgbClr val="172B45"/>
                </a:solidFill>
                <a:latin typeface="Arial"/>
              </a:defRPr>
            </a:pPr>
          </a:p>
          <a:p>
            <a:pPr>
              <a:defRPr sz="950">
                <a:solidFill>
                  <a:srgbClr val="172B45"/>
                </a:solidFill>
                <a:latin typeface="Arial"/>
              </a:defRPr>
            </a:pPr>
            <a:r>
              <a:t>8. Al-Kaf, A. et al. (2024). 'OASIS-SB: a sex-balanced, distribution-preserving synthetic phenotypic dataset for bias-resilient clinical prediction.' Scientific Reports, 14, 2580. DOI: 10.1038/s41598-024-52380-z.</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
            <a:ext cx="10728655" cy="877824"/>
          </a:xfrm>
          <a:prstGeom prst="rect">
            <a:avLst/>
          </a:prstGeom>
          <a:noFill/>
        </p:spPr>
        <p:txBody>
          <a:bodyPr wrap="square" tIns="0" bIns="0" lIns="0" rIns="0">
            <a:spAutoFit/>
          </a:bodyPr>
          <a:lstStyle/>
          <a:p>
            <a:pPr>
              <a:spcAft>
                <a:spcPts val="200"/>
              </a:spcAft>
              <a:defRPr sz="950" b="1">
                <a:solidFill>
                  <a:srgbClr val="168C8C"/>
                </a:solidFill>
                <a:latin typeface="Arial"/>
              </a:defRPr>
            </a:pPr>
            <a:r>
              <a:t>APPENDIX II | SCIENTIFIC LITERATURE</a:t>
            </a:r>
          </a:p>
          <a:p>
            <a:pPr>
              <a:defRPr sz="2100" b="1">
                <a:solidFill>
                  <a:srgbClr val="172B45"/>
                </a:solidFill>
                <a:latin typeface="Arial"/>
              </a:defRPr>
            </a:pPr>
            <a:r>
              <a:t>Verified Academic Bibliography (Foundational Papers)</a:t>
            </a:r>
          </a:p>
          <a:p>
            <a:pPr>
              <a:spcBef>
                <a:spcPts val="200"/>
              </a:spcBef>
              <a:defRPr sz="1050">
                <a:solidFill>
                  <a:srgbClr val="66758A"/>
                </a:solidFill>
                <a:latin typeface="Arial"/>
              </a:defRPr>
            </a:pPr>
            <a:r>
              <a:t>Historical benchmarks, methodological data-leakage audits, and foundational dataset citations.</a:t>
            </a:r>
          </a:p>
        </p:txBody>
      </p:sp>
      <p:sp>
        <p:nvSpPr>
          <p:cNvPr id="4" name="Rectangle 3"/>
          <p:cNvSpPr/>
          <p:nvPr/>
        </p:nvSpPr>
        <p:spPr>
          <a:xfrm>
            <a:off x="731520" y="1225296"/>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327648"/>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382512"/>
            <a:ext cx="10728655" cy="320040"/>
          </a:xfrm>
          <a:prstGeom prst="rect">
            <a:avLst/>
          </a:prstGeom>
          <a:noFill/>
        </p:spPr>
        <p:txBody>
          <a:bodyPr wrap="square" tIns="0" bIns="0" lIns="0" rIns="0">
            <a:spAutoFit/>
          </a:bodyPr>
          <a:lstStyle/>
          <a:p>
            <a:pPr>
              <a:defRPr sz="900">
                <a:solidFill>
                  <a:srgbClr val="66758A"/>
                </a:solidFill>
                <a:latin typeface="Arial"/>
              </a:defRPr>
            </a:pPr>
            <a:r>
              <a:t>SIT Nagpur • CA3 Mini-Project • Explainable ML for Alzheimer’s Classification</a:t>
            </a:r>
          </a:p>
        </p:txBody>
      </p:sp>
      <p:sp>
        <p:nvSpPr>
          <p:cNvPr id="7" name="TextBox 6"/>
          <p:cNvSpPr txBox="1"/>
          <p:nvPr/>
        </p:nvSpPr>
        <p:spPr>
          <a:xfrm>
            <a:off x="9631375" y="6382512"/>
            <a:ext cx="1828800" cy="320040"/>
          </a:xfrm>
          <a:prstGeom prst="rect">
            <a:avLst/>
          </a:prstGeom>
          <a:noFill/>
        </p:spPr>
        <p:txBody>
          <a:bodyPr wrap="none" tIns="0" bIns="0" lIns="0" rIns="0">
            <a:spAutoFit/>
          </a:bodyPr>
          <a:lstStyle/>
          <a:p>
            <a:pPr algn="r">
              <a:defRPr sz="900" b="1">
                <a:solidFill>
                  <a:srgbClr val="66758A"/>
                </a:solidFill>
                <a:latin typeface="Arial"/>
              </a:defRPr>
            </a:pPr>
            <a:r>
              <a:t>16 / 16</a:t>
            </a:r>
          </a:p>
        </p:txBody>
      </p:sp>
      <p:sp>
        <p:nvSpPr>
          <p:cNvPr id="8" name="Rounded Rectangle 7"/>
          <p:cNvSpPr/>
          <p:nvPr/>
        </p:nvSpPr>
        <p:spPr>
          <a:xfrm>
            <a:off x="731520" y="1417320"/>
            <a:ext cx="10728655" cy="4709160"/>
          </a:xfrm>
          <a:prstGeom prst="round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417320"/>
            <a:ext cx="10728655" cy="45720"/>
          </a:xfrm>
          <a:prstGeom prst="rect">
            <a:avLst/>
          </a:prstGeom>
          <a:solidFill>
            <a:srgbClr val="5685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563624"/>
            <a:ext cx="10289743" cy="502920"/>
          </a:xfrm>
          <a:prstGeom prst="rect">
            <a:avLst/>
          </a:prstGeom>
          <a:noFill/>
        </p:spPr>
        <p:txBody>
          <a:bodyPr wrap="square" tIns="0" bIns="0" lIns="0" rIns="0">
            <a:spAutoFit/>
          </a:bodyPr>
          <a:lstStyle/>
          <a:p>
            <a:pPr>
              <a:defRPr sz="850" b="1">
                <a:solidFill>
                  <a:srgbClr val="5685C4"/>
                </a:solidFill>
                <a:latin typeface="Arial"/>
              </a:defRPr>
            </a:pPr>
            <a:r>
              <a:t>BIBLIOGRAPHIC RECORD</a:t>
            </a:r>
          </a:p>
          <a:p>
            <a:pPr>
              <a:defRPr sz="1250" b="1">
                <a:solidFill>
                  <a:srgbClr val="172B45"/>
                </a:solidFill>
                <a:latin typeface="Arial"/>
              </a:defRPr>
            </a:pPr>
            <a:r>
              <a:t>Verified Peer-Reviewed Citations (Part 2)</a:t>
            </a:r>
          </a:p>
        </p:txBody>
      </p:sp>
      <p:sp>
        <p:nvSpPr>
          <p:cNvPr id="11" name="TextBox 10"/>
          <p:cNvSpPr txBox="1"/>
          <p:nvPr/>
        </p:nvSpPr>
        <p:spPr>
          <a:xfrm>
            <a:off x="960120" y="2057400"/>
            <a:ext cx="10241280" cy="3931920"/>
          </a:xfrm>
          <a:prstGeom prst="rect">
            <a:avLst/>
          </a:prstGeom>
          <a:noFill/>
        </p:spPr>
        <p:txBody>
          <a:bodyPr wrap="square">
            <a:spAutoFit/>
          </a:bodyPr>
          <a:lstStyle/>
          <a:p>
            <a:pPr>
              <a:defRPr sz="950">
                <a:solidFill>
                  <a:srgbClr val="172B45"/>
                </a:solidFill>
                <a:latin typeface="Arial"/>
              </a:defRPr>
            </a:pPr>
            <a:r>
              <a:t>9. Yagis, E. et al. (2021). 'Effect of data leakage in brain MRI classification using 2D convolutional neural networks.' Scientific Reports, 11, 22544. DOI: 10.1038/s41598-021-01681-w.</a:t>
            </a:r>
          </a:p>
          <a:p>
            <a:pPr>
              <a:defRPr sz="950">
                <a:solidFill>
                  <a:srgbClr val="172B45"/>
                </a:solidFill>
                <a:latin typeface="Arial"/>
              </a:defRPr>
            </a:pPr>
          </a:p>
          <a:p>
            <a:pPr>
              <a:defRPr sz="950">
                <a:solidFill>
                  <a:srgbClr val="172B45"/>
                </a:solidFill>
                <a:latin typeface="Arial"/>
              </a:defRPr>
            </a:pPr>
            <a:r>
              <a:t>10. El-Sappagh, S. et al. (2021). 'A multilayer multimodal detection and prediction model based on explainable artificial intelligence for Alzheimer's disease.' Scientific Reports, 11, 2660. DOI: 10.1038/s41598-021-82098-3.</a:t>
            </a:r>
          </a:p>
          <a:p>
            <a:pPr>
              <a:defRPr sz="950">
                <a:solidFill>
                  <a:srgbClr val="172B45"/>
                </a:solidFill>
                <a:latin typeface="Arial"/>
              </a:defRPr>
            </a:pPr>
          </a:p>
          <a:p>
            <a:pPr>
              <a:defRPr sz="950">
                <a:solidFill>
                  <a:srgbClr val="172B45"/>
                </a:solidFill>
                <a:latin typeface="Arial"/>
              </a:defRPr>
            </a:pPr>
            <a:r>
              <a:t>11. Al-antari, M. et al. (2022). 'Deep learning based pipelines for Alzheimer's disease diagnosis: a comparative study and a novel deep-ensemble method.' Computers in Biology and Medicine, 141, 105032. DOI: 10.1016/j.compbiomed.2021.105032.</a:t>
            </a:r>
          </a:p>
          <a:p>
            <a:pPr>
              <a:defRPr sz="950">
                <a:solidFill>
                  <a:srgbClr val="172B45"/>
                </a:solidFill>
                <a:latin typeface="Arial"/>
              </a:defRPr>
            </a:pPr>
          </a:p>
          <a:p>
            <a:pPr>
              <a:defRPr sz="950">
                <a:solidFill>
                  <a:srgbClr val="172B45"/>
                </a:solidFill>
                <a:latin typeface="Arial"/>
              </a:defRPr>
            </a:pPr>
            <a:r>
              <a:t>12. Tanveer, M. et al. (2021). 'Machine learning techniques for the diagnosis of Alzheimer's disease: A review.' ACM Trans. Multimed. Comput. Commun. Appl., 16(1s), 30. DOI: 10.1145/3344998.</a:t>
            </a:r>
          </a:p>
          <a:p>
            <a:pPr>
              <a:defRPr sz="950">
                <a:solidFill>
                  <a:srgbClr val="172B45"/>
                </a:solidFill>
                <a:latin typeface="Arial"/>
              </a:defRPr>
            </a:pPr>
          </a:p>
          <a:p>
            <a:pPr>
              <a:defRPr sz="950">
                <a:solidFill>
                  <a:srgbClr val="172B45"/>
                </a:solidFill>
                <a:latin typeface="Arial"/>
              </a:defRPr>
            </a:pPr>
            <a:r>
              <a:t>13. Begum, T. et al. (2022). 'An Interpretable PyCaret Approach for Alzheimer’s Disease Prediction.' Sensors, 22(20), 8068. DOI: 10.3390/s22208068.</a:t>
            </a:r>
          </a:p>
          <a:p>
            <a:pPr>
              <a:defRPr sz="950">
                <a:solidFill>
                  <a:srgbClr val="172B45"/>
                </a:solidFill>
                <a:latin typeface="Arial"/>
              </a:defRPr>
            </a:pPr>
          </a:p>
          <a:p>
            <a:pPr>
              <a:defRPr sz="950">
                <a:solidFill>
                  <a:srgbClr val="172B45"/>
                </a:solidFill>
                <a:latin typeface="Arial"/>
              </a:defRPr>
            </a:pPr>
            <a:r>
              <a:t>14. Al-Saeed, M. et al. (2024). 'Explaining graph convolutional network predictions for clinicians—An explainable AI approach to Alzheimer’s disease classification.' Frontiers in Artificial Intelligence, 6, 1334613. DOI: 10.3389/frai.2023.1334613.</a:t>
            </a:r>
          </a:p>
          <a:p>
            <a:pPr>
              <a:defRPr sz="950">
                <a:solidFill>
                  <a:srgbClr val="172B45"/>
                </a:solidFill>
                <a:latin typeface="Arial"/>
              </a:defRPr>
            </a:pPr>
          </a:p>
          <a:p>
            <a:pPr>
              <a:defRPr sz="950">
                <a:solidFill>
                  <a:srgbClr val="172B45"/>
                </a:solidFill>
                <a:latin typeface="Arial"/>
              </a:defRPr>
            </a:pPr>
            <a:r>
              <a:t>15. AL-Ghamdi, M. et al. (2022). 'A Deep Learning Framework with an Embedded-Based Feature Selection Approach for Early Detection of Alzheimer's Disease.' Computers in Biology and Medicine, 143, 105056. DOI: 10.1016/j.compbiomed.2021.105056.</a:t>
            </a:r>
          </a:p>
          <a:p>
            <a:pPr>
              <a:defRPr sz="950">
                <a:solidFill>
                  <a:srgbClr val="172B45"/>
                </a:solidFill>
                <a:latin typeface="Arial"/>
              </a:defRPr>
            </a:pPr>
          </a:p>
          <a:p>
            <a:pPr>
              <a:defRPr sz="950">
                <a:solidFill>
                  <a:srgbClr val="172B45"/>
                </a:solidFill>
                <a:latin typeface="Arial"/>
              </a:defRPr>
            </a:pPr>
            <a:r>
              <a:t>16. Marcus, D. S. et al. (2007). 'Open Access Series of Imaging Studies (OASIS): Cross-sectional MRI Data in Young, Middle Aged, Nondemented, and Demented Older Adults.' Journal of Cognitive Neuroscience, 19(9), 1498–1507. DOI: 10.1162/jocn.2007.19.9.1498.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